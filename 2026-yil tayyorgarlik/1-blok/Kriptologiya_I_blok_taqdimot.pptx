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notesSlides/notesSlide13.xml" ContentType="application/vnd.openxmlformats-officedocument.presentationml.notesSlide+xml"/>
  <Override PartName="/ppt/charts/chart2.xml" ContentType="application/vnd.openxmlformats-officedocument.drawingml.chart+xml"/>
  <Override PartName="/ppt/notesSlides/notesSlide14.xml" ContentType="application/vnd.openxmlformats-officedocument.presentationml.notesSlide+xml"/>
  <Override PartName="/ppt/charts/chart3.xml" ContentType="application/vnd.openxmlformats-officedocument.drawingml.chart+xml"/>
  <Override PartName="/ppt/notesSlides/notesSlide15.xml" ContentType="application/vnd.openxmlformats-officedocument.presentationml.notesSlide+xml"/>
  <Override PartName="/ppt/charts/chart4.xml" ContentType="application/vnd.openxmlformats-officedocument.drawingml.chart+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72"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Kirish" id="{D64C9DB8-BC43-B98E-1102-E8A0666BCF5F}">
          <p14:sldIdLst>
            <p14:sldId id="256"/>
            <p14:sldId id="257"/>
          </p14:sldIdLst>
        </p14:section>
        <p14:section name="Poydevor" id="{80E292E5-8506-7871-3FAD-CF526BB686ED}">
          <p14:sldIdLst>
            <p14:sldId id="258"/>
            <p14:sldId id="272"/>
            <p14:sldId id="260"/>
            <p14:sldId id="261"/>
          </p14:sldIdLst>
        </p14:section>
        <p14:section name="EKUB va teskari element" id="{0753238F-9D58-9569-E873-1F9C23294D36}">
          <p14:sldIdLst>
            <p14:sldId id="262"/>
            <p14:sldId id="263"/>
            <p14:sldId id="264"/>
          </p14:sldIdLst>
        </p14:section>
        <p14:section name="Kombinatorika" id="{58B61165-F90E-F0F5-845D-FE8A05191AD5}">
          <p14:sldIdLst>
            <p14:sldId id="265"/>
            <p14:sldId id="266"/>
            <p14:sldId id="267"/>
          </p14:sldIdLst>
        </p14:section>
        <p14:section name="Ehtimollik va statistika" id="{1E890004-F6A4-5B45-EE04-F749FEB8E369}">
          <p14:sldIdLst>
            <p14:sldId id="268"/>
            <p14:sldId id="269"/>
            <p14:sldId id="270"/>
          </p14:sldIdLst>
        </p14:section>
        <p14:section name="Yakun" id="{87DB4FDF-4A79-452C-A3EB-971231BEC1FA}">
          <p14:sldIdLst>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3" d="100"/>
          <a:sy n="113" d="100"/>
        </p:scale>
        <p:origin x="47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1"/>
  <c:style val="2"/>
  <c:chart>
    <c:title>
      <c:tx>
        <c:rich>
          <a:bodyPr/>
          <a:lstStyle/>
          <a:p>
            <a:pPr>
              <a:defRPr sz="1400" b="0" i="0" u="none" strike="noStrike">
                <a:solidFill>
                  <a:srgbClr val="3A3F4B"/>
                </a:solidFill>
                <a:latin typeface="+mn-lt"/>
              </a:defRPr>
            </a:pPr>
            <a:r>
              <a:rPr sz="1400" b="0" i="0" u="none" strike="noStrike">
                <a:solidFill>
                  <a:srgbClr val="3A3F4B"/>
                </a:solidFill>
                <a:latin typeface="+mn-lt"/>
              </a:rPr>
              <a:t>Kalit uzunligi, bit (log₂ kalitlar soni)</a:t>
            </a:r>
          </a:p>
        </c:rich>
      </c:tx>
      <c:overlay val="0"/>
    </c:title>
    <c:autoTitleDeleted val="0"/>
    <c:plotArea>
      <c:layout/>
      <c:barChart>
        <c:barDir val="bar"/>
        <c:grouping val="stacked"/>
        <c:varyColors val="0"/>
        <c:ser>
          <c:idx val="0"/>
          <c:order val="0"/>
          <c:tx>
            <c:strRef>
              <c:f>Sheet1!$B$1</c:f>
              <c:strCache>
                <c:ptCount val="1"/>
                <c:pt idx="0">
                  <c:v>klassik shifrlar</c:v>
                </c:pt>
              </c:strCache>
            </c:strRef>
          </c:tx>
          <c:spPr>
            <a:solidFill>
              <a:srgbClr val="E76F51"/>
            </a:solidFill>
            <a:effectLst/>
          </c:spPr>
          <c:invertIfNegative val="0"/>
          <c:cat>
            <c:strRef>
              <c:f>Sheet1!$A$2:$A$8</c:f>
              <c:strCache>
                <c:ptCount val="7"/>
                <c:pt idx="0">
                  <c:v>Sezar</c:v>
                </c:pt>
                <c:pt idx="1">
                  <c:v>Affin</c:v>
                </c:pt>
                <c:pt idx="2">
                  <c:v>Vijener (5 harf)</c:v>
                </c:pt>
                <c:pt idx="3">
                  <c:v>DES</c:v>
                </c:pt>
                <c:pt idx="4">
                  <c:v>Monoalfavit</c:v>
                </c:pt>
                <c:pt idx="5">
                  <c:v>AES-128</c:v>
                </c:pt>
                <c:pt idx="6">
                  <c:v>AES-256</c:v>
                </c:pt>
              </c:strCache>
            </c:strRef>
          </c:cat>
          <c:val>
            <c:numRef>
              <c:f>Sheet1!$B$2:$B$8</c:f>
              <c:numCache>
                <c:formatCode>General</c:formatCode>
                <c:ptCount val="7"/>
                <c:pt idx="0">
                  <c:v>4.5999999999999996</c:v>
                </c:pt>
                <c:pt idx="1">
                  <c:v>8.3000000000000007</c:v>
                </c:pt>
                <c:pt idx="2">
                  <c:v>23.5</c:v>
                </c:pt>
                <c:pt idx="3">
                  <c:v>0</c:v>
                </c:pt>
                <c:pt idx="4">
                  <c:v>88.4</c:v>
                </c:pt>
                <c:pt idx="5">
                  <c:v>0</c:v>
                </c:pt>
                <c:pt idx="6">
                  <c:v>0</c:v>
                </c:pt>
              </c:numCache>
            </c:numRef>
          </c:val>
          <c:extLst>
            <c:ext xmlns:c16="http://schemas.microsoft.com/office/drawing/2014/chart" uri="{C3380CC4-5D6E-409C-BE32-E72D297353CC}">
              <c16:uniqueId val="{00000000-82AD-4FA5-8D2B-E9A063526CB8}"/>
            </c:ext>
          </c:extLst>
        </c:ser>
        <c:ser>
          <c:idx val="1"/>
          <c:order val="1"/>
          <c:tx>
            <c:strRef>
              <c:f>Sheet1!$C$1</c:f>
              <c:strCache>
                <c:ptCount val="1"/>
                <c:pt idx="0">
                  <c:v>zamonaviy shifrlar</c:v>
                </c:pt>
              </c:strCache>
            </c:strRef>
          </c:tx>
          <c:spPr>
            <a:solidFill>
              <a:srgbClr val="2A9D8F"/>
            </a:solidFill>
            <a:effectLst/>
          </c:spPr>
          <c:invertIfNegative val="0"/>
          <c:cat>
            <c:strRef>
              <c:f>Sheet1!$A$2:$A$8</c:f>
              <c:strCache>
                <c:ptCount val="7"/>
                <c:pt idx="0">
                  <c:v>Sezar</c:v>
                </c:pt>
                <c:pt idx="1">
                  <c:v>Affin</c:v>
                </c:pt>
                <c:pt idx="2">
                  <c:v>Vijener (5 harf)</c:v>
                </c:pt>
                <c:pt idx="3">
                  <c:v>DES</c:v>
                </c:pt>
                <c:pt idx="4">
                  <c:v>Monoalfavit</c:v>
                </c:pt>
                <c:pt idx="5">
                  <c:v>AES-128</c:v>
                </c:pt>
                <c:pt idx="6">
                  <c:v>AES-256</c:v>
                </c:pt>
              </c:strCache>
            </c:strRef>
          </c:cat>
          <c:val>
            <c:numRef>
              <c:f>Sheet1!$C$2:$C$8</c:f>
              <c:numCache>
                <c:formatCode>General</c:formatCode>
                <c:ptCount val="7"/>
                <c:pt idx="0">
                  <c:v>0</c:v>
                </c:pt>
                <c:pt idx="1">
                  <c:v>0</c:v>
                </c:pt>
                <c:pt idx="2">
                  <c:v>0</c:v>
                </c:pt>
                <c:pt idx="3">
                  <c:v>56</c:v>
                </c:pt>
                <c:pt idx="4">
                  <c:v>0</c:v>
                </c:pt>
                <c:pt idx="5">
                  <c:v>128</c:v>
                </c:pt>
                <c:pt idx="6">
                  <c:v>256</c:v>
                </c:pt>
              </c:numCache>
            </c:numRef>
          </c:val>
          <c:extLst>
            <c:ext xmlns:c16="http://schemas.microsoft.com/office/drawing/2014/chart" uri="{C3380CC4-5D6E-409C-BE32-E72D297353CC}">
              <c16:uniqueId val="{00000001-82AD-4FA5-8D2B-E9A063526CB8}"/>
            </c:ext>
          </c:extLst>
        </c:ser>
        <c:dLbls>
          <c:showLegendKey val="0"/>
          <c:showVal val="0"/>
          <c:showCatName val="0"/>
          <c:showSerName val="0"/>
          <c:showPercent val="0"/>
          <c:showBubbleSize val="0"/>
        </c:dLbls>
        <c:gapWidth val="50"/>
        <c:overlap val="10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2514E"/>
                </a:solidFill>
                <a:latin typeface="+mn-lt"/>
              </a:defRPr>
            </a:pPr>
            <a:endParaRPr lang="en-US"/>
          </a:p>
        </c:txPr>
        <c:crossAx val="2094734552"/>
        <c:crosses val="autoZero"/>
        <c:auto val="1"/>
        <c:lblAlgn val="ctr"/>
        <c:lblOffset val="100"/>
        <c:noMultiLvlLbl val="1"/>
      </c:catAx>
      <c:valAx>
        <c:axId val="2094734552"/>
        <c:scaling>
          <c:orientation val="minMax"/>
          <c:max val="275"/>
          <c:min val="0"/>
        </c:scaling>
        <c:delete val="0"/>
        <c:axPos val="t"/>
        <c:majorGridlines>
          <c:spPr>
            <a:ln w="9525" cap="flat">
              <a:solidFill>
                <a:srgbClr val="E3E7EE"/>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2514E"/>
                </a:solidFill>
                <a:latin typeface="+mn-lt"/>
              </a:defRPr>
            </a:pPr>
            <a:endParaRPr lang="en-US"/>
          </a:p>
        </c:txPr>
        <c:crossAx val="2094734554"/>
        <c:crosses val="autoZero"/>
        <c:crossBetween val="between"/>
        <c:majorUnit val="50"/>
      </c:valAx>
      <c:spPr>
        <a:noFill/>
        <a:ln>
          <a:noFill/>
        </a:ln>
        <a:effectLst/>
      </c:spPr>
    </c:plotArea>
    <c:legend>
      <c:legendPos val="b"/>
      <c:overlay val="0"/>
      <c:txPr>
        <a:bodyPr/>
        <a:lstStyle/>
        <a:p>
          <a:pPr>
            <a:defRPr sz="1200">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1"/>
  <c:style val="2"/>
  <c:chart>
    <c:title>
      <c:tx>
        <c:rich>
          <a:bodyPr/>
          <a:lstStyle/>
          <a:p>
            <a:pPr>
              <a:defRPr sz="1300" b="0" i="0" u="none" strike="noStrike">
                <a:solidFill>
                  <a:srgbClr val="3A3F4B"/>
                </a:solidFill>
                <a:latin typeface="+mn-lt"/>
              </a:defRPr>
            </a:pPr>
            <a:r>
              <a:rPr sz="1300" b="0" i="0" u="none" strike="noStrike">
                <a:solidFill>
                  <a:srgbClr val="3A3F4B"/>
                </a:solidFill>
                <a:latin typeface="+mn-lt"/>
              </a:rPr>
              <a:t>Ingliz tilida harflar chastotasi, %</a:t>
            </a:r>
          </a:p>
        </c:rich>
      </c:tx>
      <c:overlay val="0"/>
    </c:title>
    <c:autoTitleDeleted val="0"/>
    <c:plotArea>
      <c:layout/>
      <c:barChart>
        <c:barDir val="col"/>
        <c:grouping val="stacked"/>
        <c:varyColors val="0"/>
        <c:ser>
          <c:idx val="0"/>
          <c:order val="0"/>
          <c:tx>
            <c:strRef>
              <c:f>Sheet1!$B$1</c:f>
              <c:strCache>
                <c:ptCount val="1"/>
                <c:pt idx="0">
                  <c:v>eng ko‘p 6 harf</c:v>
                </c:pt>
              </c:strCache>
            </c:strRef>
          </c:tx>
          <c:spPr>
            <a:solidFill>
              <a:srgbClr val="E9A23B"/>
            </a:solidFill>
            <a:effectLst/>
          </c:spPr>
          <c:invertIfNegative val="0"/>
          <c:cat>
            <c:strRef>
              <c:f>Sheet1!$A$2:$A$27</c:f>
              <c:strCache>
                <c:ptCount val="26"/>
                <c:pt idx="0">
                  <c:v>E</c:v>
                </c:pt>
                <c:pt idx="1">
                  <c:v>T</c:v>
                </c:pt>
                <c:pt idx="2">
                  <c:v>A</c:v>
                </c:pt>
                <c:pt idx="3">
                  <c:v>O</c:v>
                </c:pt>
                <c:pt idx="4">
                  <c:v>I</c:v>
                </c:pt>
                <c:pt idx="5">
                  <c:v>N</c:v>
                </c:pt>
                <c:pt idx="6">
                  <c:v>S</c:v>
                </c:pt>
                <c:pt idx="7">
                  <c:v>H</c:v>
                </c:pt>
                <c:pt idx="8">
                  <c:v>R</c:v>
                </c:pt>
                <c:pt idx="9">
                  <c:v>D</c:v>
                </c:pt>
                <c:pt idx="10">
                  <c:v>L</c:v>
                </c:pt>
                <c:pt idx="11">
                  <c:v>C</c:v>
                </c:pt>
                <c:pt idx="12">
                  <c:v>U</c:v>
                </c:pt>
                <c:pt idx="13">
                  <c:v>M</c:v>
                </c:pt>
                <c:pt idx="14">
                  <c:v>W</c:v>
                </c:pt>
                <c:pt idx="15">
                  <c:v>F</c:v>
                </c:pt>
                <c:pt idx="16">
                  <c:v>G</c:v>
                </c:pt>
                <c:pt idx="17">
                  <c:v>Y</c:v>
                </c:pt>
                <c:pt idx="18">
                  <c:v>P</c:v>
                </c:pt>
                <c:pt idx="19">
                  <c:v>B</c:v>
                </c:pt>
                <c:pt idx="20">
                  <c:v>V</c:v>
                </c:pt>
                <c:pt idx="21">
                  <c:v>K</c:v>
                </c:pt>
                <c:pt idx="22">
                  <c:v>J</c:v>
                </c:pt>
                <c:pt idx="23">
                  <c:v>X</c:v>
                </c:pt>
                <c:pt idx="24">
                  <c:v>Q</c:v>
                </c:pt>
                <c:pt idx="25">
                  <c:v>Z</c:v>
                </c:pt>
              </c:strCache>
            </c:strRef>
          </c:cat>
          <c:val>
            <c:numRef>
              <c:f>Sheet1!$B$2:$B$27</c:f>
              <c:numCache>
                <c:formatCode>General</c:formatCode>
                <c:ptCount val="26"/>
                <c:pt idx="0">
                  <c:v>12.7</c:v>
                </c:pt>
                <c:pt idx="1">
                  <c:v>9.06</c:v>
                </c:pt>
                <c:pt idx="2">
                  <c:v>8.17</c:v>
                </c:pt>
                <c:pt idx="3">
                  <c:v>7.51</c:v>
                </c:pt>
                <c:pt idx="4">
                  <c:v>6.97</c:v>
                </c:pt>
                <c:pt idx="5">
                  <c:v>6.75</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numCache>
            </c:numRef>
          </c:val>
          <c:extLst>
            <c:ext xmlns:c16="http://schemas.microsoft.com/office/drawing/2014/chart" uri="{C3380CC4-5D6E-409C-BE32-E72D297353CC}">
              <c16:uniqueId val="{00000000-26EF-46BA-9AD1-FA8D5F7C668F}"/>
            </c:ext>
          </c:extLst>
        </c:ser>
        <c:ser>
          <c:idx val="1"/>
          <c:order val="1"/>
          <c:tx>
            <c:strRef>
              <c:f>Sheet1!$C$1</c:f>
              <c:strCache>
                <c:ptCount val="1"/>
                <c:pt idx="0">
                  <c:v>qolganlari</c:v>
                </c:pt>
              </c:strCache>
            </c:strRef>
          </c:tx>
          <c:spPr>
            <a:solidFill>
              <a:srgbClr val="3D5A80"/>
            </a:solidFill>
            <a:effectLst/>
          </c:spPr>
          <c:invertIfNegative val="0"/>
          <c:cat>
            <c:strRef>
              <c:f>Sheet1!$A$2:$A$27</c:f>
              <c:strCache>
                <c:ptCount val="26"/>
                <c:pt idx="0">
                  <c:v>E</c:v>
                </c:pt>
                <c:pt idx="1">
                  <c:v>T</c:v>
                </c:pt>
                <c:pt idx="2">
                  <c:v>A</c:v>
                </c:pt>
                <c:pt idx="3">
                  <c:v>O</c:v>
                </c:pt>
                <c:pt idx="4">
                  <c:v>I</c:v>
                </c:pt>
                <c:pt idx="5">
                  <c:v>N</c:v>
                </c:pt>
                <c:pt idx="6">
                  <c:v>S</c:v>
                </c:pt>
                <c:pt idx="7">
                  <c:v>H</c:v>
                </c:pt>
                <c:pt idx="8">
                  <c:v>R</c:v>
                </c:pt>
                <c:pt idx="9">
                  <c:v>D</c:v>
                </c:pt>
                <c:pt idx="10">
                  <c:v>L</c:v>
                </c:pt>
                <c:pt idx="11">
                  <c:v>C</c:v>
                </c:pt>
                <c:pt idx="12">
                  <c:v>U</c:v>
                </c:pt>
                <c:pt idx="13">
                  <c:v>M</c:v>
                </c:pt>
                <c:pt idx="14">
                  <c:v>W</c:v>
                </c:pt>
                <c:pt idx="15">
                  <c:v>F</c:v>
                </c:pt>
                <c:pt idx="16">
                  <c:v>G</c:v>
                </c:pt>
                <c:pt idx="17">
                  <c:v>Y</c:v>
                </c:pt>
                <c:pt idx="18">
                  <c:v>P</c:v>
                </c:pt>
                <c:pt idx="19">
                  <c:v>B</c:v>
                </c:pt>
                <c:pt idx="20">
                  <c:v>V</c:v>
                </c:pt>
                <c:pt idx="21">
                  <c:v>K</c:v>
                </c:pt>
                <c:pt idx="22">
                  <c:v>J</c:v>
                </c:pt>
                <c:pt idx="23">
                  <c:v>X</c:v>
                </c:pt>
                <c:pt idx="24">
                  <c:v>Q</c:v>
                </c:pt>
                <c:pt idx="25">
                  <c:v>Z</c:v>
                </c:pt>
              </c:strCache>
            </c:strRef>
          </c:cat>
          <c:val>
            <c:numRef>
              <c:f>Sheet1!$C$2:$C$27</c:f>
              <c:numCache>
                <c:formatCode>General</c:formatCode>
                <c:ptCount val="26"/>
                <c:pt idx="0">
                  <c:v>0</c:v>
                </c:pt>
                <c:pt idx="1">
                  <c:v>0</c:v>
                </c:pt>
                <c:pt idx="2">
                  <c:v>0</c:v>
                </c:pt>
                <c:pt idx="3">
                  <c:v>0</c:v>
                </c:pt>
                <c:pt idx="4">
                  <c:v>0</c:v>
                </c:pt>
                <c:pt idx="5">
                  <c:v>0</c:v>
                </c:pt>
                <c:pt idx="6">
                  <c:v>6.33</c:v>
                </c:pt>
                <c:pt idx="7">
                  <c:v>6.09</c:v>
                </c:pt>
                <c:pt idx="8">
                  <c:v>5.99</c:v>
                </c:pt>
                <c:pt idx="9">
                  <c:v>4.25</c:v>
                </c:pt>
                <c:pt idx="10">
                  <c:v>4.03</c:v>
                </c:pt>
                <c:pt idx="11">
                  <c:v>2.78</c:v>
                </c:pt>
                <c:pt idx="12">
                  <c:v>2.76</c:v>
                </c:pt>
                <c:pt idx="13">
                  <c:v>2.41</c:v>
                </c:pt>
                <c:pt idx="14">
                  <c:v>2.36</c:v>
                </c:pt>
                <c:pt idx="15">
                  <c:v>2.23</c:v>
                </c:pt>
                <c:pt idx="16">
                  <c:v>2.02</c:v>
                </c:pt>
                <c:pt idx="17">
                  <c:v>1.97</c:v>
                </c:pt>
                <c:pt idx="18">
                  <c:v>1.93</c:v>
                </c:pt>
                <c:pt idx="19">
                  <c:v>1.49</c:v>
                </c:pt>
                <c:pt idx="20">
                  <c:v>0.98</c:v>
                </c:pt>
                <c:pt idx="21">
                  <c:v>0.77</c:v>
                </c:pt>
                <c:pt idx="22">
                  <c:v>0.15</c:v>
                </c:pt>
                <c:pt idx="23">
                  <c:v>0.15</c:v>
                </c:pt>
                <c:pt idx="24">
                  <c:v>0.1</c:v>
                </c:pt>
                <c:pt idx="25">
                  <c:v>7.0000000000000007E-2</c:v>
                </c:pt>
              </c:numCache>
            </c:numRef>
          </c:val>
          <c:extLst>
            <c:ext xmlns:c16="http://schemas.microsoft.com/office/drawing/2014/chart" uri="{C3380CC4-5D6E-409C-BE32-E72D297353CC}">
              <c16:uniqueId val="{00000001-26EF-46BA-9AD1-FA8D5F7C668F}"/>
            </c:ext>
          </c:extLst>
        </c:ser>
        <c:dLbls>
          <c:showLegendKey val="0"/>
          <c:showVal val="0"/>
          <c:showCatName val="0"/>
          <c:showSerName val="0"/>
          <c:showPercent val="0"/>
          <c:showBubbleSize val="0"/>
        </c:dLbls>
        <c:gapWidth val="40"/>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2514E"/>
                </a:solidFill>
                <a:latin typeface="+mn-lt"/>
              </a:defRPr>
            </a:pPr>
            <a:endParaRPr lang="en-US"/>
          </a:p>
        </c:txPr>
        <c:crossAx val="2094734552"/>
        <c:crosses val="autoZero"/>
        <c:auto val="1"/>
        <c:lblAlgn val="ctr"/>
        <c:lblOffset val="100"/>
        <c:noMultiLvlLbl val="1"/>
      </c:catAx>
      <c:valAx>
        <c:axId val="2094734552"/>
        <c:scaling>
          <c:orientation val="minMax"/>
          <c:max val="14"/>
        </c:scaling>
        <c:delete val="0"/>
        <c:axPos val="l"/>
        <c:majorGridlines>
          <c:spPr>
            <a:ln w="9525" cap="flat">
              <a:solidFill>
                <a:srgbClr val="E3E7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2514E"/>
                </a:solidFill>
                <a:latin typeface="+mn-lt"/>
              </a:defRPr>
            </a:pPr>
            <a:endParaRPr lang="en-US"/>
          </a:p>
        </c:txPr>
        <c:crossAx val="2094734554"/>
        <c:crosses val="autoZero"/>
        <c:crossBetween val="between"/>
        <c:majorUnit val="2"/>
      </c:valAx>
      <c:spPr>
        <a:noFill/>
        <a:ln>
          <a:noFill/>
        </a:ln>
        <a:effectLst/>
      </c:spPr>
    </c:plotArea>
    <c:legend>
      <c:legendPos val="t"/>
      <c:overlay val="0"/>
      <c:txPr>
        <a:bodyPr/>
        <a:lstStyle/>
        <a:p>
          <a:pPr>
            <a:defRPr sz="1100">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1"/>
  <c:style val="2"/>
  <c:chart>
    <c:autoTitleDeleted val="1"/>
    <c:plotArea>
      <c:layout/>
      <c:barChart>
        <c:barDir val="col"/>
        <c:grouping val="clustered"/>
        <c:varyColors val="0"/>
        <c:ser>
          <c:idx val="0"/>
          <c:order val="0"/>
          <c:tx>
            <c:strRef>
              <c:f>Sheet1!$B$1</c:f>
              <c:strCache>
                <c:ptCount val="1"/>
                <c:pt idx="0">
                  <c:v>IC</c:v>
                </c:pt>
              </c:strCache>
            </c:strRef>
          </c:tx>
          <c:spPr>
            <a:solidFill>
              <a:srgbClr val="2A9D8F"/>
            </a:solidFill>
            <a:effectLst/>
          </c:spPr>
          <c:invertIfNegative val="0"/>
          <c:dPt>
            <c:idx val="0"/>
            <c:invertIfNegative val="0"/>
            <c:bubble3D val="0"/>
            <c:extLst>
              <c:ext xmlns:c16="http://schemas.microsoft.com/office/drawing/2014/chart" uri="{C3380CC4-5D6E-409C-BE32-E72D297353CC}">
                <c16:uniqueId val="{00000001-D977-4D3A-B3DE-C673F8E292D1}"/>
              </c:ext>
            </c:extLst>
          </c:dPt>
          <c:dPt>
            <c:idx val="1"/>
            <c:invertIfNegative val="0"/>
            <c:bubble3D val="0"/>
            <c:extLst>
              <c:ext xmlns:c16="http://schemas.microsoft.com/office/drawing/2014/chart" uri="{C3380CC4-5D6E-409C-BE32-E72D297353CC}">
                <c16:uniqueId val="{00000003-D977-4D3A-B3DE-C673F8E292D1}"/>
              </c:ext>
            </c:extLst>
          </c:dPt>
          <c:dPt>
            <c:idx val="2"/>
            <c:invertIfNegative val="0"/>
            <c:bubble3D val="0"/>
            <c:spPr>
              <a:solidFill>
                <a:srgbClr val="E76F51"/>
              </a:solidFill>
              <a:effectLst/>
            </c:spPr>
            <c:extLst>
              <c:ext xmlns:c16="http://schemas.microsoft.com/office/drawing/2014/chart" uri="{C3380CC4-5D6E-409C-BE32-E72D297353CC}">
                <c16:uniqueId val="{00000005-D977-4D3A-B3DE-C673F8E292D1}"/>
              </c:ext>
            </c:extLst>
          </c:dPt>
          <c:dPt>
            <c:idx val="3"/>
            <c:invertIfNegative val="0"/>
            <c:bubble3D val="0"/>
            <c:spPr>
              <a:solidFill>
                <a:srgbClr val="E76F51"/>
              </a:solidFill>
              <a:effectLst/>
            </c:spPr>
            <c:extLst>
              <c:ext xmlns:c16="http://schemas.microsoft.com/office/drawing/2014/chart" uri="{C3380CC4-5D6E-409C-BE32-E72D297353CC}">
                <c16:uniqueId val="{00000007-D977-4D3A-B3DE-C673F8E292D1}"/>
              </c:ext>
            </c:extLst>
          </c:dPt>
          <c:dLbls>
            <c:numFmt formatCode="0.0000" sourceLinked="0"/>
            <c:spPr>
              <a:noFill/>
              <a:ln>
                <a:noFill/>
              </a:ln>
              <a:effectLst/>
            </c:spPr>
            <c:txPr>
              <a:bodyPr/>
              <a:lstStyle/>
              <a:p>
                <a:pPr>
                  <a:defRPr sz="1100" b="0" i="0" u="none" strike="noStrike">
                    <a:solidFill>
                      <a:srgbClr val="3A3F4B"/>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ingliz tili</c:v>
                </c:pt>
                <c:pt idx="1">
                  <c:v>rus tili</c:v>
                </c:pt>
                <c:pt idx="2">
                  <c:v>tasodifiy, 26</c:v>
                </c:pt>
                <c:pt idx="3">
                  <c:v>tasodifiy, 32</c:v>
                </c:pt>
              </c:strCache>
            </c:strRef>
          </c:cat>
          <c:val>
            <c:numRef>
              <c:f>Sheet1!$B$2:$B$5</c:f>
              <c:numCache>
                <c:formatCode>General</c:formatCode>
                <c:ptCount val="4"/>
                <c:pt idx="0">
                  <c:v>6.5500000000000003E-2</c:v>
                </c:pt>
                <c:pt idx="1">
                  <c:v>5.5800000000000002E-2</c:v>
                </c:pt>
                <c:pt idx="2">
                  <c:v>3.85E-2</c:v>
                </c:pt>
                <c:pt idx="3">
                  <c:v>3.1300000000000001E-2</c:v>
                </c:pt>
              </c:numCache>
            </c:numRef>
          </c:val>
          <c:extLst>
            <c:ext xmlns:c16="http://schemas.microsoft.com/office/drawing/2014/chart" uri="{C3380CC4-5D6E-409C-BE32-E72D297353CC}">
              <c16:uniqueId val="{00000008-D977-4D3A-B3DE-C673F8E292D1}"/>
            </c:ext>
          </c:extLst>
        </c:ser>
        <c:dLbls>
          <c:showLegendKey val="0"/>
          <c:showVal val="1"/>
          <c:showCatName val="0"/>
          <c:showSerName val="0"/>
          <c:showPercent val="0"/>
          <c:showBubbleSize val="0"/>
        </c:dLbls>
        <c:gapWidth val="7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2514E"/>
                </a:solidFill>
                <a:latin typeface="+mn-lt"/>
              </a:defRPr>
            </a:pPr>
            <a:endParaRPr lang="en-US"/>
          </a:p>
        </c:txPr>
        <c:crossAx val="2094734552"/>
        <c:crosses val="autoZero"/>
        <c:auto val="1"/>
        <c:lblAlgn val="ctr"/>
        <c:lblOffset val="100"/>
        <c:noMultiLvlLbl val="1"/>
      </c:catAx>
      <c:valAx>
        <c:axId val="2094734552"/>
        <c:scaling>
          <c:orientation val="minMax"/>
          <c:max val="0.08"/>
        </c:scaling>
        <c:delete val="0"/>
        <c:axPos val="l"/>
        <c:majorGridlines>
          <c:spPr>
            <a:ln w="9525" cap="flat">
              <a:solidFill>
                <a:srgbClr val="E3E7EE"/>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2514E"/>
                </a:solidFill>
                <a:latin typeface="+mn-lt"/>
              </a:defRPr>
            </a:pPr>
            <a:endParaRPr lang="en-US"/>
          </a:p>
        </c:txPr>
        <c:crossAx val="2094734554"/>
        <c:crosses val="autoZero"/>
        <c:crossBetween val="between"/>
        <c:majorUnit val="0.02"/>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1"/>
  <c:style val="2"/>
  <c:chart>
    <c:title>
      <c:tx>
        <c:rich>
          <a:bodyPr/>
          <a:lstStyle/>
          <a:p>
            <a:pPr>
              <a:defRPr sz="1300" b="0" i="0" u="none" strike="noStrike">
                <a:solidFill>
                  <a:srgbClr val="3A3F4B"/>
                </a:solidFill>
                <a:latin typeface="+mn-lt"/>
              </a:defRPr>
            </a:pPr>
            <a:r>
              <a:rPr sz="1300" b="0" i="0" u="none" strike="noStrike">
                <a:solidFill>
                  <a:srgbClr val="3A3F4B"/>
                </a:solidFill>
                <a:latin typeface="+mn-lt"/>
              </a:rPr>
              <a:t>Kamida ikki kishining tug‘ilgan kuni bir xil bo‘lish ehtimolligi</a:t>
            </a:r>
          </a:p>
        </c:rich>
      </c:tx>
      <c:overlay val="0"/>
    </c:title>
    <c:autoTitleDeleted val="0"/>
    <c:plotArea>
      <c:layout/>
      <c:lineChart>
        <c:grouping val="standard"/>
        <c:varyColors val="0"/>
        <c:ser>
          <c:idx val="0"/>
          <c:order val="0"/>
          <c:tx>
            <c:strRef>
              <c:f>Sheet1!$B$1</c:f>
              <c:strCache>
                <c:ptCount val="1"/>
                <c:pt idx="0">
                  <c:v>ehtimollik</c:v>
                </c:pt>
              </c:strCache>
            </c:strRef>
          </c:tx>
          <c:spPr>
            <a:ln w="38100" cap="flat">
              <a:solidFill>
                <a:srgbClr val="3D5A80"/>
              </a:solidFill>
              <a:prstDash val="solid"/>
              <a:round/>
            </a:ln>
            <a:effectLst/>
          </c:spPr>
          <c:marker>
            <c:symbol val="none"/>
          </c:marker>
          <c:cat>
            <c:strRef>
              <c:f>Sheet1!$A$2:$A$71</c:f>
              <c:strCache>
                <c:ptCount val="70"/>
                <c:pt idx="0">
                  <c:v>1</c:v>
                </c:pt>
                <c:pt idx="9">
                  <c:v>10</c:v>
                </c:pt>
                <c:pt idx="19">
                  <c:v>20</c:v>
                </c:pt>
                <c:pt idx="29">
                  <c:v>30</c:v>
                </c:pt>
                <c:pt idx="39">
                  <c:v>40</c:v>
                </c:pt>
                <c:pt idx="49">
                  <c:v>50</c:v>
                </c:pt>
                <c:pt idx="59">
                  <c:v>60</c:v>
                </c:pt>
                <c:pt idx="69">
                  <c:v>70</c:v>
                </c:pt>
              </c:strCache>
            </c:strRef>
          </c:cat>
          <c:val>
            <c:numRef>
              <c:f>Sheet1!$B$2:$B$71</c:f>
              <c:numCache>
                <c:formatCode>General</c:formatCode>
                <c:ptCount val="70"/>
                <c:pt idx="0">
                  <c:v>0</c:v>
                </c:pt>
                <c:pt idx="1">
                  <c:v>2.7000000000000001E-3</c:v>
                </c:pt>
                <c:pt idx="2">
                  <c:v>8.2000000000000007E-3</c:v>
                </c:pt>
                <c:pt idx="3">
                  <c:v>1.6400000000000001E-2</c:v>
                </c:pt>
                <c:pt idx="4">
                  <c:v>2.7099999999999999E-2</c:v>
                </c:pt>
                <c:pt idx="5">
                  <c:v>4.0500000000000001E-2</c:v>
                </c:pt>
                <c:pt idx="6">
                  <c:v>5.62E-2</c:v>
                </c:pt>
                <c:pt idx="7">
                  <c:v>7.4300000000000005E-2</c:v>
                </c:pt>
                <c:pt idx="8">
                  <c:v>9.4600000000000004E-2</c:v>
                </c:pt>
                <c:pt idx="9">
                  <c:v>0.1169</c:v>
                </c:pt>
                <c:pt idx="10">
                  <c:v>0.1411</c:v>
                </c:pt>
                <c:pt idx="11">
                  <c:v>0.16700000000000001</c:v>
                </c:pt>
                <c:pt idx="12">
                  <c:v>0.19439999999999999</c:v>
                </c:pt>
                <c:pt idx="13">
                  <c:v>0.22309999999999999</c:v>
                </c:pt>
                <c:pt idx="14">
                  <c:v>0.25290000000000001</c:v>
                </c:pt>
                <c:pt idx="15">
                  <c:v>0.28360000000000002</c:v>
                </c:pt>
                <c:pt idx="16">
                  <c:v>0.315</c:v>
                </c:pt>
                <c:pt idx="17">
                  <c:v>0.34689999999999999</c:v>
                </c:pt>
                <c:pt idx="18">
                  <c:v>0.37909999999999999</c:v>
                </c:pt>
                <c:pt idx="19">
                  <c:v>0.41139999999999999</c:v>
                </c:pt>
                <c:pt idx="20">
                  <c:v>0.44369999999999998</c:v>
                </c:pt>
                <c:pt idx="21">
                  <c:v>0.47570000000000001</c:v>
                </c:pt>
                <c:pt idx="22">
                  <c:v>0.50729999999999997</c:v>
                </c:pt>
                <c:pt idx="23">
                  <c:v>0.5383</c:v>
                </c:pt>
                <c:pt idx="24">
                  <c:v>0.56869999999999998</c:v>
                </c:pt>
                <c:pt idx="25">
                  <c:v>0.59819999999999995</c:v>
                </c:pt>
                <c:pt idx="26">
                  <c:v>0.62690000000000001</c:v>
                </c:pt>
                <c:pt idx="27">
                  <c:v>0.65449999999999997</c:v>
                </c:pt>
                <c:pt idx="28">
                  <c:v>0.68100000000000005</c:v>
                </c:pt>
                <c:pt idx="29">
                  <c:v>0.70630000000000004</c:v>
                </c:pt>
                <c:pt idx="30">
                  <c:v>0.73050000000000004</c:v>
                </c:pt>
                <c:pt idx="31">
                  <c:v>0.75329999999999997</c:v>
                </c:pt>
                <c:pt idx="32">
                  <c:v>0.77500000000000002</c:v>
                </c:pt>
                <c:pt idx="33">
                  <c:v>0.79530000000000001</c:v>
                </c:pt>
                <c:pt idx="34">
                  <c:v>0.81440000000000001</c:v>
                </c:pt>
                <c:pt idx="35">
                  <c:v>0.83220000000000005</c:v>
                </c:pt>
                <c:pt idx="36">
                  <c:v>0.84870000000000001</c:v>
                </c:pt>
                <c:pt idx="37">
                  <c:v>0.86409999999999998</c:v>
                </c:pt>
                <c:pt idx="38">
                  <c:v>0.87819999999999998</c:v>
                </c:pt>
                <c:pt idx="39">
                  <c:v>0.89119999999999999</c:v>
                </c:pt>
                <c:pt idx="40">
                  <c:v>0.9032</c:v>
                </c:pt>
                <c:pt idx="41">
                  <c:v>0.91400000000000003</c:v>
                </c:pt>
                <c:pt idx="42">
                  <c:v>0.92390000000000005</c:v>
                </c:pt>
                <c:pt idx="43">
                  <c:v>0.93289999999999995</c:v>
                </c:pt>
                <c:pt idx="44">
                  <c:v>0.94099999999999995</c:v>
                </c:pt>
                <c:pt idx="45">
                  <c:v>0.94830000000000003</c:v>
                </c:pt>
                <c:pt idx="46">
                  <c:v>0.95479999999999998</c:v>
                </c:pt>
                <c:pt idx="47">
                  <c:v>0.96060000000000001</c:v>
                </c:pt>
                <c:pt idx="48">
                  <c:v>0.96579999999999999</c:v>
                </c:pt>
                <c:pt idx="49">
                  <c:v>0.97040000000000004</c:v>
                </c:pt>
                <c:pt idx="50">
                  <c:v>0.97440000000000004</c:v>
                </c:pt>
                <c:pt idx="51">
                  <c:v>0.97799999999999998</c:v>
                </c:pt>
                <c:pt idx="52">
                  <c:v>0.98109999999999997</c:v>
                </c:pt>
                <c:pt idx="53">
                  <c:v>0.9839</c:v>
                </c:pt>
                <c:pt idx="54">
                  <c:v>0.98629999999999995</c:v>
                </c:pt>
                <c:pt idx="55">
                  <c:v>0.98829999999999996</c:v>
                </c:pt>
                <c:pt idx="56">
                  <c:v>0.99009999999999998</c:v>
                </c:pt>
                <c:pt idx="57">
                  <c:v>0.99170000000000003</c:v>
                </c:pt>
                <c:pt idx="58">
                  <c:v>0.99299999999999999</c:v>
                </c:pt>
                <c:pt idx="59">
                  <c:v>0.99409999999999998</c:v>
                </c:pt>
                <c:pt idx="60">
                  <c:v>0.99509999999999998</c:v>
                </c:pt>
                <c:pt idx="61">
                  <c:v>0.99590000000000001</c:v>
                </c:pt>
                <c:pt idx="62">
                  <c:v>0.99660000000000004</c:v>
                </c:pt>
                <c:pt idx="63">
                  <c:v>0.99719999999999998</c:v>
                </c:pt>
                <c:pt idx="64">
                  <c:v>0.99770000000000003</c:v>
                </c:pt>
                <c:pt idx="65">
                  <c:v>0.99809999999999999</c:v>
                </c:pt>
                <c:pt idx="66">
                  <c:v>0.99839999999999995</c:v>
                </c:pt>
                <c:pt idx="67">
                  <c:v>0.99870000000000003</c:v>
                </c:pt>
                <c:pt idx="68">
                  <c:v>0.999</c:v>
                </c:pt>
                <c:pt idx="69">
                  <c:v>0.99919999999999998</c:v>
                </c:pt>
              </c:numCache>
            </c:numRef>
          </c:val>
          <c:smooth val="0"/>
          <c:extLst>
            <c:ext xmlns:c16="http://schemas.microsoft.com/office/drawing/2014/chart" uri="{C3380CC4-5D6E-409C-BE32-E72D297353CC}">
              <c16:uniqueId val="{00000000-4DBD-40C2-B9F1-B7EA6491E744}"/>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title>
          <c:tx>
            <c:rich>
              <a:bodyPr/>
              <a:lstStyle/>
              <a:p>
                <a:pPr>
                  <a:defRPr sz="1100" b="0" i="0" u="none" strike="noStrike">
                    <a:solidFill>
                      <a:srgbClr val="52514E"/>
                    </a:solidFill>
                    <a:latin typeface="Arial"/>
                  </a:defRPr>
                </a:pPr>
                <a:r>
                  <a:rPr sz="1100" b="0" i="0" u="none" strike="noStrike">
                    <a:solidFill>
                      <a:srgbClr val="52514E"/>
                    </a:solidFill>
                    <a:latin typeface="Arial"/>
                  </a:rPr>
                  <a:t>xonadagi odamlar soni</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2514E"/>
                </a:solidFill>
                <a:latin typeface="+mn-lt"/>
              </a:defRPr>
            </a:pPr>
            <a:endParaRPr lang="en-US"/>
          </a:p>
        </c:txPr>
        <c:crossAx val="2094734552"/>
        <c:crosses val="autoZero"/>
        <c:auto val="1"/>
        <c:lblAlgn val="ctr"/>
        <c:lblOffset val="100"/>
        <c:tickLblSkip val="10"/>
        <c:noMultiLvlLbl val="1"/>
      </c:catAx>
      <c:valAx>
        <c:axId val="2094734552"/>
        <c:scaling>
          <c:orientation val="minMax"/>
          <c:max val="1"/>
          <c:min val="0"/>
        </c:scaling>
        <c:delete val="0"/>
        <c:axPos val="l"/>
        <c:majorGridlines>
          <c:spPr>
            <a:ln w="9525" cap="flat">
              <a:solidFill>
                <a:srgbClr val="E3E7EE"/>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2514E"/>
                </a:solidFill>
                <a:latin typeface="+mn-lt"/>
              </a:defRPr>
            </a:pPr>
            <a:endParaRPr lang="en-US"/>
          </a:p>
        </c:txPr>
        <c:crossAx val="2094734554"/>
        <c:crosses val="autoZero"/>
        <c:crossBetween val="between"/>
        <c:majorUnit val="0.25"/>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624778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blok — keyingi barcha shifrlar va hujumlar uchun matematik poydevor. Har bir mavzuda asosiy savol: bu vosita kriptografiyaning aynan qayerida kerak? Asosiy urg‘u: 4–6-mavzular (EKUB, kombinatorika, statistika).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 bir mavzuni keyingi bloklardagi qo‘llanishi bilan bog‘lang. Bugun 4–6-mavzularga ko‘proq vaqt ajratamiz: ular shifrni ochish va kalit uzunligini baholashning asosiy vositalari.</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C = E_K(P), P = D_K(C). Eva kanalni to‘liq ko‘radi. Kerkgoffs (1883): xavfsizlik algoritmning emas, kalitning sirligiga tayanadi. Hujum turlari kuchi bo‘yicha zina hosil qiladi; zamonaviy shifr eng kuchli hujumga — tanlangan shifrmatnga chidashi kerak.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Kriptografiya faqat xabarni yashirish emas. To‘rt asosiy xavfsizlik maqsadi (xizmati): maxfiylik, butunlik, autentifikatsiya, rad eta olmaslik (Menezes, Handbook of Applied Cryptography, 1.2-bo‘lim). Maqsad — nimaga erishmoqchimiz; vazifa — kriptografiya buning uchun nima qiladi (shifrlash, xesh, imzo): ular “Vosita” qatorida ko‘rsatilgan. Har biriga hayotiy misol keltiring. I–II bloklardagi klassik shifrlar faqat maxfiylikni ta’minlaydi; qolganlari VII blokda. 5-band maqsad emas, yordamchi vazifa — kalitlarni boshqarish (yaratish va tarqatish): to‘rt maqsadning hammasi kalit sir va tasodifiy bo‘lgandagina ishlaydi. Enigma tarixi — kalit tarqatishdagi xatolar (kod kitoblari qo‘lga tushishi) shifrni ochishga yordam bergan.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Klassik shifrlar harflarni 0–25 ga raqamlab, 26 modul bo‘yicha qo‘shadi. Zamonaviy shifrlar baytlarni bitlarga ajratib, XOR qiladi — bu 2 modul bo‘yicha qo‘shish. XOR o‘z-o‘ziga teskari: C ⊕ K = P, shuning uchun shifrlash va rasshifrovka bitta amal. Kriptografiyada: kompyuter faqat sonlarni shifrlaydi — matn, rasm, ovoz avval baytlarga aylanadi.</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Aylana: sonlar o‘qini 26 uzunlikdagi aylanaga o‘raymiz. Qoldiq doim 0..n−1. Taqqoslama — bir xil qoldiq. Bo‘lish faqat teskari element mavjud bo‘lsa (EKUB = 1). Kriptografiyada: mod 26 — klassik shifrlar; mod 2 — XOR; juda katta modul — RSA va Diffi–Xellman.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Kattasini kichigiga bo‘lamiz, keyin bo‘luvchi va qoldiq bilan davom etamiz; qoldiq 0 bo‘lganda oxirgi bo‘luvchi — EKUB. Geometrik ma’no: to‘g‘ri to‘rtburchakdan kvadratlar kesish. Kriptografiyada: EKUB = 1 tekshiruvi kalit yaroqliligini ko‘rsatadi; teskari element shu algoritm bilan topiladi. Kontrast: EKUB oson, faktorizatsiya — qiyin (RSA asosi).</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1-qadam: oddiy Evklid, har bir qoldiqni alohida ifodalab yozamiz. 2-qadam: oxirgi tenglikdan boshlab qoldiqlarni birin-ketin almashtiramiz, toki faqat 26 va 7 qolsin. Natija 26·3 + 7·(−11) = 1; mod 26 da 26·3 qism 0 bo‘ladi, demak 7·(−11) ≡ 1, ya’ni 7⁻¹ = 15. Bezu ayniyati — nomi 'ayniyat', mazmuni teorema: bunday x, y mavjud. Kriptografiyada: affin deshifrlash, Hill matritsasi, RSA yopiq kaliti.</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Amaliy hujum: affin shifrda ikki juft ma’lum harf ikki tenglama beradi; ayirib, b yo‘qoladi; teskari element bilan a, keyin b topiladi. M-209: ikki tishli g‘ildirak bir vaqtda boshlang‘ich holatga EKUK qadamda qaytadi; tish sonlari o‘zaro tub bo‘lsa, EKUK = ko‘paytma — davr eng uzun. Davr uzun bo‘lsa, kalit oqimi takrorlanmaydi (Kasiski, 11-mavzu).</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Kriptografiyada kombinatorika bitta savolga javob beradi: kalitlar soni qancha, ya’ni to‘liq tanlash qancha vaqt oladi? Formula ikki savolga qarab tanlanadi: tartib muhimmi, takrorlash mumkinmi. n bitli kalit: 2^n, har bir qo‘shimcha bit to‘liq tanlashni 2 baravar uzaytiradi. Dirixle prinsipi: xesh funksiyalarda kolliziya albatta mavjud — xavfsizlik ularni topish qiyinligiga tayanadi.</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Ko‘paytirish qoidasi: uch mustaqil sozlama — rotorlar tartibi, boshlang‘ich holat, panel. Natija astronomik: sekundiga milliard kalit sinasak, 5000 yildan ortiq. Enigma: elektromexanik rotorli mashina, mazmunan polialfavit almashtirish; har tugmadan keyin rotor buriladi. Reflektor tufayli harf hech qachon o‘ziga shifrlanmaydi — bu asosiy zaiflik. Polsha matematigi M. Rejevskiy 1932-yil oxirida rotorlar ulanishini matematik tikladi; 1939-yil iyulda Pyri uchrashuvida natijalar Angliya va Fransiyaga berildi; Bletchli-Parkda A. Tyuring va G. Uelchman 'Bombe' mashinasini yaratdi (1940). Kriblar — standart so‘zlar, masalan WETTERBERICHT (ob-havo hisoboti).</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Kalit uzunligi bitlarda: log2(kalitlar soni). O‘rtacha urinishlar (N+1)/2 — 6-mavzuda kutilma orqali isbotlanadi. DES 1998-yilda EFF qurilmasi bilan 56 soatda ochilgan. Monoalfavit shifr ~88 bit — DES dan katta, lekin chastotali tahlil bilan qo‘lda ochiladi.</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Ingliz tilida E ≈ 12,7 %, Z ≈ 0,07 %. Shifr harflarni almashtiradi, lekin chastotalarni yashira olmaydi. Eng ko‘p harfni E deb faraz qilib K ni topamiz. Qisqa matnda bu xato bo‘lishi mumkin — χ² barcha 26 harfni hisobga oladi: har kalit bilan ochib, harflar sonini til bilan solishtiramiz; to‘g‘ri kalitda farq eng kichik. Kriptografiyada: monoalfavit shifrlarni ochish (8-mavzu).</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 — matndan tasodifan olingan ikki harf bir xil chiqish ehtimolligi (Fridman, 1922). Monoalfavit almashtirish IC ni saqlaydi, chunki faqat harflar nomi almashadi. Polialfavit shifr chastotalarni tekislaydi va IC tasodifiy matn qiymatiga yaqinlashadi. Kriptografiyada: shifr turini aniqlash va Vijener kaliti uzunligini topish (11-mavzu).</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Hisoblash g‘oyasi: hamma tug‘ilgan kunlar har xil bo‘lish ehtimolini topib, 1 dan ayiramiz. 23 kishida 253 juftlik bor — har biri alohida imkoniyat. Umumiy qoida: N qiymatdan ~√N ta tanlovda takrorlanish ehtimolligi sezilarli. Kriptografiyada: xeshda kolliziya topish uchun 2^(n/2) urinish yetadi — shuning uchun xesh uzunligi kalitdan ikki baravar uzun.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 bir vosita keyingi blokda qaysi shifr yoki hujumda ishlatilishini eslatib o‘ting. Keyingi dars: 7-mavzu — Sezar, Atbash va affin shifrlari.</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UL">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011680"/>
            <a:ext cx="10698480" cy="1371600"/>
          </a:xfrm>
          <a:prstGeom prst="rect">
            <a:avLst/>
          </a:prstGeom>
          <a:noFill/>
          <a:ln/>
        </p:spPr>
        <p:txBody>
          <a:bodyPr wrap="square" rtlCol="0"/>
          <a:lstStyle>
            <a:lvl1pPr marL="0" indent="0" algn="l">
              <a:buNone/>
              <a:defRPr lang="en-US" sz="4400" b="1" dirty="0">
                <a:solidFill>
                  <a:schemeClr val="bg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10698480" cy="1280160"/>
          </a:xfrm>
          <a:prstGeom prst="rect">
            <a:avLst/>
          </a:prstGeom>
          <a:noFill/>
          <a:ln/>
        </p:spPr>
        <p:txBody>
          <a:bodyPr wrap="square" rtlCol="0"/>
          <a:lstStyle>
            <a:lvl1pPr marL="0" indent="0" algn="l">
              <a:buNone/>
              <a:defRPr lang="en-US" sz="2000" dirty="0">
                <a:solidFill>
                  <a:srgbClr val="CADCFC"/>
                </a:solidFill>
                <a:latin typeface="Times New Roman" pitchFamily="34" charset="0"/>
                <a:ea typeface="Times New Roman" pitchFamily="34" charset="-122"/>
                <a:cs typeface="Times New Roman" pitchFamily="34" charset="-120"/>
              </a:defRPr>
            </a:lvl1pPr>
          </a:lstStyle>
          <a:p>
            <a:pPr marL="0" indent="0" algn="l">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MAZMUN">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548640" y="6400800"/>
            <a:ext cx="4572000" cy="274320"/>
          </a:xfrm>
          <a:prstGeom prst="rect">
            <a:avLst/>
          </a:prstGeom>
          <a:noFill/>
          <a:ln/>
        </p:spPr>
        <p:txBody>
          <a:bodyPr wrap="square" lIns="0" tIns="0" rIns="0" bIns="0" rtlCol="0" anchor="ctr"/>
          <a:lstStyle/>
          <a:p>
            <a:pPr marL="0" indent="0">
              <a:buNone/>
            </a:pPr>
            <a:r>
              <a:rPr lang="en-US" sz="1000" dirty="0">
                <a:solidFill>
                  <a:srgbClr val="8D99AE"/>
                </a:solidFill>
                <a:latin typeface="Times New Roman" pitchFamily="34" charset="0"/>
                <a:ea typeface="Times New Roman" pitchFamily="34" charset="-122"/>
                <a:cs typeface="Times New Roman" pitchFamily="34" charset="-120"/>
              </a:rPr>
              <a:t>Kriptologiya asoslari · I blok</a:t>
            </a:r>
            <a:endParaRPr lang="en-US" sz="1000" dirty="0"/>
          </a:p>
        </p:txBody>
      </p:sp>
      <p:sp>
        <p:nvSpPr>
          <p:cNvPr id="3" name="Text 1"/>
          <p:cNvSpPr>
            <a:spLocks noGrp="1"/>
          </p:cNvSpPr>
          <p:nvPr>
            <p:ph type="body" idx="101" hasCustomPrompt="1"/>
          </p:nvPr>
        </p:nvSpPr>
        <p:spPr>
          <a:xfrm>
            <a:off x="548640" y="256032"/>
            <a:ext cx="11064240" cy="292608"/>
          </a:xfrm>
          <a:prstGeom prst="rect">
            <a:avLst/>
          </a:prstGeom>
          <a:noFill/>
          <a:ln/>
        </p:spPr>
        <p:txBody>
          <a:bodyPr wrap="square" rtlCol="0"/>
          <a:lstStyle>
            <a:lvl1pPr marL="0" indent="0">
              <a:buNone/>
              <a:defRPr lang="en-US" sz="1300" b="1" dirty="0">
                <a:solidFill>
                  <a:schemeClr val="accent4"/>
                </a:solidFill>
                <a:latin typeface="Times New Roman" pitchFamily="34" charset="0"/>
                <a:ea typeface="Times New Roman" pitchFamily="34" charset="-122"/>
                <a:cs typeface="Times New Roman" pitchFamily="34" charset="-120"/>
              </a:defRPr>
            </a:lvl1pPr>
          </a:lstStyle>
          <a:p>
            <a:pPr marL="0" indent="0">
              <a:buNone/>
            </a:pPr>
            <a:endParaRPr lang="en-US" sz="1300" dirty="0"/>
          </a:p>
        </p:txBody>
      </p:sp>
      <p:sp>
        <p:nvSpPr>
          <p:cNvPr id="4" name="Text 1"/>
          <p:cNvSpPr>
            <a:spLocks noGrp="1"/>
          </p:cNvSpPr>
          <p:nvPr>
            <p:ph type="title" idx="102" hasCustomPrompt="1"/>
          </p:nvPr>
        </p:nvSpPr>
        <p:spPr>
          <a:xfrm>
            <a:off x="548640" y="530352"/>
            <a:ext cx="11064240" cy="685800"/>
          </a:xfrm>
          <a:prstGeom prst="rect">
            <a:avLst/>
          </a:prstGeom>
          <a:noFill/>
          <a:ln/>
        </p:spPr>
        <p:txBody>
          <a:bodyPr wrap="square" rtlCol="0"/>
          <a:lstStyle>
            <a:lvl1pPr marL="0" indent="0" algn="l">
              <a:buNone/>
              <a:defRPr lang="en-US" sz="3200" b="1" dirty="0">
                <a:solidFill>
                  <a:schemeClr val="tx2"/>
                </a:solidFill>
                <a:latin typeface="Cambria" pitchFamily="34" charset="0"/>
                <a:ea typeface="Cambria" pitchFamily="34" charset="-122"/>
                <a:cs typeface="Cambria" pitchFamily="34" charset="-120"/>
              </a:defRPr>
            </a:lvl1pPr>
          </a:lstStyle>
          <a:p>
            <a:pPr marL="0" indent="0" algn="l">
              <a:buNone/>
            </a:pPr>
            <a:endParaRPr lang="en-US" sz="32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D99AE"/>
                </a:solidFill>
                <a:latin typeface="Times New Roman"/>
                <a:ea typeface="Times New Roman"/>
                <a:cs typeface="Times New Roman"/>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YAKUN">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rtlCol="0"/>
          <a:lstStyle>
            <a:lvl1pPr marL="0" indent="0" algn="l">
              <a:buNone/>
              <a:defRPr lang="en-US" sz="3400" b="1" dirty="0">
                <a:solidFill>
                  <a:schemeClr val="bg1"/>
                </a:solidFill>
                <a:latin typeface="Cambria" pitchFamily="34" charset="0"/>
                <a:ea typeface="Cambria" pitchFamily="34" charset="-122"/>
                <a:cs typeface="Cambria" pitchFamily="34" charset="-120"/>
              </a:defRPr>
            </a:lvl1pPr>
          </a:lstStyle>
          <a:p>
            <a:pPr marL="0" indent="0" algn="l">
              <a:buNone/>
            </a:pPr>
            <a:endParaRPr lang="en-US" sz="34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D99AE"/>
                </a:solidFill>
                <a:latin typeface="Times New Roman"/>
                <a:ea typeface="Times New Roman"/>
                <a:cs typeface="Times New Roman"/>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011680"/>
            <a:ext cx="10698480" cy="1371600"/>
          </a:xfrm>
          <a:prstGeom prst="rect">
            <a:avLst/>
          </a:prstGeom>
          <a:noFill/>
          <a:ln/>
        </p:spPr>
        <p:txBody>
          <a:bodyPr wrap="square" rtlCol="0" anchor="b"/>
          <a:lstStyle/>
          <a:p>
            <a:pPr marL="0" indent="0" algn="l">
              <a:buNone/>
            </a:pPr>
            <a:r>
              <a:rPr lang="en-US" sz="4400" b="1" dirty="0">
                <a:solidFill>
                  <a:schemeClr val="bg1"/>
                </a:solidFill>
                <a:latin typeface="Cambria" pitchFamily="34" charset="0"/>
                <a:ea typeface="Cambria" pitchFamily="34" charset="-122"/>
                <a:cs typeface="Cambria" pitchFamily="34" charset="-120"/>
              </a:rPr>
              <a:t>Kriptologiya asoslari</a:t>
            </a:r>
            <a:endParaRPr lang="en-US" sz="4400" dirty="0"/>
          </a:p>
        </p:txBody>
      </p:sp>
      <p:sp>
        <p:nvSpPr>
          <p:cNvPr id="3" name="Text 0"/>
          <p:cNvSpPr>
            <a:spLocks noGrp="1"/>
          </p:cNvSpPr>
          <p:nvPr>
            <p:ph type="body" idx="101" hasCustomPrompt="1"/>
          </p:nvPr>
        </p:nvSpPr>
        <p:spPr>
          <a:xfrm>
            <a:off x="731520" y="3520440"/>
            <a:ext cx="10698480" cy="1280160"/>
          </a:xfrm>
          <a:prstGeom prst="rect">
            <a:avLst/>
          </a:prstGeom>
          <a:noFill/>
          <a:ln/>
        </p:spPr>
        <p:txBody>
          <a:bodyPr wrap="square" rtlCol="0" anchor="t"/>
          <a:lstStyle/>
          <a:p>
            <a:pPr marL="0" indent="0" algn="l">
              <a:buNone/>
            </a:pPr>
            <a:r>
              <a:rPr lang="en-US" sz="2000" dirty="0">
                <a:solidFill>
                  <a:srgbClr val="CADCFC"/>
                </a:solidFill>
                <a:latin typeface="Times New Roman" pitchFamily="34" charset="0"/>
                <a:ea typeface="Times New Roman" pitchFamily="34" charset="-122"/>
                <a:cs typeface="Times New Roman" pitchFamily="34" charset="-120"/>
              </a:rPr>
              <a:t>I blok · Poydevor: shifrlarni yaratish va ochishning matematik vositalari</a:t>
            </a:r>
            <a:endParaRPr lang="en-US" sz="2000" dirty="0"/>
          </a:p>
        </p:txBody>
      </p:sp>
      <p:sp>
        <p:nvSpPr>
          <p:cNvPr id="4" name="o_1"/>
          <p:cNvSpPr txBox="1"/>
          <p:nvPr/>
        </p:nvSpPr>
        <p:spPr>
          <a:xfrm>
            <a:off x="9921240" y="228600"/>
            <a:ext cx="274320" cy="274320"/>
          </a:xfrm>
          <a:prstGeom prst="rect">
            <a:avLst/>
          </a:prstGeom>
          <a:noFill/>
          <a:ln/>
        </p:spPr>
        <p:txBody>
          <a:bodyPr wrap="square" lIns="0" tIns="0" rIns="0" bIns="0" rtlCol="0" anchor="ctr"/>
          <a:lstStyle/>
          <a:p>
            <a:pPr marL="0" indent="0" algn="ctr">
              <a:buNone/>
            </a:pPr>
            <a:r>
              <a:rPr lang="en-US" sz="1200" b="1" dirty="0">
                <a:solidFill>
                  <a:schemeClr val="accent1"/>
                </a:solidFill>
                <a:latin typeface="Courier New" pitchFamily="34" charset="0"/>
                <a:ea typeface="Courier New" pitchFamily="34" charset="-122"/>
                <a:cs typeface="Courier New" pitchFamily="34" charset="-120"/>
              </a:rPr>
              <a:t>A</a:t>
            </a:r>
            <a:endParaRPr lang="en-US" sz="1200" dirty="0"/>
          </a:p>
        </p:txBody>
      </p:sp>
      <p:sp>
        <p:nvSpPr>
          <p:cNvPr id="5" name="o_2"/>
          <p:cNvSpPr txBox="1"/>
          <p:nvPr/>
        </p:nvSpPr>
        <p:spPr>
          <a:xfrm>
            <a:off x="10129129" y="253842"/>
            <a:ext cx="274320" cy="274320"/>
          </a:xfrm>
          <a:prstGeom prst="rect">
            <a:avLst/>
          </a:prstGeom>
          <a:noFill/>
          <a:ln/>
        </p:spPr>
        <p:txBody>
          <a:bodyPr wrap="square" lIns="0" tIns="0" rIns="0" bIns="0" rtlCol="0" anchor="ctr"/>
          <a:lstStyle/>
          <a:p>
            <a:pPr marL="0" indent="0" algn="ctr">
              <a:buNone/>
            </a:pPr>
            <a:r>
              <a:rPr lang="en-US" sz="1200" dirty="0">
                <a:solidFill>
                  <a:srgbClr val="8FA3C7"/>
                </a:solidFill>
                <a:latin typeface="Courier New" pitchFamily="34" charset="0"/>
                <a:ea typeface="Courier New" pitchFamily="34" charset="-122"/>
                <a:cs typeface="Courier New" pitchFamily="34" charset="-120"/>
              </a:rPr>
              <a:t>B</a:t>
            </a:r>
            <a:endParaRPr lang="en-US" sz="1200" dirty="0"/>
          </a:p>
        </p:txBody>
      </p:sp>
      <p:sp>
        <p:nvSpPr>
          <p:cNvPr id="6" name="o_3"/>
          <p:cNvSpPr txBox="1"/>
          <p:nvPr/>
        </p:nvSpPr>
        <p:spPr>
          <a:xfrm>
            <a:off x="10324936" y="328102"/>
            <a:ext cx="274320" cy="274320"/>
          </a:xfrm>
          <a:prstGeom prst="rect">
            <a:avLst/>
          </a:prstGeom>
          <a:noFill/>
          <a:ln/>
        </p:spPr>
        <p:txBody>
          <a:bodyPr wrap="square" lIns="0" tIns="0" rIns="0" bIns="0" rtlCol="0" anchor="ctr"/>
          <a:lstStyle/>
          <a:p>
            <a:pPr marL="0" indent="0" algn="ctr">
              <a:buNone/>
            </a:pPr>
            <a:r>
              <a:rPr lang="en-US" sz="1200" dirty="0">
                <a:solidFill>
                  <a:srgbClr val="8FA3C7"/>
                </a:solidFill>
                <a:latin typeface="Courier New" pitchFamily="34" charset="0"/>
                <a:ea typeface="Courier New" pitchFamily="34" charset="-122"/>
                <a:cs typeface="Courier New" pitchFamily="34" charset="-120"/>
              </a:rPr>
              <a:t>C</a:t>
            </a:r>
            <a:endParaRPr lang="en-US" sz="1200" dirty="0"/>
          </a:p>
        </p:txBody>
      </p:sp>
      <p:sp>
        <p:nvSpPr>
          <p:cNvPr id="7" name="o_4"/>
          <p:cNvSpPr txBox="1"/>
          <p:nvPr/>
        </p:nvSpPr>
        <p:spPr>
          <a:xfrm>
            <a:off x="10497281" y="447064"/>
            <a:ext cx="274320" cy="274320"/>
          </a:xfrm>
          <a:prstGeom prst="rect">
            <a:avLst/>
          </a:prstGeom>
          <a:noFill/>
          <a:ln/>
        </p:spPr>
        <p:txBody>
          <a:bodyPr wrap="square" lIns="0" tIns="0" rIns="0" bIns="0" rtlCol="0" anchor="ctr"/>
          <a:lstStyle/>
          <a:p>
            <a:pPr marL="0" indent="0" algn="ctr">
              <a:buNone/>
            </a:pPr>
            <a:r>
              <a:rPr lang="en-US" sz="1200" dirty="0">
                <a:solidFill>
                  <a:srgbClr val="8FA3C7"/>
                </a:solidFill>
                <a:latin typeface="Courier New" pitchFamily="34" charset="0"/>
                <a:ea typeface="Courier New" pitchFamily="34" charset="-122"/>
                <a:cs typeface="Courier New" pitchFamily="34" charset="-120"/>
              </a:rPr>
              <a:t>D</a:t>
            </a:r>
            <a:endParaRPr lang="en-US" sz="1200" dirty="0"/>
          </a:p>
        </p:txBody>
      </p:sp>
      <p:sp>
        <p:nvSpPr>
          <p:cNvPr id="8" name="o_5"/>
          <p:cNvSpPr txBox="1"/>
          <p:nvPr/>
        </p:nvSpPr>
        <p:spPr>
          <a:xfrm>
            <a:off x="10636150" y="603814"/>
            <a:ext cx="274320" cy="274320"/>
          </a:xfrm>
          <a:prstGeom prst="rect">
            <a:avLst/>
          </a:prstGeom>
          <a:noFill/>
          <a:ln/>
        </p:spPr>
        <p:txBody>
          <a:bodyPr wrap="square" lIns="0" tIns="0" rIns="0" bIns="0" rtlCol="0" anchor="ctr"/>
          <a:lstStyle/>
          <a:p>
            <a:pPr marL="0" indent="0" algn="ctr">
              <a:buNone/>
            </a:pPr>
            <a:r>
              <a:rPr lang="en-US" sz="1200" dirty="0">
                <a:solidFill>
                  <a:srgbClr val="8FA3C7"/>
                </a:solidFill>
                <a:latin typeface="Courier New" pitchFamily="34" charset="0"/>
                <a:ea typeface="Courier New" pitchFamily="34" charset="-122"/>
                <a:cs typeface="Courier New" pitchFamily="34" charset="-120"/>
              </a:rPr>
              <a:t>E</a:t>
            </a:r>
            <a:endParaRPr lang="en-US" sz="1200" dirty="0"/>
          </a:p>
        </p:txBody>
      </p:sp>
      <p:sp>
        <p:nvSpPr>
          <p:cNvPr id="9" name="o_6"/>
          <p:cNvSpPr txBox="1"/>
          <p:nvPr/>
        </p:nvSpPr>
        <p:spPr>
          <a:xfrm>
            <a:off x="10733470" y="789242"/>
            <a:ext cx="274320" cy="274320"/>
          </a:xfrm>
          <a:prstGeom prst="rect">
            <a:avLst/>
          </a:prstGeom>
          <a:noFill/>
          <a:ln/>
        </p:spPr>
        <p:txBody>
          <a:bodyPr wrap="square" lIns="0" tIns="0" rIns="0" bIns="0" rtlCol="0" anchor="ctr"/>
          <a:lstStyle/>
          <a:p>
            <a:pPr marL="0" indent="0" algn="ctr">
              <a:buNone/>
            </a:pPr>
            <a:r>
              <a:rPr lang="en-US" sz="1200" dirty="0">
                <a:solidFill>
                  <a:srgbClr val="8FA3C7"/>
                </a:solidFill>
                <a:latin typeface="Courier New" pitchFamily="34" charset="0"/>
                <a:ea typeface="Courier New" pitchFamily="34" charset="-122"/>
                <a:cs typeface="Courier New" pitchFamily="34" charset="-120"/>
              </a:rPr>
              <a:t>F</a:t>
            </a:r>
            <a:endParaRPr lang="en-US" sz="1200" dirty="0"/>
          </a:p>
        </p:txBody>
      </p:sp>
      <p:sp>
        <p:nvSpPr>
          <p:cNvPr id="10" name="o_7"/>
          <p:cNvSpPr txBox="1"/>
          <p:nvPr/>
        </p:nvSpPr>
        <p:spPr>
          <a:xfrm>
            <a:off x="10783586" y="992572"/>
            <a:ext cx="274320" cy="274320"/>
          </a:xfrm>
          <a:prstGeom prst="rect">
            <a:avLst/>
          </a:prstGeom>
          <a:noFill/>
          <a:ln/>
        </p:spPr>
        <p:txBody>
          <a:bodyPr wrap="square" lIns="0" tIns="0" rIns="0" bIns="0" rtlCol="0" anchor="ctr"/>
          <a:lstStyle/>
          <a:p>
            <a:pPr marL="0" indent="0" algn="ctr">
              <a:buNone/>
            </a:pPr>
            <a:r>
              <a:rPr lang="en-US" sz="1200" dirty="0">
                <a:solidFill>
                  <a:srgbClr val="8FA3C7"/>
                </a:solidFill>
                <a:latin typeface="Courier New" pitchFamily="34" charset="0"/>
                <a:ea typeface="Courier New" pitchFamily="34" charset="-122"/>
                <a:cs typeface="Courier New" pitchFamily="34" charset="-120"/>
              </a:rPr>
              <a:t>G</a:t>
            </a:r>
            <a:endParaRPr lang="en-US" sz="1200" dirty="0"/>
          </a:p>
        </p:txBody>
      </p:sp>
      <p:sp>
        <p:nvSpPr>
          <p:cNvPr id="11" name="o_8"/>
          <p:cNvSpPr txBox="1"/>
          <p:nvPr/>
        </p:nvSpPr>
        <p:spPr>
          <a:xfrm>
            <a:off x="10783586" y="1201988"/>
            <a:ext cx="274320" cy="274320"/>
          </a:xfrm>
          <a:prstGeom prst="rect">
            <a:avLst/>
          </a:prstGeom>
          <a:noFill/>
          <a:ln/>
        </p:spPr>
        <p:txBody>
          <a:bodyPr wrap="square" lIns="0" tIns="0" rIns="0" bIns="0" rtlCol="0" anchor="ctr"/>
          <a:lstStyle/>
          <a:p>
            <a:pPr marL="0" indent="0" algn="ctr">
              <a:buNone/>
            </a:pPr>
            <a:r>
              <a:rPr lang="en-US" sz="1200" dirty="0">
                <a:solidFill>
                  <a:srgbClr val="8FA3C7"/>
                </a:solidFill>
                <a:latin typeface="Courier New" pitchFamily="34" charset="0"/>
                <a:ea typeface="Courier New" pitchFamily="34" charset="-122"/>
                <a:cs typeface="Courier New" pitchFamily="34" charset="-120"/>
              </a:rPr>
              <a:t>H</a:t>
            </a:r>
            <a:endParaRPr lang="en-US" sz="1200" dirty="0"/>
          </a:p>
        </p:txBody>
      </p:sp>
      <p:sp>
        <p:nvSpPr>
          <p:cNvPr id="12" name="o_9"/>
          <p:cNvSpPr txBox="1"/>
          <p:nvPr/>
        </p:nvSpPr>
        <p:spPr>
          <a:xfrm>
            <a:off x="10733470" y="1405318"/>
            <a:ext cx="274320" cy="274320"/>
          </a:xfrm>
          <a:prstGeom prst="rect">
            <a:avLst/>
          </a:prstGeom>
          <a:noFill/>
          <a:ln/>
        </p:spPr>
        <p:txBody>
          <a:bodyPr wrap="square" lIns="0" tIns="0" rIns="0" bIns="0" rtlCol="0" anchor="ctr"/>
          <a:lstStyle/>
          <a:p>
            <a:pPr marL="0" indent="0" algn="ctr">
              <a:buNone/>
            </a:pPr>
            <a:r>
              <a:rPr lang="en-US" sz="1200" dirty="0">
                <a:solidFill>
                  <a:srgbClr val="8FA3C7"/>
                </a:solidFill>
                <a:latin typeface="Courier New" pitchFamily="34" charset="0"/>
                <a:ea typeface="Courier New" pitchFamily="34" charset="-122"/>
                <a:cs typeface="Courier New" pitchFamily="34" charset="-120"/>
              </a:rPr>
              <a:t>I</a:t>
            </a:r>
            <a:endParaRPr lang="en-US" sz="1200" dirty="0"/>
          </a:p>
        </p:txBody>
      </p:sp>
      <p:sp>
        <p:nvSpPr>
          <p:cNvPr id="13" name="o_10"/>
          <p:cNvSpPr txBox="1"/>
          <p:nvPr/>
        </p:nvSpPr>
        <p:spPr>
          <a:xfrm>
            <a:off x="10636150" y="1590746"/>
            <a:ext cx="274320" cy="274320"/>
          </a:xfrm>
          <a:prstGeom prst="rect">
            <a:avLst/>
          </a:prstGeom>
          <a:noFill/>
          <a:ln/>
        </p:spPr>
        <p:txBody>
          <a:bodyPr wrap="square" lIns="0" tIns="0" rIns="0" bIns="0" rtlCol="0" anchor="ctr"/>
          <a:lstStyle/>
          <a:p>
            <a:pPr marL="0" indent="0" algn="ctr">
              <a:buNone/>
            </a:pPr>
            <a:r>
              <a:rPr lang="en-US" sz="1200" dirty="0">
                <a:solidFill>
                  <a:srgbClr val="8FA3C7"/>
                </a:solidFill>
                <a:latin typeface="Courier New" pitchFamily="34" charset="0"/>
                <a:ea typeface="Courier New" pitchFamily="34" charset="-122"/>
                <a:cs typeface="Courier New" pitchFamily="34" charset="-120"/>
              </a:rPr>
              <a:t>J</a:t>
            </a:r>
            <a:endParaRPr lang="en-US" sz="1200" dirty="0"/>
          </a:p>
        </p:txBody>
      </p:sp>
      <p:sp>
        <p:nvSpPr>
          <p:cNvPr id="14" name="o_11"/>
          <p:cNvSpPr txBox="1"/>
          <p:nvPr/>
        </p:nvSpPr>
        <p:spPr>
          <a:xfrm>
            <a:off x="10497281" y="1747496"/>
            <a:ext cx="274320" cy="274320"/>
          </a:xfrm>
          <a:prstGeom prst="rect">
            <a:avLst/>
          </a:prstGeom>
          <a:noFill/>
          <a:ln/>
        </p:spPr>
        <p:txBody>
          <a:bodyPr wrap="square" lIns="0" tIns="0" rIns="0" bIns="0" rtlCol="0" anchor="ctr"/>
          <a:lstStyle/>
          <a:p>
            <a:pPr marL="0" indent="0" algn="ctr">
              <a:buNone/>
            </a:pPr>
            <a:r>
              <a:rPr lang="en-US" sz="1200" dirty="0">
                <a:solidFill>
                  <a:srgbClr val="8FA3C7"/>
                </a:solidFill>
                <a:latin typeface="Courier New" pitchFamily="34" charset="0"/>
                <a:ea typeface="Courier New" pitchFamily="34" charset="-122"/>
                <a:cs typeface="Courier New" pitchFamily="34" charset="-120"/>
              </a:rPr>
              <a:t>K</a:t>
            </a:r>
            <a:endParaRPr lang="en-US" sz="1200" dirty="0"/>
          </a:p>
        </p:txBody>
      </p:sp>
      <p:sp>
        <p:nvSpPr>
          <p:cNvPr id="15" name="o_12"/>
          <p:cNvSpPr txBox="1"/>
          <p:nvPr/>
        </p:nvSpPr>
        <p:spPr>
          <a:xfrm>
            <a:off x="10324936" y="1866458"/>
            <a:ext cx="274320" cy="274320"/>
          </a:xfrm>
          <a:prstGeom prst="rect">
            <a:avLst/>
          </a:prstGeom>
          <a:noFill/>
          <a:ln/>
        </p:spPr>
        <p:txBody>
          <a:bodyPr wrap="square" lIns="0" tIns="0" rIns="0" bIns="0" rtlCol="0" anchor="ctr"/>
          <a:lstStyle/>
          <a:p>
            <a:pPr marL="0" indent="0" algn="ctr">
              <a:buNone/>
            </a:pPr>
            <a:r>
              <a:rPr lang="en-US" sz="1200" dirty="0">
                <a:solidFill>
                  <a:srgbClr val="8FA3C7"/>
                </a:solidFill>
                <a:latin typeface="Courier New" pitchFamily="34" charset="0"/>
                <a:ea typeface="Courier New" pitchFamily="34" charset="-122"/>
                <a:cs typeface="Courier New" pitchFamily="34" charset="-120"/>
              </a:rPr>
              <a:t>L</a:t>
            </a:r>
            <a:endParaRPr lang="en-US" sz="1200" dirty="0"/>
          </a:p>
        </p:txBody>
      </p:sp>
      <p:sp>
        <p:nvSpPr>
          <p:cNvPr id="16" name="o_13"/>
          <p:cNvSpPr txBox="1"/>
          <p:nvPr/>
        </p:nvSpPr>
        <p:spPr>
          <a:xfrm>
            <a:off x="10129129" y="1940718"/>
            <a:ext cx="274320" cy="274320"/>
          </a:xfrm>
          <a:prstGeom prst="rect">
            <a:avLst/>
          </a:prstGeom>
          <a:noFill/>
          <a:ln/>
        </p:spPr>
        <p:txBody>
          <a:bodyPr wrap="square" lIns="0" tIns="0" rIns="0" bIns="0" rtlCol="0" anchor="ctr"/>
          <a:lstStyle/>
          <a:p>
            <a:pPr marL="0" indent="0" algn="ctr">
              <a:buNone/>
            </a:pPr>
            <a:r>
              <a:rPr lang="en-US" sz="1200" dirty="0">
                <a:solidFill>
                  <a:srgbClr val="8FA3C7"/>
                </a:solidFill>
                <a:latin typeface="Courier New" pitchFamily="34" charset="0"/>
                <a:ea typeface="Courier New" pitchFamily="34" charset="-122"/>
                <a:cs typeface="Courier New" pitchFamily="34" charset="-120"/>
              </a:rPr>
              <a:t>M</a:t>
            </a:r>
            <a:endParaRPr lang="en-US" sz="1200" dirty="0"/>
          </a:p>
        </p:txBody>
      </p:sp>
      <p:sp>
        <p:nvSpPr>
          <p:cNvPr id="17" name="o_14"/>
          <p:cNvSpPr txBox="1"/>
          <p:nvPr/>
        </p:nvSpPr>
        <p:spPr>
          <a:xfrm>
            <a:off x="9921240" y="1965960"/>
            <a:ext cx="274320" cy="274320"/>
          </a:xfrm>
          <a:prstGeom prst="rect">
            <a:avLst/>
          </a:prstGeom>
          <a:noFill/>
          <a:ln/>
        </p:spPr>
        <p:txBody>
          <a:bodyPr wrap="square" lIns="0" tIns="0" rIns="0" bIns="0" rtlCol="0" anchor="ctr"/>
          <a:lstStyle/>
          <a:p>
            <a:pPr marL="0" indent="0" algn="ctr">
              <a:buNone/>
            </a:pPr>
            <a:r>
              <a:rPr lang="en-US" sz="1200" dirty="0">
                <a:solidFill>
                  <a:srgbClr val="8FA3C7"/>
                </a:solidFill>
                <a:latin typeface="Courier New" pitchFamily="34" charset="0"/>
                <a:ea typeface="Courier New" pitchFamily="34" charset="-122"/>
                <a:cs typeface="Courier New" pitchFamily="34" charset="-120"/>
              </a:rPr>
              <a:t>N</a:t>
            </a:r>
            <a:endParaRPr lang="en-US" sz="1200" dirty="0"/>
          </a:p>
        </p:txBody>
      </p:sp>
      <p:sp>
        <p:nvSpPr>
          <p:cNvPr id="18" name="o_15"/>
          <p:cNvSpPr txBox="1"/>
          <p:nvPr/>
        </p:nvSpPr>
        <p:spPr>
          <a:xfrm>
            <a:off x="9713351" y="1940718"/>
            <a:ext cx="274320" cy="274320"/>
          </a:xfrm>
          <a:prstGeom prst="rect">
            <a:avLst/>
          </a:prstGeom>
          <a:noFill/>
          <a:ln/>
        </p:spPr>
        <p:txBody>
          <a:bodyPr wrap="square" lIns="0" tIns="0" rIns="0" bIns="0" rtlCol="0" anchor="ctr"/>
          <a:lstStyle/>
          <a:p>
            <a:pPr marL="0" indent="0" algn="ctr">
              <a:buNone/>
            </a:pPr>
            <a:r>
              <a:rPr lang="en-US" sz="1200" dirty="0">
                <a:solidFill>
                  <a:srgbClr val="8FA3C7"/>
                </a:solidFill>
                <a:latin typeface="Courier New" pitchFamily="34" charset="0"/>
                <a:ea typeface="Courier New" pitchFamily="34" charset="-122"/>
                <a:cs typeface="Courier New" pitchFamily="34" charset="-120"/>
              </a:rPr>
              <a:t>O</a:t>
            </a:r>
            <a:endParaRPr lang="en-US" sz="1200" dirty="0"/>
          </a:p>
        </p:txBody>
      </p:sp>
      <p:sp>
        <p:nvSpPr>
          <p:cNvPr id="19" name="o_16"/>
          <p:cNvSpPr txBox="1"/>
          <p:nvPr/>
        </p:nvSpPr>
        <p:spPr>
          <a:xfrm>
            <a:off x="9517544" y="1866458"/>
            <a:ext cx="274320" cy="274320"/>
          </a:xfrm>
          <a:prstGeom prst="rect">
            <a:avLst/>
          </a:prstGeom>
          <a:noFill/>
          <a:ln/>
        </p:spPr>
        <p:txBody>
          <a:bodyPr wrap="square" lIns="0" tIns="0" rIns="0" bIns="0" rtlCol="0" anchor="ctr"/>
          <a:lstStyle/>
          <a:p>
            <a:pPr marL="0" indent="0" algn="ctr">
              <a:buNone/>
            </a:pPr>
            <a:r>
              <a:rPr lang="en-US" sz="1200" dirty="0">
                <a:solidFill>
                  <a:srgbClr val="8FA3C7"/>
                </a:solidFill>
                <a:latin typeface="Courier New" pitchFamily="34" charset="0"/>
                <a:ea typeface="Courier New" pitchFamily="34" charset="-122"/>
                <a:cs typeface="Courier New" pitchFamily="34" charset="-120"/>
              </a:rPr>
              <a:t>P</a:t>
            </a:r>
            <a:endParaRPr lang="en-US" sz="1200" dirty="0"/>
          </a:p>
        </p:txBody>
      </p:sp>
      <p:sp>
        <p:nvSpPr>
          <p:cNvPr id="20" name="o_17"/>
          <p:cNvSpPr txBox="1"/>
          <p:nvPr/>
        </p:nvSpPr>
        <p:spPr>
          <a:xfrm>
            <a:off x="9345199" y="1747496"/>
            <a:ext cx="274320" cy="274320"/>
          </a:xfrm>
          <a:prstGeom prst="rect">
            <a:avLst/>
          </a:prstGeom>
          <a:noFill/>
          <a:ln/>
        </p:spPr>
        <p:txBody>
          <a:bodyPr wrap="square" lIns="0" tIns="0" rIns="0" bIns="0" rtlCol="0" anchor="ctr"/>
          <a:lstStyle/>
          <a:p>
            <a:pPr marL="0" indent="0" algn="ctr">
              <a:buNone/>
            </a:pPr>
            <a:r>
              <a:rPr lang="en-US" sz="1200" dirty="0">
                <a:solidFill>
                  <a:srgbClr val="8FA3C7"/>
                </a:solidFill>
                <a:latin typeface="Courier New" pitchFamily="34" charset="0"/>
                <a:ea typeface="Courier New" pitchFamily="34" charset="-122"/>
                <a:cs typeface="Courier New" pitchFamily="34" charset="-120"/>
              </a:rPr>
              <a:t>Q</a:t>
            </a:r>
            <a:endParaRPr lang="en-US" sz="1200" dirty="0"/>
          </a:p>
        </p:txBody>
      </p:sp>
      <p:sp>
        <p:nvSpPr>
          <p:cNvPr id="21" name="o_18"/>
          <p:cNvSpPr txBox="1"/>
          <p:nvPr/>
        </p:nvSpPr>
        <p:spPr>
          <a:xfrm>
            <a:off x="9206330" y="1590746"/>
            <a:ext cx="274320" cy="274320"/>
          </a:xfrm>
          <a:prstGeom prst="rect">
            <a:avLst/>
          </a:prstGeom>
          <a:noFill/>
          <a:ln/>
        </p:spPr>
        <p:txBody>
          <a:bodyPr wrap="square" lIns="0" tIns="0" rIns="0" bIns="0" rtlCol="0" anchor="ctr"/>
          <a:lstStyle/>
          <a:p>
            <a:pPr marL="0" indent="0" algn="ctr">
              <a:buNone/>
            </a:pPr>
            <a:r>
              <a:rPr lang="en-US" sz="1200" dirty="0">
                <a:solidFill>
                  <a:srgbClr val="8FA3C7"/>
                </a:solidFill>
                <a:latin typeface="Courier New" pitchFamily="34" charset="0"/>
                <a:ea typeface="Courier New" pitchFamily="34" charset="-122"/>
                <a:cs typeface="Courier New" pitchFamily="34" charset="-120"/>
              </a:rPr>
              <a:t>R</a:t>
            </a:r>
            <a:endParaRPr lang="en-US" sz="1200" dirty="0"/>
          </a:p>
        </p:txBody>
      </p:sp>
      <p:sp>
        <p:nvSpPr>
          <p:cNvPr id="22" name="o_19"/>
          <p:cNvSpPr txBox="1"/>
          <p:nvPr/>
        </p:nvSpPr>
        <p:spPr>
          <a:xfrm>
            <a:off x="9109010" y="1405318"/>
            <a:ext cx="274320" cy="274320"/>
          </a:xfrm>
          <a:prstGeom prst="rect">
            <a:avLst/>
          </a:prstGeom>
          <a:noFill/>
          <a:ln/>
        </p:spPr>
        <p:txBody>
          <a:bodyPr wrap="square" lIns="0" tIns="0" rIns="0" bIns="0" rtlCol="0" anchor="ctr"/>
          <a:lstStyle/>
          <a:p>
            <a:pPr marL="0" indent="0" algn="ctr">
              <a:buNone/>
            </a:pPr>
            <a:r>
              <a:rPr lang="en-US" sz="1200" dirty="0">
                <a:solidFill>
                  <a:srgbClr val="8FA3C7"/>
                </a:solidFill>
                <a:latin typeface="Courier New" pitchFamily="34" charset="0"/>
                <a:ea typeface="Courier New" pitchFamily="34" charset="-122"/>
                <a:cs typeface="Courier New" pitchFamily="34" charset="-120"/>
              </a:rPr>
              <a:t>S</a:t>
            </a:r>
            <a:endParaRPr lang="en-US" sz="1200" dirty="0"/>
          </a:p>
        </p:txBody>
      </p:sp>
      <p:sp>
        <p:nvSpPr>
          <p:cNvPr id="23" name="o_20"/>
          <p:cNvSpPr txBox="1"/>
          <p:nvPr/>
        </p:nvSpPr>
        <p:spPr>
          <a:xfrm>
            <a:off x="9058894" y="1201988"/>
            <a:ext cx="274320" cy="274320"/>
          </a:xfrm>
          <a:prstGeom prst="rect">
            <a:avLst/>
          </a:prstGeom>
          <a:noFill/>
          <a:ln/>
        </p:spPr>
        <p:txBody>
          <a:bodyPr wrap="square" lIns="0" tIns="0" rIns="0" bIns="0" rtlCol="0" anchor="ctr"/>
          <a:lstStyle/>
          <a:p>
            <a:pPr marL="0" indent="0" algn="ctr">
              <a:buNone/>
            </a:pPr>
            <a:r>
              <a:rPr lang="en-US" sz="1200" dirty="0">
                <a:solidFill>
                  <a:srgbClr val="8FA3C7"/>
                </a:solidFill>
                <a:latin typeface="Courier New" pitchFamily="34" charset="0"/>
                <a:ea typeface="Courier New" pitchFamily="34" charset="-122"/>
                <a:cs typeface="Courier New" pitchFamily="34" charset="-120"/>
              </a:rPr>
              <a:t>T</a:t>
            </a:r>
            <a:endParaRPr lang="en-US" sz="1200" dirty="0"/>
          </a:p>
        </p:txBody>
      </p:sp>
      <p:sp>
        <p:nvSpPr>
          <p:cNvPr id="24" name="o_21"/>
          <p:cNvSpPr txBox="1"/>
          <p:nvPr/>
        </p:nvSpPr>
        <p:spPr>
          <a:xfrm>
            <a:off x="9058894" y="992572"/>
            <a:ext cx="274320" cy="274320"/>
          </a:xfrm>
          <a:prstGeom prst="rect">
            <a:avLst/>
          </a:prstGeom>
          <a:noFill/>
          <a:ln/>
        </p:spPr>
        <p:txBody>
          <a:bodyPr wrap="square" lIns="0" tIns="0" rIns="0" bIns="0" rtlCol="0" anchor="ctr"/>
          <a:lstStyle/>
          <a:p>
            <a:pPr marL="0" indent="0" algn="ctr">
              <a:buNone/>
            </a:pPr>
            <a:r>
              <a:rPr lang="en-US" sz="1200" dirty="0">
                <a:solidFill>
                  <a:srgbClr val="8FA3C7"/>
                </a:solidFill>
                <a:latin typeface="Courier New" pitchFamily="34" charset="0"/>
                <a:ea typeface="Courier New" pitchFamily="34" charset="-122"/>
                <a:cs typeface="Courier New" pitchFamily="34" charset="-120"/>
              </a:rPr>
              <a:t>U</a:t>
            </a:r>
            <a:endParaRPr lang="en-US" sz="1200" dirty="0"/>
          </a:p>
        </p:txBody>
      </p:sp>
      <p:sp>
        <p:nvSpPr>
          <p:cNvPr id="25" name="o_22"/>
          <p:cNvSpPr txBox="1"/>
          <p:nvPr/>
        </p:nvSpPr>
        <p:spPr>
          <a:xfrm>
            <a:off x="9109010" y="789242"/>
            <a:ext cx="274320" cy="274320"/>
          </a:xfrm>
          <a:prstGeom prst="rect">
            <a:avLst/>
          </a:prstGeom>
          <a:noFill/>
          <a:ln/>
        </p:spPr>
        <p:txBody>
          <a:bodyPr wrap="square" lIns="0" tIns="0" rIns="0" bIns="0" rtlCol="0" anchor="ctr"/>
          <a:lstStyle/>
          <a:p>
            <a:pPr marL="0" indent="0" algn="ctr">
              <a:buNone/>
            </a:pPr>
            <a:r>
              <a:rPr lang="en-US" sz="1200" dirty="0">
                <a:solidFill>
                  <a:srgbClr val="8FA3C7"/>
                </a:solidFill>
                <a:latin typeface="Courier New" pitchFamily="34" charset="0"/>
                <a:ea typeface="Courier New" pitchFamily="34" charset="-122"/>
                <a:cs typeface="Courier New" pitchFamily="34" charset="-120"/>
              </a:rPr>
              <a:t>V</a:t>
            </a:r>
            <a:endParaRPr lang="en-US" sz="1200" dirty="0"/>
          </a:p>
        </p:txBody>
      </p:sp>
      <p:sp>
        <p:nvSpPr>
          <p:cNvPr id="26" name="o_23"/>
          <p:cNvSpPr txBox="1"/>
          <p:nvPr/>
        </p:nvSpPr>
        <p:spPr>
          <a:xfrm>
            <a:off x="9206330" y="603814"/>
            <a:ext cx="274320" cy="274320"/>
          </a:xfrm>
          <a:prstGeom prst="rect">
            <a:avLst/>
          </a:prstGeom>
          <a:noFill/>
          <a:ln/>
        </p:spPr>
        <p:txBody>
          <a:bodyPr wrap="square" lIns="0" tIns="0" rIns="0" bIns="0" rtlCol="0" anchor="ctr"/>
          <a:lstStyle/>
          <a:p>
            <a:pPr marL="0" indent="0" algn="ctr">
              <a:buNone/>
            </a:pPr>
            <a:r>
              <a:rPr lang="en-US" sz="1200" dirty="0">
                <a:solidFill>
                  <a:srgbClr val="8FA3C7"/>
                </a:solidFill>
                <a:latin typeface="Courier New" pitchFamily="34" charset="0"/>
                <a:ea typeface="Courier New" pitchFamily="34" charset="-122"/>
                <a:cs typeface="Courier New" pitchFamily="34" charset="-120"/>
              </a:rPr>
              <a:t>W</a:t>
            </a:r>
            <a:endParaRPr lang="en-US" sz="1200" dirty="0"/>
          </a:p>
        </p:txBody>
      </p:sp>
      <p:sp>
        <p:nvSpPr>
          <p:cNvPr id="27" name="o_24"/>
          <p:cNvSpPr txBox="1"/>
          <p:nvPr/>
        </p:nvSpPr>
        <p:spPr>
          <a:xfrm>
            <a:off x="9345199" y="447064"/>
            <a:ext cx="274320" cy="274320"/>
          </a:xfrm>
          <a:prstGeom prst="rect">
            <a:avLst/>
          </a:prstGeom>
          <a:noFill/>
          <a:ln/>
        </p:spPr>
        <p:txBody>
          <a:bodyPr wrap="square" lIns="0" tIns="0" rIns="0" bIns="0" rtlCol="0" anchor="ctr"/>
          <a:lstStyle/>
          <a:p>
            <a:pPr marL="0" indent="0" algn="ctr">
              <a:buNone/>
            </a:pPr>
            <a:r>
              <a:rPr lang="en-US" sz="1200" b="1" dirty="0">
                <a:solidFill>
                  <a:schemeClr val="accent1"/>
                </a:solidFill>
                <a:latin typeface="Courier New" pitchFamily="34" charset="0"/>
                <a:ea typeface="Courier New" pitchFamily="34" charset="-122"/>
                <a:cs typeface="Courier New" pitchFamily="34" charset="-120"/>
              </a:rPr>
              <a:t>X</a:t>
            </a:r>
            <a:endParaRPr lang="en-US" sz="1200" dirty="0"/>
          </a:p>
        </p:txBody>
      </p:sp>
      <p:sp>
        <p:nvSpPr>
          <p:cNvPr id="28" name="o_25"/>
          <p:cNvSpPr txBox="1"/>
          <p:nvPr/>
        </p:nvSpPr>
        <p:spPr>
          <a:xfrm>
            <a:off x="9517544" y="328102"/>
            <a:ext cx="274320" cy="274320"/>
          </a:xfrm>
          <a:prstGeom prst="rect">
            <a:avLst/>
          </a:prstGeom>
          <a:noFill/>
          <a:ln/>
        </p:spPr>
        <p:txBody>
          <a:bodyPr wrap="square" lIns="0" tIns="0" rIns="0" bIns="0" rtlCol="0" anchor="ctr"/>
          <a:lstStyle/>
          <a:p>
            <a:pPr marL="0" indent="0" algn="ctr">
              <a:buNone/>
            </a:pPr>
            <a:r>
              <a:rPr lang="en-US" sz="1200" dirty="0">
                <a:solidFill>
                  <a:srgbClr val="8FA3C7"/>
                </a:solidFill>
                <a:latin typeface="Courier New" pitchFamily="34" charset="0"/>
                <a:ea typeface="Courier New" pitchFamily="34" charset="-122"/>
                <a:cs typeface="Courier New" pitchFamily="34" charset="-120"/>
              </a:rPr>
              <a:t>Y</a:t>
            </a:r>
            <a:endParaRPr lang="en-US" sz="1200" dirty="0"/>
          </a:p>
        </p:txBody>
      </p:sp>
      <p:sp>
        <p:nvSpPr>
          <p:cNvPr id="29" name="o_26"/>
          <p:cNvSpPr txBox="1"/>
          <p:nvPr/>
        </p:nvSpPr>
        <p:spPr>
          <a:xfrm>
            <a:off x="9713351" y="253842"/>
            <a:ext cx="274320" cy="274320"/>
          </a:xfrm>
          <a:prstGeom prst="rect">
            <a:avLst/>
          </a:prstGeom>
          <a:noFill/>
          <a:ln/>
        </p:spPr>
        <p:txBody>
          <a:bodyPr wrap="square" lIns="0" tIns="0" rIns="0" bIns="0" rtlCol="0" anchor="ctr"/>
          <a:lstStyle/>
          <a:p>
            <a:pPr marL="0" indent="0" algn="ctr">
              <a:buNone/>
            </a:pPr>
            <a:r>
              <a:rPr lang="en-US" sz="1200" dirty="0">
                <a:solidFill>
                  <a:srgbClr val="8FA3C7"/>
                </a:solidFill>
                <a:latin typeface="Courier New" pitchFamily="34" charset="0"/>
                <a:ea typeface="Courier New" pitchFamily="34" charset="-122"/>
                <a:cs typeface="Courier New" pitchFamily="34" charset="-120"/>
              </a:rPr>
              <a:t>Z</a:t>
            </a:r>
            <a:endParaRPr lang="en-US" sz="1200" dirty="0"/>
          </a:p>
        </p:txBody>
      </p:sp>
      <p:sp>
        <p:nvSpPr>
          <p:cNvPr id="30" name="o_27"/>
          <p:cNvSpPr txBox="1"/>
          <p:nvPr/>
        </p:nvSpPr>
        <p:spPr>
          <a:xfrm>
            <a:off x="9509760" y="1051560"/>
            <a:ext cx="1097280" cy="365760"/>
          </a:xfrm>
          <a:prstGeom prst="rect">
            <a:avLst/>
          </a:prstGeom>
          <a:noFill/>
          <a:ln/>
        </p:spPr>
        <p:txBody>
          <a:bodyPr wrap="square" lIns="0" tIns="0" rIns="0" bIns="0" rtlCol="0" anchor="ctr"/>
          <a:lstStyle/>
          <a:p>
            <a:pPr marL="0" indent="0" algn="ctr">
              <a:buNone/>
            </a:pPr>
            <a:r>
              <a:rPr lang="en-US" sz="1600" i="1" dirty="0">
                <a:solidFill>
                  <a:schemeClr val="accent1"/>
                </a:solidFill>
                <a:latin typeface="Cambria" pitchFamily="34" charset="0"/>
                <a:ea typeface="Cambria" pitchFamily="34" charset="-122"/>
                <a:cs typeface="Cambria" pitchFamily="34" charset="-120"/>
              </a:rPr>
              <a:t>mod 26</a:t>
            </a:r>
            <a:endParaRPr lang="en-US" sz="1600" dirty="0"/>
          </a:p>
        </p:txBody>
      </p:sp>
      <p:sp>
        <p:nvSpPr>
          <p:cNvPr id="31" name="o_28"/>
          <p:cNvSpPr txBox="1"/>
          <p:nvPr/>
        </p:nvSpPr>
        <p:spPr>
          <a:xfrm>
            <a:off x="731520" y="5852160"/>
            <a:ext cx="10698480" cy="365760"/>
          </a:xfrm>
          <a:prstGeom prst="rect">
            <a:avLst/>
          </a:prstGeom>
          <a:noFill/>
          <a:ln/>
        </p:spPr>
        <p:txBody>
          <a:bodyPr wrap="square" lIns="0" tIns="0" rIns="0" bIns="0" rtlCol="0" anchor="ctr"/>
          <a:lstStyle/>
          <a:p>
            <a:pPr marL="0" indent="0">
              <a:buNone/>
            </a:pPr>
            <a:r>
              <a:rPr lang="en-US" sz="1400" dirty="0">
                <a:solidFill>
                  <a:srgbClr val="8FA3C7"/>
                </a:solidFill>
              </a:rPr>
              <a:t>Modul arifmetika · EKUB va teskari element · Kombinatorika · Ehtimollik va statistika</a:t>
            </a:r>
            <a:endParaRPr lang="en-US" sz="14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56032"/>
            <a:ext cx="11064240" cy="292608"/>
          </a:xfrm>
          <a:prstGeom prst="rect">
            <a:avLst/>
          </a:prstGeom>
          <a:noFill/>
          <a:ln/>
        </p:spPr>
        <p:txBody>
          <a:bodyPr wrap="square" lIns="0" tIns="0" rIns="0" bIns="0" rtlCol="0" anchor="ctr"/>
          <a:lstStyle/>
          <a:p>
            <a:pPr marL="0" indent="0">
              <a:buNone/>
            </a:pPr>
            <a:r>
              <a:rPr lang="en-US" sz="1300" b="1" dirty="0">
                <a:solidFill>
                  <a:schemeClr val="accent4"/>
                </a:solidFill>
                <a:latin typeface="Times New Roman" pitchFamily="34" charset="0"/>
                <a:ea typeface="Times New Roman" pitchFamily="34" charset="-122"/>
                <a:cs typeface="Times New Roman" pitchFamily="34" charset="-120"/>
              </a:rPr>
              <a:t>Blok xaritasi</a:t>
            </a:r>
            <a:endParaRPr lang="en-US" sz="1300" dirty="0"/>
          </a:p>
        </p:txBody>
      </p:sp>
      <p:sp>
        <p:nvSpPr>
          <p:cNvPr id="3" name="Text 1"/>
          <p:cNvSpPr>
            <a:spLocks noGrp="1"/>
          </p:cNvSpPr>
          <p:nvPr>
            <p:ph type="title" idx="102" hasCustomPrompt="1"/>
          </p:nvPr>
        </p:nvSpPr>
        <p:spPr>
          <a:xfrm>
            <a:off x="548640" y="530352"/>
            <a:ext cx="1106424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Olti mavzu — oltita vosita</a:t>
            </a:r>
            <a:endParaRPr lang="en-US" sz="3200" dirty="0"/>
          </a:p>
        </p:txBody>
      </p:sp>
      <p:sp>
        <p:nvSpPr>
          <p:cNvPr id="5" name="o_29"/>
          <p:cNvSpPr txBox="1"/>
          <p:nvPr/>
        </p:nvSpPr>
        <p:spPr>
          <a:xfrm>
            <a:off x="6080760" y="1371600"/>
            <a:ext cx="5623560" cy="4343400"/>
          </a:xfrm>
          <a:prstGeom prst="roundRect">
            <a:avLst>
              <a:gd name="adj" fmla="val 2105"/>
            </a:avLst>
          </a:prstGeom>
          <a:solidFill>
            <a:schemeClr val="accent1">
              <a:alpha val="15000"/>
            </a:schemeClr>
          </a:solidFill>
          <a:ln w="19050">
            <a:solidFill>
              <a:schemeClr val="accent1"/>
            </a:solidFill>
            <a:prstDash val="dash"/>
          </a:ln>
        </p:spPr>
        <p:txBody>
          <a:bodyPr wrap="square" lIns="50800" tIns="127000" rIns="127000" bIns="76200" rtlCol="0" anchor="b"/>
          <a:lstStyle/>
          <a:p>
            <a:pPr marL="0" indent="0" algn="r">
              <a:buNone/>
            </a:pPr>
            <a:r>
              <a:rPr lang="en-US" sz="1400" b="1" dirty="0">
                <a:solidFill>
                  <a:srgbClr val="9A6A12"/>
                </a:solidFill>
              </a:rPr>
              <a:t>asosiy urg‘u</a:t>
            </a:r>
            <a:endParaRPr lang="en-US" sz="1400" dirty="0"/>
          </a:p>
        </p:txBody>
      </p:sp>
      <p:sp>
        <p:nvSpPr>
          <p:cNvPr id="6" name="A1_30"/>
          <p:cNvSpPr txBox="1"/>
          <p:nvPr/>
        </p:nvSpPr>
        <p:spPr>
          <a:xfrm>
            <a:off x="1010412" y="1600200"/>
            <a:ext cx="768096" cy="768096"/>
          </a:xfrm>
          <a:prstGeom prst="ellipse">
            <a:avLst/>
          </a:prstGeom>
          <a:solidFill>
            <a:schemeClr val="accent4"/>
          </a:solidFill>
          <a:ln w="25400">
            <a:solidFill>
              <a:srgbClr val="FFFFFF"/>
            </a:solidFill>
          </a:ln>
        </p:spPr>
        <p:txBody>
          <a:bodyPr wrap="square" lIns="0" tIns="0" rIns="0" bIns="0" rtlCol="0" anchor="ctr"/>
          <a:lstStyle/>
          <a:p>
            <a:pPr marL="0" indent="0" algn="ctr">
              <a:buNone/>
            </a:pPr>
            <a:r>
              <a:rPr lang="en-US" sz="2600" b="1" dirty="0">
                <a:solidFill>
                  <a:schemeClr val="bg1"/>
                </a:solidFill>
                <a:latin typeface="Cambria" pitchFamily="34" charset="0"/>
                <a:ea typeface="Cambria" pitchFamily="34" charset="-122"/>
                <a:cs typeface="Cambria" pitchFamily="34" charset="-120"/>
              </a:rPr>
              <a:t>1</a:t>
            </a:r>
            <a:endParaRPr lang="en-US" sz="2600" dirty="0"/>
          </a:p>
        </p:txBody>
      </p:sp>
      <p:sp>
        <p:nvSpPr>
          <p:cNvPr id="7" name="A1_31"/>
          <p:cNvSpPr txBox="1"/>
          <p:nvPr/>
        </p:nvSpPr>
        <p:spPr>
          <a:xfrm>
            <a:off x="548640" y="2468880"/>
            <a:ext cx="1691640" cy="548640"/>
          </a:xfrm>
          <a:prstGeom prst="rect">
            <a:avLst/>
          </a:prstGeom>
          <a:noFill/>
          <a:ln/>
        </p:spPr>
        <p:txBody>
          <a:bodyPr wrap="square" lIns="0" tIns="0" rIns="0" bIns="0" rtlCol="0" anchor="ctr"/>
          <a:lstStyle/>
          <a:p>
            <a:pPr marL="0" indent="0" algn="ctr">
              <a:buNone/>
            </a:pPr>
            <a:r>
              <a:rPr lang="en-US" sz="1600" b="1" dirty="0">
                <a:solidFill>
                  <a:schemeClr val="tx2"/>
                </a:solidFill>
              </a:rPr>
              <a:t>Kriptologiyaga kirish</a:t>
            </a:r>
            <a:endParaRPr lang="en-US" sz="1600" dirty="0"/>
          </a:p>
        </p:txBody>
      </p:sp>
      <p:sp>
        <p:nvSpPr>
          <p:cNvPr id="8" name="A1_32"/>
          <p:cNvSpPr txBox="1"/>
          <p:nvPr/>
        </p:nvSpPr>
        <p:spPr>
          <a:xfrm>
            <a:off x="548640" y="3017520"/>
            <a:ext cx="1691640" cy="640080"/>
          </a:xfrm>
          <a:prstGeom prst="rect">
            <a:avLst/>
          </a:prstGeom>
          <a:noFill/>
          <a:ln/>
        </p:spPr>
        <p:txBody>
          <a:bodyPr wrap="square" lIns="0" tIns="0" rIns="0" bIns="0" rtlCol="0" anchor="t"/>
          <a:lstStyle/>
          <a:p>
            <a:pPr marL="0" indent="0" algn="ctr">
              <a:buNone/>
            </a:pPr>
            <a:r>
              <a:rPr lang="en-US" sz="1400" dirty="0">
                <a:solidFill>
                  <a:srgbClr val="52514E"/>
                </a:solidFill>
              </a:rPr>
              <a:t>model, vazifalar, Kerkgoffs</a:t>
            </a:r>
            <a:endParaRPr lang="en-US" sz="1400" dirty="0"/>
          </a:p>
        </p:txBody>
      </p:sp>
      <p:sp>
        <p:nvSpPr>
          <p:cNvPr id="9" name="A2_33"/>
          <p:cNvSpPr/>
          <p:nvPr/>
        </p:nvSpPr>
        <p:spPr>
          <a:xfrm>
            <a:off x="1824228" y="1984248"/>
            <a:ext cx="1014984" cy="0"/>
          </a:xfrm>
          <a:prstGeom prst="line">
            <a:avLst/>
          </a:prstGeom>
          <a:noFill/>
          <a:ln w="19050">
            <a:solidFill>
              <a:srgbClr val="B8C2D3"/>
            </a:solidFill>
            <a:prstDash val="solid"/>
            <a:tailEnd type="triangle"/>
          </a:ln>
        </p:spPr>
      </p:sp>
      <p:sp>
        <p:nvSpPr>
          <p:cNvPr id="10" name="A1_34"/>
          <p:cNvSpPr txBox="1"/>
          <p:nvPr/>
        </p:nvSpPr>
        <p:spPr>
          <a:xfrm>
            <a:off x="594360" y="3931920"/>
            <a:ext cx="1600200" cy="1051560"/>
          </a:xfrm>
          <a:prstGeom prst="roundRect">
            <a:avLst>
              <a:gd name="adj" fmla="val 5217"/>
            </a:avLst>
          </a:prstGeom>
          <a:solidFill>
            <a:schemeClr val="accent4">
              <a:alpha val="10000"/>
            </a:schemeClr>
          </a:solidFill>
          <a:ln>
            <a:solidFill>
              <a:schemeClr val="accent4"/>
            </a:solidFill>
          </a:ln>
        </p:spPr>
        <p:txBody>
          <a:bodyPr wrap="square" lIns="25400" tIns="25400" rIns="25400" bIns="25400" rtlCol="0" anchor="ctr"/>
          <a:lstStyle/>
          <a:p>
            <a:pPr marL="0" indent="0" algn="ctr">
              <a:buNone/>
            </a:pPr>
            <a:r>
              <a:rPr lang="en-US" sz="1100" dirty="0">
                <a:solidFill>
                  <a:srgbClr val="52514E"/>
                </a:solidFill>
              </a:rPr>
              <a:t>kerak bo‘ladi:</a:t>
            </a:r>
            <a:endParaRPr lang="en-US" sz="1400" dirty="0"/>
          </a:p>
          <a:p>
            <a:pPr marL="0" indent="0" algn="ctr">
              <a:buNone/>
            </a:pPr>
            <a:r>
              <a:rPr lang="en-US" sz="1300" b="1" dirty="0">
                <a:solidFill>
                  <a:schemeClr val="tx2"/>
                </a:solidFill>
              </a:rPr>
              <a:t>barcha mavzular</a:t>
            </a:r>
            <a:endParaRPr lang="en-US" sz="1400" dirty="0"/>
          </a:p>
        </p:txBody>
      </p:sp>
      <p:sp>
        <p:nvSpPr>
          <p:cNvPr id="11" name="A2_35"/>
          <p:cNvSpPr txBox="1"/>
          <p:nvPr/>
        </p:nvSpPr>
        <p:spPr>
          <a:xfrm>
            <a:off x="2884932" y="1600200"/>
            <a:ext cx="768096" cy="768096"/>
          </a:xfrm>
          <a:prstGeom prst="ellipse">
            <a:avLst/>
          </a:prstGeom>
          <a:solidFill>
            <a:schemeClr val="accent4"/>
          </a:solidFill>
          <a:ln w="25400">
            <a:solidFill>
              <a:srgbClr val="FFFFFF"/>
            </a:solidFill>
          </a:ln>
        </p:spPr>
        <p:txBody>
          <a:bodyPr wrap="square" lIns="0" tIns="0" rIns="0" bIns="0" rtlCol="0" anchor="ctr"/>
          <a:lstStyle/>
          <a:p>
            <a:pPr marL="0" indent="0" algn="ctr">
              <a:buNone/>
            </a:pPr>
            <a:r>
              <a:rPr lang="en-US" sz="2600" b="1" dirty="0">
                <a:solidFill>
                  <a:schemeClr val="bg1"/>
                </a:solidFill>
                <a:latin typeface="Cambria" pitchFamily="34" charset="0"/>
                <a:ea typeface="Cambria" pitchFamily="34" charset="-122"/>
                <a:cs typeface="Cambria" pitchFamily="34" charset="-120"/>
              </a:rPr>
              <a:t>2</a:t>
            </a:r>
            <a:endParaRPr lang="en-US" sz="2600" dirty="0"/>
          </a:p>
        </p:txBody>
      </p:sp>
      <p:sp>
        <p:nvSpPr>
          <p:cNvPr id="12" name="A2_36"/>
          <p:cNvSpPr txBox="1"/>
          <p:nvPr/>
        </p:nvSpPr>
        <p:spPr>
          <a:xfrm>
            <a:off x="2423160" y="2468880"/>
            <a:ext cx="1691640" cy="548640"/>
          </a:xfrm>
          <a:prstGeom prst="rect">
            <a:avLst/>
          </a:prstGeom>
          <a:noFill/>
          <a:ln/>
        </p:spPr>
        <p:txBody>
          <a:bodyPr wrap="square" lIns="0" tIns="0" rIns="0" bIns="0" rtlCol="0" anchor="ctr"/>
          <a:lstStyle/>
          <a:p>
            <a:pPr marL="0" indent="0" algn="ctr">
              <a:buNone/>
            </a:pPr>
            <a:r>
              <a:rPr lang="en-US" sz="1600" b="1" dirty="0">
                <a:solidFill>
                  <a:schemeClr val="tx2"/>
                </a:solidFill>
              </a:rPr>
              <a:t>Matn → son</a:t>
            </a:r>
            <a:endParaRPr lang="en-US" sz="1600" dirty="0"/>
          </a:p>
        </p:txBody>
      </p:sp>
      <p:sp>
        <p:nvSpPr>
          <p:cNvPr id="13" name="A2_37"/>
          <p:cNvSpPr txBox="1"/>
          <p:nvPr/>
        </p:nvSpPr>
        <p:spPr>
          <a:xfrm>
            <a:off x="2423160" y="3017520"/>
            <a:ext cx="1691640" cy="640080"/>
          </a:xfrm>
          <a:prstGeom prst="rect">
            <a:avLst/>
          </a:prstGeom>
          <a:noFill/>
          <a:ln/>
        </p:spPr>
        <p:txBody>
          <a:bodyPr wrap="square" lIns="0" tIns="0" rIns="0" bIns="0" rtlCol="0" anchor="t"/>
          <a:lstStyle/>
          <a:p>
            <a:pPr marL="0" indent="0" algn="ctr">
              <a:buNone/>
            </a:pPr>
            <a:r>
              <a:rPr lang="en-US" sz="1400" dirty="0">
                <a:solidFill>
                  <a:srgbClr val="52514E"/>
                </a:solidFill>
              </a:rPr>
              <a:t>raqamlash, bit, XOR</a:t>
            </a:r>
            <a:endParaRPr lang="en-US" sz="1400" dirty="0"/>
          </a:p>
        </p:txBody>
      </p:sp>
      <p:sp>
        <p:nvSpPr>
          <p:cNvPr id="14" name="A3_38"/>
          <p:cNvSpPr/>
          <p:nvPr/>
        </p:nvSpPr>
        <p:spPr>
          <a:xfrm>
            <a:off x="3698748" y="1984248"/>
            <a:ext cx="1014984" cy="0"/>
          </a:xfrm>
          <a:prstGeom prst="line">
            <a:avLst/>
          </a:prstGeom>
          <a:noFill/>
          <a:ln w="19050">
            <a:solidFill>
              <a:srgbClr val="B8C2D3"/>
            </a:solidFill>
            <a:prstDash val="solid"/>
            <a:tailEnd type="triangle"/>
          </a:ln>
        </p:spPr>
      </p:sp>
      <p:sp>
        <p:nvSpPr>
          <p:cNvPr id="15" name="A2_39"/>
          <p:cNvSpPr txBox="1"/>
          <p:nvPr/>
        </p:nvSpPr>
        <p:spPr>
          <a:xfrm>
            <a:off x="2468880" y="3931920"/>
            <a:ext cx="1600200" cy="1051560"/>
          </a:xfrm>
          <a:prstGeom prst="roundRect">
            <a:avLst>
              <a:gd name="adj" fmla="val 5217"/>
            </a:avLst>
          </a:prstGeom>
          <a:solidFill>
            <a:schemeClr val="accent4">
              <a:alpha val="10000"/>
            </a:schemeClr>
          </a:solidFill>
          <a:ln>
            <a:solidFill>
              <a:schemeClr val="accent4"/>
            </a:solidFill>
          </a:ln>
        </p:spPr>
        <p:txBody>
          <a:bodyPr wrap="square" lIns="25400" tIns="25400" rIns="25400" bIns="25400" rtlCol="0" anchor="ctr"/>
          <a:lstStyle/>
          <a:p>
            <a:pPr marL="0" indent="0" algn="ctr">
              <a:buNone/>
            </a:pPr>
            <a:r>
              <a:rPr lang="en-US" sz="1100" dirty="0">
                <a:solidFill>
                  <a:srgbClr val="52514E"/>
                </a:solidFill>
              </a:rPr>
              <a:t>kerak bo‘ladi:</a:t>
            </a:r>
            <a:endParaRPr lang="en-US" sz="1400" dirty="0"/>
          </a:p>
          <a:p>
            <a:pPr marL="0" indent="0" algn="ctr">
              <a:buNone/>
            </a:pPr>
            <a:r>
              <a:rPr lang="en-US" sz="1300" b="1" dirty="0">
                <a:solidFill>
                  <a:schemeClr val="tx2"/>
                </a:solidFill>
              </a:rPr>
              <a:t>7–17: Sezar … Vernam</a:t>
            </a:r>
            <a:endParaRPr lang="en-US" sz="1400" dirty="0"/>
          </a:p>
        </p:txBody>
      </p:sp>
      <p:sp>
        <p:nvSpPr>
          <p:cNvPr id="16" name="A3_40"/>
          <p:cNvSpPr txBox="1"/>
          <p:nvPr/>
        </p:nvSpPr>
        <p:spPr>
          <a:xfrm>
            <a:off x="4759452" y="1600200"/>
            <a:ext cx="768096" cy="768096"/>
          </a:xfrm>
          <a:prstGeom prst="ellipse">
            <a:avLst/>
          </a:prstGeom>
          <a:solidFill>
            <a:schemeClr val="accent4"/>
          </a:solidFill>
          <a:ln w="25400">
            <a:solidFill>
              <a:srgbClr val="FFFFFF"/>
            </a:solidFill>
          </a:ln>
        </p:spPr>
        <p:txBody>
          <a:bodyPr wrap="square" lIns="0" tIns="0" rIns="0" bIns="0" rtlCol="0" anchor="ctr"/>
          <a:lstStyle/>
          <a:p>
            <a:pPr marL="0" indent="0" algn="ctr">
              <a:buNone/>
            </a:pPr>
            <a:r>
              <a:rPr lang="en-US" sz="2600" b="1" dirty="0">
                <a:solidFill>
                  <a:schemeClr val="bg1"/>
                </a:solidFill>
                <a:latin typeface="Cambria" pitchFamily="34" charset="0"/>
                <a:ea typeface="Cambria" pitchFamily="34" charset="-122"/>
                <a:cs typeface="Cambria" pitchFamily="34" charset="-120"/>
              </a:rPr>
              <a:t>3</a:t>
            </a:r>
            <a:endParaRPr lang="en-US" sz="2600" dirty="0"/>
          </a:p>
        </p:txBody>
      </p:sp>
      <p:sp>
        <p:nvSpPr>
          <p:cNvPr id="17" name="A3_41"/>
          <p:cNvSpPr txBox="1"/>
          <p:nvPr/>
        </p:nvSpPr>
        <p:spPr>
          <a:xfrm>
            <a:off x="4297680" y="2468880"/>
            <a:ext cx="1691640" cy="548640"/>
          </a:xfrm>
          <a:prstGeom prst="rect">
            <a:avLst/>
          </a:prstGeom>
          <a:noFill/>
          <a:ln/>
        </p:spPr>
        <p:txBody>
          <a:bodyPr wrap="square" lIns="0" tIns="0" rIns="0" bIns="0" rtlCol="0" anchor="ctr"/>
          <a:lstStyle/>
          <a:p>
            <a:pPr marL="0" indent="0" algn="ctr">
              <a:buNone/>
            </a:pPr>
            <a:r>
              <a:rPr lang="en-US" sz="1600" b="1" dirty="0">
                <a:solidFill>
                  <a:schemeClr val="tx2"/>
                </a:solidFill>
              </a:rPr>
              <a:t>Modul arifmetika</a:t>
            </a:r>
            <a:endParaRPr lang="en-US" sz="1600" dirty="0"/>
          </a:p>
        </p:txBody>
      </p:sp>
      <p:sp>
        <p:nvSpPr>
          <p:cNvPr id="18" name="A3_42"/>
          <p:cNvSpPr txBox="1"/>
          <p:nvPr/>
        </p:nvSpPr>
        <p:spPr>
          <a:xfrm>
            <a:off x="4297680" y="3017520"/>
            <a:ext cx="1691640" cy="640080"/>
          </a:xfrm>
          <a:prstGeom prst="rect">
            <a:avLst/>
          </a:prstGeom>
          <a:noFill/>
          <a:ln/>
        </p:spPr>
        <p:txBody>
          <a:bodyPr wrap="square" lIns="0" tIns="0" rIns="0" bIns="0" rtlCol="0" anchor="t"/>
          <a:lstStyle/>
          <a:p>
            <a:pPr marL="0" indent="0" algn="ctr">
              <a:buNone/>
            </a:pPr>
            <a:r>
              <a:rPr lang="en-US" sz="1400" dirty="0">
                <a:solidFill>
                  <a:srgbClr val="52514E"/>
                </a:solidFill>
              </a:rPr>
              <a:t>qoldiq, ≡, teskari element</a:t>
            </a:r>
            <a:endParaRPr lang="en-US" sz="1400" dirty="0"/>
          </a:p>
        </p:txBody>
      </p:sp>
      <p:sp>
        <p:nvSpPr>
          <p:cNvPr id="19" name="A4_43"/>
          <p:cNvSpPr/>
          <p:nvPr/>
        </p:nvSpPr>
        <p:spPr>
          <a:xfrm>
            <a:off x="5573268" y="1984248"/>
            <a:ext cx="1014984" cy="0"/>
          </a:xfrm>
          <a:prstGeom prst="line">
            <a:avLst/>
          </a:prstGeom>
          <a:noFill/>
          <a:ln w="19050">
            <a:solidFill>
              <a:srgbClr val="B8C2D3"/>
            </a:solidFill>
            <a:prstDash val="solid"/>
            <a:tailEnd type="triangle"/>
          </a:ln>
        </p:spPr>
      </p:sp>
      <p:sp>
        <p:nvSpPr>
          <p:cNvPr id="20" name="A3_44"/>
          <p:cNvSpPr txBox="1"/>
          <p:nvPr/>
        </p:nvSpPr>
        <p:spPr>
          <a:xfrm>
            <a:off x="4343400" y="3931920"/>
            <a:ext cx="1600200" cy="1051560"/>
          </a:xfrm>
          <a:prstGeom prst="roundRect">
            <a:avLst>
              <a:gd name="adj" fmla="val 5217"/>
            </a:avLst>
          </a:prstGeom>
          <a:solidFill>
            <a:schemeClr val="accent4">
              <a:alpha val="10000"/>
            </a:schemeClr>
          </a:solidFill>
          <a:ln>
            <a:solidFill>
              <a:schemeClr val="accent4"/>
            </a:solidFill>
          </a:ln>
        </p:spPr>
        <p:txBody>
          <a:bodyPr wrap="square" lIns="25400" tIns="25400" rIns="25400" bIns="25400" rtlCol="0" anchor="ctr"/>
          <a:lstStyle/>
          <a:p>
            <a:pPr marL="0" indent="0" algn="ctr">
              <a:buNone/>
            </a:pPr>
            <a:r>
              <a:rPr lang="en-US" sz="1100" dirty="0">
                <a:solidFill>
                  <a:srgbClr val="52514E"/>
                </a:solidFill>
              </a:rPr>
              <a:t>kerak bo‘ladi:</a:t>
            </a:r>
            <a:endParaRPr lang="en-US" sz="1400" dirty="0"/>
          </a:p>
          <a:p>
            <a:pPr marL="0" indent="0" algn="ctr">
              <a:buNone/>
            </a:pPr>
            <a:r>
              <a:rPr lang="en-US" sz="1300" b="1" dirty="0">
                <a:solidFill>
                  <a:schemeClr val="tx2"/>
                </a:solidFill>
              </a:rPr>
              <a:t>7, 10, 13, 29: Sezar … RSA</a:t>
            </a:r>
            <a:endParaRPr lang="en-US" sz="1400" dirty="0"/>
          </a:p>
        </p:txBody>
      </p:sp>
      <p:sp>
        <p:nvSpPr>
          <p:cNvPr id="21" name="A4_45"/>
          <p:cNvSpPr txBox="1"/>
          <p:nvPr/>
        </p:nvSpPr>
        <p:spPr>
          <a:xfrm>
            <a:off x="6633972" y="1600200"/>
            <a:ext cx="768096" cy="768096"/>
          </a:xfrm>
          <a:prstGeom prst="ellipse">
            <a:avLst/>
          </a:prstGeom>
          <a:solidFill>
            <a:schemeClr val="accent1"/>
          </a:solidFill>
          <a:ln w="25400">
            <a:solidFill>
              <a:srgbClr val="FFFFFF"/>
            </a:solidFill>
          </a:ln>
        </p:spPr>
        <p:txBody>
          <a:bodyPr wrap="square" lIns="0" tIns="0" rIns="0" bIns="0" rtlCol="0" anchor="ctr"/>
          <a:lstStyle/>
          <a:p>
            <a:pPr marL="0" indent="0" algn="ctr">
              <a:buNone/>
            </a:pPr>
            <a:r>
              <a:rPr lang="en-US" sz="2600" b="1" dirty="0">
                <a:solidFill>
                  <a:schemeClr val="bg1"/>
                </a:solidFill>
                <a:latin typeface="Cambria" pitchFamily="34" charset="0"/>
                <a:ea typeface="Cambria" pitchFamily="34" charset="-122"/>
                <a:cs typeface="Cambria" pitchFamily="34" charset="-120"/>
              </a:rPr>
              <a:t>4</a:t>
            </a:r>
            <a:endParaRPr lang="en-US" sz="2600" dirty="0"/>
          </a:p>
        </p:txBody>
      </p:sp>
      <p:sp>
        <p:nvSpPr>
          <p:cNvPr id="22" name="A4_46"/>
          <p:cNvSpPr txBox="1"/>
          <p:nvPr/>
        </p:nvSpPr>
        <p:spPr>
          <a:xfrm>
            <a:off x="6172200" y="2468880"/>
            <a:ext cx="1691640" cy="548640"/>
          </a:xfrm>
          <a:prstGeom prst="rect">
            <a:avLst/>
          </a:prstGeom>
          <a:noFill/>
          <a:ln/>
        </p:spPr>
        <p:txBody>
          <a:bodyPr wrap="square" lIns="0" tIns="0" rIns="0" bIns="0" rtlCol="0" anchor="ctr"/>
          <a:lstStyle/>
          <a:p>
            <a:pPr marL="0" indent="0" algn="ctr">
              <a:buNone/>
            </a:pPr>
            <a:r>
              <a:rPr lang="en-US" sz="1600" b="1" dirty="0">
                <a:solidFill>
                  <a:schemeClr val="tx2"/>
                </a:solidFill>
              </a:rPr>
              <a:t>EKUB</a:t>
            </a:r>
            <a:endParaRPr lang="en-US" sz="1600" dirty="0"/>
          </a:p>
        </p:txBody>
      </p:sp>
      <p:sp>
        <p:nvSpPr>
          <p:cNvPr id="23" name="A4_47"/>
          <p:cNvSpPr txBox="1"/>
          <p:nvPr/>
        </p:nvSpPr>
        <p:spPr>
          <a:xfrm>
            <a:off x="6172200" y="3017520"/>
            <a:ext cx="1691640" cy="640080"/>
          </a:xfrm>
          <a:prstGeom prst="rect">
            <a:avLst/>
          </a:prstGeom>
          <a:noFill/>
          <a:ln/>
        </p:spPr>
        <p:txBody>
          <a:bodyPr wrap="square" lIns="0" tIns="0" rIns="0" bIns="0" rtlCol="0" anchor="t"/>
          <a:lstStyle/>
          <a:p>
            <a:pPr marL="0" indent="0" algn="ctr">
              <a:buNone/>
            </a:pPr>
            <a:r>
              <a:rPr lang="en-US" sz="1400" dirty="0">
                <a:solidFill>
                  <a:srgbClr val="52514E"/>
                </a:solidFill>
              </a:rPr>
              <a:t>Evklid, a⁻¹ mod n</a:t>
            </a:r>
            <a:endParaRPr lang="en-US" sz="1400" dirty="0"/>
          </a:p>
        </p:txBody>
      </p:sp>
      <p:sp>
        <p:nvSpPr>
          <p:cNvPr id="24" name="A5_48"/>
          <p:cNvSpPr/>
          <p:nvPr/>
        </p:nvSpPr>
        <p:spPr>
          <a:xfrm>
            <a:off x="7447788" y="1984248"/>
            <a:ext cx="1014984" cy="0"/>
          </a:xfrm>
          <a:prstGeom prst="line">
            <a:avLst/>
          </a:prstGeom>
          <a:noFill/>
          <a:ln w="19050">
            <a:solidFill>
              <a:srgbClr val="B8C2D3"/>
            </a:solidFill>
            <a:prstDash val="solid"/>
            <a:tailEnd type="triangle"/>
          </a:ln>
        </p:spPr>
      </p:sp>
      <p:sp>
        <p:nvSpPr>
          <p:cNvPr id="25" name="A4_49"/>
          <p:cNvSpPr txBox="1"/>
          <p:nvPr/>
        </p:nvSpPr>
        <p:spPr>
          <a:xfrm>
            <a:off x="6217920" y="3931920"/>
            <a:ext cx="1600200" cy="1051560"/>
          </a:xfrm>
          <a:prstGeom prst="roundRect">
            <a:avLst>
              <a:gd name="adj" fmla="val 5217"/>
            </a:avLst>
          </a:prstGeom>
          <a:solidFill>
            <a:schemeClr val="accent1">
              <a:alpha val="10000"/>
            </a:schemeClr>
          </a:solidFill>
          <a:ln>
            <a:solidFill>
              <a:schemeClr val="accent1"/>
            </a:solidFill>
          </a:ln>
        </p:spPr>
        <p:txBody>
          <a:bodyPr wrap="square" lIns="25400" tIns="25400" rIns="25400" bIns="25400" rtlCol="0" anchor="ctr"/>
          <a:lstStyle/>
          <a:p>
            <a:pPr marL="0" indent="0" algn="ctr">
              <a:buNone/>
            </a:pPr>
            <a:r>
              <a:rPr lang="en-US" sz="1100" dirty="0">
                <a:solidFill>
                  <a:srgbClr val="52514E"/>
                </a:solidFill>
              </a:rPr>
              <a:t>kerak bo‘ladi:</a:t>
            </a:r>
            <a:endParaRPr lang="en-US" sz="1400" dirty="0"/>
          </a:p>
          <a:p>
            <a:pPr marL="0" indent="0" algn="ctr">
              <a:buNone/>
            </a:pPr>
            <a:r>
              <a:rPr lang="en-US" sz="1300" b="1" dirty="0">
                <a:solidFill>
                  <a:schemeClr val="tx2"/>
                </a:solidFill>
              </a:rPr>
              <a:t>7, 13, 29: affin, Hill, RSA</a:t>
            </a:r>
            <a:endParaRPr lang="en-US" sz="1400" dirty="0"/>
          </a:p>
        </p:txBody>
      </p:sp>
      <p:sp>
        <p:nvSpPr>
          <p:cNvPr id="26" name="A5_50"/>
          <p:cNvSpPr txBox="1"/>
          <p:nvPr/>
        </p:nvSpPr>
        <p:spPr>
          <a:xfrm>
            <a:off x="8508492" y="1600200"/>
            <a:ext cx="768096" cy="768096"/>
          </a:xfrm>
          <a:prstGeom prst="ellipse">
            <a:avLst/>
          </a:prstGeom>
          <a:solidFill>
            <a:schemeClr val="accent1"/>
          </a:solidFill>
          <a:ln w="25400">
            <a:solidFill>
              <a:srgbClr val="FFFFFF"/>
            </a:solidFill>
          </a:ln>
        </p:spPr>
        <p:txBody>
          <a:bodyPr wrap="square" lIns="0" tIns="0" rIns="0" bIns="0" rtlCol="0" anchor="ctr"/>
          <a:lstStyle/>
          <a:p>
            <a:pPr marL="0" indent="0" algn="ctr">
              <a:buNone/>
            </a:pPr>
            <a:r>
              <a:rPr lang="en-US" sz="2600" b="1" dirty="0">
                <a:solidFill>
                  <a:schemeClr val="bg1"/>
                </a:solidFill>
                <a:latin typeface="Cambria" pitchFamily="34" charset="0"/>
                <a:ea typeface="Cambria" pitchFamily="34" charset="-122"/>
                <a:cs typeface="Cambria" pitchFamily="34" charset="-120"/>
              </a:rPr>
              <a:t>5</a:t>
            </a:r>
            <a:endParaRPr lang="en-US" sz="2600" dirty="0"/>
          </a:p>
        </p:txBody>
      </p:sp>
      <p:sp>
        <p:nvSpPr>
          <p:cNvPr id="27" name="A5_51"/>
          <p:cNvSpPr txBox="1"/>
          <p:nvPr/>
        </p:nvSpPr>
        <p:spPr>
          <a:xfrm>
            <a:off x="8046720" y="2468880"/>
            <a:ext cx="1691640" cy="548640"/>
          </a:xfrm>
          <a:prstGeom prst="rect">
            <a:avLst/>
          </a:prstGeom>
          <a:noFill/>
          <a:ln/>
        </p:spPr>
        <p:txBody>
          <a:bodyPr wrap="square" lIns="0" tIns="0" rIns="0" bIns="0" rtlCol="0" anchor="ctr"/>
          <a:lstStyle/>
          <a:p>
            <a:pPr marL="0" indent="0" algn="ctr">
              <a:buNone/>
            </a:pPr>
            <a:r>
              <a:rPr lang="en-US" sz="1600" b="1" dirty="0">
                <a:solidFill>
                  <a:schemeClr val="tx2"/>
                </a:solidFill>
              </a:rPr>
              <a:t>Kombinatorika</a:t>
            </a:r>
            <a:endParaRPr lang="en-US" sz="1600" dirty="0"/>
          </a:p>
        </p:txBody>
      </p:sp>
      <p:sp>
        <p:nvSpPr>
          <p:cNvPr id="28" name="A5_52"/>
          <p:cNvSpPr txBox="1"/>
          <p:nvPr/>
        </p:nvSpPr>
        <p:spPr>
          <a:xfrm>
            <a:off x="8046720" y="3017520"/>
            <a:ext cx="1691640" cy="640080"/>
          </a:xfrm>
          <a:prstGeom prst="rect">
            <a:avLst/>
          </a:prstGeom>
          <a:noFill/>
          <a:ln/>
        </p:spPr>
        <p:txBody>
          <a:bodyPr wrap="square" lIns="0" tIns="0" rIns="0" bIns="0" rtlCol="0" anchor="t"/>
          <a:lstStyle/>
          <a:p>
            <a:pPr marL="0" indent="0" algn="ctr">
              <a:buNone/>
            </a:pPr>
            <a:r>
              <a:rPr lang="en-US" sz="1400" dirty="0">
                <a:solidFill>
                  <a:srgbClr val="52514E"/>
                </a:solidFill>
              </a:rPr>
              <a:t>kalitlar fazosi, to‘liq tanlash</a:t>
            </a:r>
            <a:endParaRPr lang="en-US" sz="1400" dirty="0"/>
          </a:p>
        </p:txBody>
      </p:sp>
      <p:sp>
        <p:nvSpPr>
          <p:cNvPr id="29" name="A6_53"/>
          <p:cNvSpPr/>
          <p:nvPr/>
        </p:nvSpPr>
        <p:spPr>
          <a:xfrm>
            <a:off x="9322308" y="1984248"/>
            <a:ext cx="1014984" cy="0"/>
          </a:xfrm>
          <a:prstGeom prst="line">
            <a:avLst/>
          </a:prstGeom>
          <a:noFill/>
          <a:ln w="19050">
            <a:solidFill>
              <a:srgbClr val="B8C2D3"/>
            </a:solidFill>
            <a:prstDash val="solid"/>
            <a:tailEnd type="triangle"/>
          </a:ln>
        </p:spPr>
      </p:sp>
      <p:sp>
        <p:nvSpPr>
          <p:cNvPr id="30" name="A5_54"/>
          <p:cNvSpPr txBox="1"/>
          <p:nvPr/>
        </p:nvSpPr>
        <p:spPr>
          <a:xfrm>
            <a:off x="8092440" y="3931920"/>
            <a:ext cx="1600200" cy="1051560"/>
          </a:xfrm>
          <a:prstGeom prst="roundRect">
            <a:avLst>
              <a:gd name="adj" fmla="val 5217"/>
            </a:avLst>
          </a:prstGeom>
          <a:solidFill>
            <a:schemeClr val="accent1">
              <a:alpha val="10000"/>
            </a:schemeClr>
          </a:solidFill>
          <a:ln>
            <a:solidFill>
              <a:schemeClr val="accent1"/>
            </a:solidFill>
          </a:ln>
        </p:spPr>
        <p:txBody>
          <a:bodyPr wrap="square" lIns="25400" tIns="25400" rIns="25400" bIns="25400" rtlCol="0" anchor="ctr"/>
          <a:lstStyle/>
          <a:p>
            <a:pPr marL="0" indent="0" algn="ctr">
              <a:buNone/>
            </a:pPr>
            <a:r>
              <a:rPr lang="en-US" sz="1100" dirty="0">
                <a:solidFill>
                  <a:srgbClr val="52514E"/>
                </a:solidFill>
              </a:rPr>
              <a:t>kerak bo‘ladi:</a:t>
            </a:r>
            <a:endParaRPr lang="en-US" sz="1400" dirty="0"/>
          </a:p>
          <a:p>
            <a:pPr marL="0" indent="0" algn="ctr">
              <a:buNone/>
            </a:pPr>
            <a:r>
              <a:rPr lang="en-US" sz="1300" b="1" dirty="0">
                <a:solidFill>
                  <a:schemeClr val="tx2"/>
                </a:solidFill>
              </a:rPr>
              <a:t>8, 14, 25: kalit uzunligi</a:t>
            </a:r>
            <a:endParaRPr lang="en-US" sz="1400" dirty="0"/>
          </a:p>
        </p:txBody>
      </p:sp>
      <p:sp>
        <p:nvSpPr>
          <p:cNvPr id="31" name="A6_55"/>
          <p:cNvSpPr txBox="1"/>
          <p:nvPr/>
        </p:nvSpPr>
        <p:spPr>
          <a:xfrm>
            <a:off x="10383012" y="1600200"/>
            <a:ext cx="768096" cy="768096"/>
          </a:xfrm>
          <a:prstGeom prst="ellipse">
            <a:avLst/>
          </a:prstGeom>
          <a:solidFill>
            <a:schemeClr val="accent1"/>
          </a:solidFill>
          <a:ln w="25400">
            <a:solidFill>
              <a:srgbClr val="FFFFFF"/>
            </a:solidFill>
          </a:ln>
        </p:spPr>
        <p:txBody>
          <a:bodyPr wrap="square" lIns="0" tIns="0" rIns="0" bIns="0" rtlCol="0" anchor="ctr"/>
          <a:lstStyle/>
          <a:p>
            <a:pPr marL="0" indent="0" algn="ctr">
              <a:buNone/>
            </a:pPr>
            <a:r>
              <a:rPr lang="en-US" sz="2600" b="1" dirty="0">
                <a:solidFill>
                  <a:schemeClr val="bg1"/>
                </a:solidFill>
                <a:latin typeface="Cambria" pitchFamily="34" charset="0"/>
                <a:ea typeface="Cambria" pitchFamily="34" charset="-122"/>
                <a:cs typeface="Cambria" pitchFamily="34" charset="-120"/>
              </a:rPr>
              <a:t>6</a:t>
            </a:r>
            <a:endParaRPr lang="en-US" sz="2600" dirty="0"/>
          </a:p>
        </p:txBody>
      </p:sp>
      <p:sp>
        <p:nvSpPr>
          <p:cNvPr id="32" name="A6_56"/>
          <p:cNvSpPr txBox="1"/>
          <p:nvPr/>
        </p:nvSpPr>
        <p:spPr>
          <a:xfrm>
            <a:off x="9921240" y="2468880"/>
            <a:ext cx="1691640" cy="548640"/>
          </a:xfrm>
          <a:prstGeom prst="rect">
            <a:avLst/>
          </a:prstGeom>
          <a:noFill/>
          <a:ln/>
        </p:spPr>
        <p:txBody>
          <a:bodyPr wrap="square" lIns="0" tIns="0" rIns="0" bIns="0" rtlCol="0" anchor="ctr"/>
          <a:lstStyle/>
          <a:p>
            <a:pPr marL="0" indent="0" algn="ctr">
              <a:buNone/>
            </a:pPr>
            <a:r>
              <a:rPr lang="en-US" sz="1600" b="1" dirty="0">
                <a:solidFill>
                  <a:schemeClr val="tx2"/>
                </a:solidFill>
              </a:rPr>
              <a:t>Ehtimollik</a:t>
            </a:r>
            <a:endParaRPr lang="en-US" sz="1600" dirty="0"/>
          </a:p>
        </p:txBody>
      </p:sp>
      <p:sp>
        <p:nvSpPr>
          <p:cNvPr id="33" name="A6_57"/>
          <p:cNvSpPr txBox="1"/>
          <p:nvPr/>
        </p:nvSpPr>
        <p:spPr>
          <a:xfrm>
            <a:off x="9921240" y="3017520"/>
            <a:ext cx="1691640" cy="640080"/>
          </a:xfrm>
          <a:prstGeom prst="rect">
            <a:avLst/>
          </a:prstGeom>
          <a:noFill/>
          <a:ln/>
        </p:spPr>
        <p:txBody>
          <a:bodyPr wrap="square" lIns="0" tIns="0" rIns="0" bIns="0" rtlCol="0" anchor="t"/>
          <a:lstStyle/>
          <a:p>
            <a:pPr marL="0" indent="0" algn="ctr">
              <a:buNone/>
            </a:pPr>
            <a:r>
              <a:rPr lang="en-US" sz="1400" dirty="0">
                <a:solidFill>
                  <a:srgbClr val="52514E"/>
                </a:solidFill>
              </a:rPr>
              <a:t>chastota, IC, √N qoidasi</a:t>
            </a:r>
            <a:endParaRPr lang="en-US" sz="1400" dirty="0"/>
          </a:p>
        </p:txBody>
      </p:sp>
      <p:sp>
        <p:nvSpPr>
          <p:cNvPr id="34" name="A6_58"/>
          <p:cNvSpPr txBox="1"/>
          <p:nvPr/>
        </p:nvSpPr>
        <p:spPr>
          <a:xfrm>
            <a:off x="9966960" y="3931920"/>
            <a:ext cx="1600200" cy="1051560"/>
          </a:xfrm>
          <a:prstGeom prst="roundRect">
            <a:avLst>
              <a:gd name="adj" fmla="val 5217"/>
            </a:avLst>
          </a:prstGeom>
          <a:solidFill>
            <a:schemeClr val="accent1">
              <a:alpha val="10000"/>
            </a:schemeClr>
          </a:solidFill>
          <a:ln>
            <a:solidFill>
              <a:schemeClr val="accent1"/>
            </a:solidFill>
          </a:ln>
        </p:spPr>
        <p:txBody>
          <a:bodyPr wrap="square" lIns="25400" tIns="25400" rIns="25400" bIns="25400" rtlCol="0" anchor="ctr"/>
          <a:lstStyle/>
          <a:p>
            <a:pPr marL="0" indent="0" algn="ctr">
              <a:buNone/>
            </a:pPr>
            <a:r>
              <a:rPr lang="en-US" sz="1100" dirty="0">
                <a:solidFill>
                  <a:srgbClr val="52514E"/>
                </a:solidFill>
              </a:rPr>
              <a:t>kerak bo‘ladi:</a:t>
            </a:r>
            <a:endParaRPr lang="en-US" sz="1400" dirty="0"/>
          </a:p>
          <a:p>
            <a:pPr marL="0" indent="0" algn="ctr">
              <a:buNone/>
            </a:pPr>
            <a:r>
              <a:rPr lang="en-US" sz="1300" b="1" dirty="0">
                <a:solidFill>
                  <a:schemeClr val="tx2"/>
                </a:solidFill>
              </a:rPr>
              <a:t>8, 11, 33: tahlil, xesh</a:t>
            </a:r>
            <a:endParaRPr lang="en-US" sz="1400" dirty="0"/>
          </a:p>
        </p:txBody>
      </p:sp>
      <p:sp>
        <p:nvSpPr>
          <p:cNvPr id="35" name="o_59"/>
          <p:cNvSpPr txBox="1"/>
          <p:nvPr/>
        </p:nvSpPr>
        <p:spPr>
          <a:xfrm>
            <a:off x="548640" y="5623560"/>
            <a:ext cx="11064240" cy="457200"/>
          </a:xfrm>
          <a:prstGeom prst="rect">
            <a:avLst/>
          </a:prstGeom>
          <a:noFill/>
          <a:ln/>
        </p:spPr>
        <p:txBody>
          <a:bodyPr wrap="square" lIns="0" tIns="0" rIns="0" bIns="0" rtlCol="0" anchor="ctr"/>
          <a:lstStyle/>
          <a:p>
            <a:pPr marL="0" indent="0" algn="l">
              <a:buNone/>
            </a:pPr>
            <a:r>
              <a:rPr lang="en-US" sz="1400" i="1" dirty="0">
                <a:solidFill>
                  <a:srgbClr val="52514E"/>
                </a:solidFill>
              </a:rPr>
              <a:t>Raqamlar — keyingi bloklardagi mavzu raqamlari: har bir vosita aynan qaysi shifr yoki hujumda ishlatilishi.</a:t>
            </a:r>
            <a:endParaRPr lang="en-US" sz="1400" dirty="0"/>
          </a:p>
        </p:txBody>
      </p:sp>
      <p:sp>
        <p:nvSpPr>
          <p:cNvPr id="4"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D99AE"/>
                </a:solidFill>
                <a:latin typeface="Times New Roman"/>
                <a:ea typeface="Times New Roman"/>
                <a:cs typeface="Times New Roman"/>
              </a:defRPr>
            </a:lvl1pPr>
          </a:lstStyle>
          <a:p>
            <a:pPr algn="r"/>
            <a:fld id="{F7021451-1387-4CA6-816F-3879F97B5CBC}" type="slidenum">
              <a:rPr lang="en-US" b="0"/>
              <a:t>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400"/>
                                        <p:tgtEl>
                                          <p:spTgt spid="7"/>
                                        </p:tgtEl>
                                      </p:cBhvr>
                                    </p:animEffect>
                                  </p:childTnLst>
                                </p:cTn>
                              </p:par>
                              <p:par>
                                <p:cTn id="11" presetID="10"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400"/>
                                        <p:tgtEl>
                                          <p:spTgt spid="8"/>
                                        </p:tgtEl>
                                      </p:cBhvr>
                                    </p:animEffect>
                                  </p:childTnLst>
                                </p:cTn>
                              </p:par>
                              <p:par>
                                <p:cTn id="14" presetID="10" presetClass="entr" presetSubtype="0" fill="hold"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400"/>
                                        <p:tgtEl>
                                          <p:spTgt spid="11"/>
                                        </p:tgtEl>
                                      </p:cBhvr>
                                    </p:animEffect>
                                  </p:childTnLst>
                                </p:cTn>
                              </p:par>
                              <p:par>
                                <p:cTn id="25" presetID="10" presetClass="entr" presetSubtype="0"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00"/>
                                        <p:tgtEl>
                                          <p:spTgt spid="12"/>
                                        </p:tgtEl>
                                      </p:cBhvr>
                                    </p:animEffect>
                                  </p:childTnLst>
                                </p:cTn>
                              </p:par>
                              <p:par>
                                <p:cTn id="28" presetID="10" presetClass="entr" presetSubtype="0" fill="hold"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00"/>
                                        <p:tgtEl>
                                          <p:spTgt spid="13"/>
                                        </p:tgtEl>
                                      </p:cBhvr>
                                    </p:animEffect>
                                  </p:childTnLst>
                                </p:cTn>
                              </p:par>
                              <p:par>
                                <p:cTn id="31" presetID="10" presetClass="entr" presetSubtype="0" fill="hold"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400"/>
                                        <p:tgtEl>
                                          <p:spTgt spid="15"/>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400"/>
                                        <p:tgtEl>
                                          <p:spTgt spid="16"/>
                                        </p:tgtEl>
                                      </p:cBhvr>
                                    </p:animEffect>
                                  </p:childTnLst>
                                </p:cTn>
                              </p:par>
                              <p:par>
                                <p:cTn id="42" presetID="10" presetClass="entr" presetSubtype="0" fill="hold"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400"/>
                                        <p:tgtEl>
                                          <p:spTgt spid="17"/>
                                        </p:tgtEl>
                                      </p:cBhvr>
                                    </p:animEffect>
                                  </p:childTnLst>
                                </p:cTn>
                              </p:par>
                              <p:par>
                                <p:cTn id="45" presetID="10" presetClass="entr" presetSubtype="0" fill="hold"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400"/>
                                        <p:tgtEl>
                                          <p:spTgt spid="18"/>
                                        </p:tgtEl>
                                      </p:cBhvr>
                                    </p:animEffect>
                                  </p:childTnLst>
                                </p:cTn>
                              </p:par>
                              <p:par>
                                <p:cTn id="48" presetID="10" presetClass="entr" presetSubtype="0" fill="hold" nodeType="with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400"/>
                                        <p:tgtEl>
                                          <p:spTgt spid="20"/>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400"/>
                                        <p:tgtEl>
                                          <p:spTgt spid="21"/>
                                        </p:tgtEl>
                                      </p:cBhvr>
                                    </p:animEffect>
                                  </p:childTnLst>
                                </p:cTn>
                              </p:par>
                              <p:par>
                                <p:cTn id="59" presetID="10" presetClass="entr" presetSubtype="0" fill="hold" nodeType="with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400"/>
                                        <p:tgtEl>
                                          <p:spTgt spid="22"/>
                                        </p:tgtEl>
                                      </p:cBhvr>
                                    </p:animEffect>
                                  </p:childTnLst>
                                </p:cTn>
                              </p:par>
                              <p:par>
                                <p:cTn id="62" presetID="10" presetClass="entr" presetSubtype="0" fill="hold" nodeType="with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400"/>
                                        <p:tgtEl>
                                          <p:spTgt spid="23"/>
                                        </p:tgtEl>
                                      </p:cBhvr>
                                    </p:animEffect>
                                  </p:childTnLst>
                                </p:cTn>
                              </p:par>
                              <p:par>
                                <p:cTn id="65" presetID="10" presetClass="entr" presetSubtype="0" fill="hold" nodeType="withEffect">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400"/>
                                        <p:tgtEl>
                                          <p:spTgt spid="25"/>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fade">
                                      <p:cBhvr>
                                        <p:cTn id="72" dur="400"/>
                                        <p:tgtEl>
                                          <p:spTgt spid="24"/>
                                        </p:tgtEl>
                                      </p:cBhvr>
                                    </p:animEffect>
                                  </p:childTnLst>
                                </p:cTn>
                              </p:par>
                              <p:par>
                                <p:cTn id="73" presetID="10" presetClass="entr" presetSubtype="0" fill="hold" nodeType="withEffect">
                                  <p:stCondLst>
                                    <p:cond delay="0"/>
                                  </p:stCondLst>
                                  <p:childTnLst>
                                    <p:set>
                                      <p:cBhvr>
                                        <p:cTn id="74" dur="1" fill="hold">
                                          <p:stCondLst>
                                            <p:cond delay="0"/>
                                          </p:stCondLst>
                                        </p:cTn>
                                        <p:tgtEl>
                                          <p:spTgt spid="26"/>
                                        </p:tgtEl>
                                        <p:attrNameLst>
                                          <p:attrName>style.visibility</p:attrName>
                                        </p:attrNameLst>
                                      </p:cBhvr>
                                      <p:to>
                                        <p:strVal val="visible"/>
                                      </p:to>
                                    </p:set>
                                    <p:animEffect transition="in" filter="fade">
                                      <p:cBhvr>
                                        <p:cTn id="75" dur="400"/>
                                        <p:tgtEl>
                                          <p:spTgt spid="26"/>
                                        </p:tgtEl>
                                      </p:cBhvr>
                                    </p:animEffect>
                                  </p:childTnLst>
                                </p:cTn>
                              </p:par>
                              <p:par>
                                <p:cTn id="76" presetID="10" presetClass="entr" presetSubtype="0" fill="hold" nodeType="withEffect">
                                  <p:stCondLst>
                                    <p:cond delay="0"/>
                                  </p:stCondLst>
                                  <p:childTnLst>
                                    <p:set>
                                      <p:cBhvr>
                                        <p:cTn id="77" dur="1" fill="hold">
                                          <p:stCondLst>
                                            <p:cond delay="0"/>
                                          </p:stCondLst>
                                        </p:cTn>
                                        <p:tgtEl>
                                          <p:spTgt spid="27"/>
                                        </p:tgtEl>
                                        <p:attrNameLst>
                                          <p:attrName>style.visibility</p:attrName>
                                        </p:attrNameLst>
                                      </p:cBhvr>
                                      <p:to>
                                        <p:strVal val="visible"/>
                                      </p:to>
                                    </p:set>
                                    <p:animEffect transition="in" filter="fade">
                                      <p:cBhvr>
                                        <p:cTn id="78" dur="400"/>
                                        <p:tgtEl>
                                          <p:spTgt spid="27"/>
                                        </p:tgtEl>
                                      </p:cBhvr>
                                    </p:animEffect>
                                  </p:childTnLst>
                                </p:cTn>
                              </p:par>
                              <p:par>
                                <p:cTn id="79" presetID="10" presetClass="entr" presetSubtype="0" fill="hold" nodeType="withEffect">
                                  <p:stCondLst>
                                    <p:cond delay="0"/>
                                  </p:stCondLst>
                                  <p:childTnLst>
                                    <p:set>
                                      <p:cBhvr>
                                        <p:cTn id="80" dur="1" fill="hold">
                                          <p:stCondLst>
                                            <p:cond delay="0"/>
                                          </p:stCondLst>
                                        </p:cTn>
                                        <p:tgtEl>
                                          <p:spTgt spid="28"/>
                                        </p:tgtEl>
                                        <p:attrNameLst>
                                          <p:attrName>style.visibility</p:attrName>
                                        </p:attrNameLst>
                                      </p:cBhvr>
                                      <p:to>
                                        <p:strVal val="visible"/>
                                      </p:to>
                                    </p:set>
                                    <p:animEffect transition="in" filter="fade">
                                      <p:cBhvr>
                                        <p:cTn id="81" dur="400"/>
                                        <p:tgtEl>
                                          <p:spTgt spid="28"/>
                                        </p:tgtEl>
                                      </p:cBhvr>
                                    </p:animEffect>
                                  </p:childTnLst>
                                </p:cTn>
                              </p:par>
                              <p:par>
                                <p:cTn id="82" presetID="10" presetClass="entr" presetSubtype="0" fill="hold" nodeType="withEffect">
                                  <p:stCondLst>
                                    <p:cond delay="0"/>
                                  </p:stCondLst>
                                  <p:childTnLst>
                                    <p:set>
                                      <p:cBhvr>
                                        <p:cTn id="83" dur="1" fill="hold">
                                          <p:stCondLst>
                                            <p:cond delay="0"/>
                                          </p:stCondLst>
                                        </p:cTn>
                                        <p:tgtEl>
                                          <p:spTgt spid="30"/>
                                        </p:tgtEl>
                                        <p:attrNameLst>
                                          <p:attrName>style.visibility</p:attrName>
                                        </p:attrNameLst>
                                      </p:cBhvr>
                                      <p:to>
                                        <p:strVal val="visible"/>
                                      </p:to>
                                    </p:set>
                                    <p:animEffect transition="in" filter="fade">
                                      <p:cBhvr>
                                        <p:cTn id="84" dur="400"/>
                                        <p:tgtEl>
                                          <p:spTgt spid="30"/>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nodeType="clickEffect">
                                  <p:stCondLst>
                                    <p:cond delay="0"/>
                                  </p:stCondLst>
                                  <p:childTnLst>
                                    <p:set>
                                      <p:cBhvr>
                                        <p:cTn id="88" dur="1" fill="hold">
                                          <p:stCondLst>
                                            <p:cond delay="0"/>
                                          </p:stCondLst>
                                        </p:cTn>
                                        <p:tgtEl>
                                          <p:spTgt spid="29"/>
                                        </p:tgtEl>
                                        <p:attrNameLst>
                                          <p:attrName>style.visibility</p:attrName>
                                        </p:attrNameLst>
                                      </p:cBhvr>
                                      <p:to>
                                        <p:strVal val="visible"/>
                                      </p:to>
                                    </p:set>
                                    <p:animEffect transition="in" filter="fade">
                                      <p:cBhvr>
                                        <p:cTn id="89" dur="400"/>
                                        <p:tgtEl>
                                          <p:spTgt spid="29"/>
                                        </p:tgtEl>
                                      </p:cBhvr>
                                    </p:animEffect>
                                  </p:childTnLst>
                                </p:cTn>
                              </p:par>
                              <p:par>
                                <p:cTn id="90" presetID="10" presetClass="entr" presetSubtype="0" fill="hold" nodeType="withEffect">
                                  <p:stCondLst>
                                    <p:cond delay="0"/>
                                  </p:stCondLst>
                                  <p:childTnLst>
                                    <p:set>
                                      <p:cBhvr>
                                        <p:cTn id="91" dur="1" fill="hold">
                                          <p:stCondLst>
                                            <p:cond delay="0"/>
                                          </p:stCondLst>
                                        </p:cTn>
                                        <p:tgtEl>
                                          <p:spTgt spid="31"/>
                                        </p:tgtEl>
                                        <p:attrNameLst>
                                          <p:attrName>style.visibility</p:attrName>
                                        </p:attrNameLst>
                                      </p:cBhvr>
                                      <p:to>
                                        <p:strVal val="visible"/>
                                      </p:to>
                                    </p:set>
                                    <p:animEffect transition="in" filter="fade">
                                      <p:cBhvr>
                                        <p:cTn id="92" dur="400"/>
                                        <p:tgtEl>
                                          <p:spTgt spid="31"/>
                                        </p:tgtEl>
                                      </p:cBhvr>
                                    </p:animEffect>
                                  </p:childTnLst>
                                </p:cTn>
                              </p:par>
                              <p:par>
                                <p:cTn id="93" presetID="10" presetClass="entr" presetSubtype="0" fill="hold" nodeType="withEffect">
                                  <p:stCondLst>
                                    <p:cond delay="0"/>
                                  </p:stCondLst>
                                  <p:childTnLst>
                                    <p:set>
                                      <p:cBhvr>
                                        <p:cTn id="94" dur="1" fill="hold">
                                          <p:stCondLst>
                                            <p:cond delay="0"/>
                                          </p:stCondLst>
                                        </p:cTn>
                                        <p:tgtEl>
                                          <p:spTgt spid="32"/>
                                        </p:tgtEl>
                                        <p:attrNameLst>
                                          <p:attrName>style.visibility</p:attrName>
                                        </p:attrNameLst>
                                      </p:cBhvr>
                                      <p:to>
                                        <p:strVal val="visible"/>
                                      </p:to>
                                    </p:set>
                                    <p:animEffect transition="in" filter="fade">
                                      <p:cBhvr>
                                        <p:cTn id="95" dur="400"/>
                                        <p:tgtEl>
                                          <p:spTgt spid="32"/>
                                        </p:tgtEl>
                                      </p:cBhvr>
                                    </p:animEffect>
                                  </p:childTnLst>
                                </p:cTn>
                              </p:par>
                              <p:par>
                                <p:cTn id="96" presetID="10" presetClass="entr" presetSubtype="0" fill="hold" nodeType="withEffect">
                                  <p:stCondLst>
                                    <p:cond delay="0"/>
                                  </p:stCondLst>
                                  <p:childTnLst>
                                    <p:set>
                                      <p:cBhvr>
                                        <p:cTn id="97" dur="1" fill="hold">
                                          <p:stCondLst>
                                            <p:cond delay="0"/>
                                          </p:stCondLst>
                                        </p:cTn>
                                        <p:tgtEl>
                                          <p:spTgt spid="33"/>
                                        </p:tgtEl>
                                        <p:attrNameLst>
                                          <p:attrName>style.visibility</p:attrName>
                                        </p:attrNameLst>
                                      </p:cBhvr>
                                      <p:to>
                                        <p:strVal val="visible"/>
                                      </p:to>
                                    </p:set>
                                    <p:animEffect transition="in" filter="fade">
                                      <p:cBhvr>
                                        <p:cTn id="98" dur="400"/>
                                        <p:tgtEl>
                                          <p:spTgt spid="33"/>
                                        </p:tgtEl>
                                      </p:cBhvr>
                                    </p:animEffect>
                                  </p:childTnLst>
                                </p:cTn>
                              </p:par>
                              <p:par>
                                <p:cTn id="99" presetID="10" presetClass="entr" presetSubtype="0" fill="hold" nodeType="withEffect">
                                  <p:stCondLst>
                                    <p:cond delay="0"/>
                                  </p:stCondLst>
                                  <p:childTnLst>
                                    <p:set>
                                      <p:cBhvr>
                                        <p:cTn id="100" dur="1" fill="hold">
                                          <p:stCondLst>
                                            <p:cond delay="0"/>
                                          </p:stCondLst>
                                        </p:cTn>
                                        <p:tgtEl>
                                          <p:spTgt spid="34"/>
                                        </p:tgtEl>
                                        <p:attrNameLst>
                                          <p:attrName>style.visibility</p:attrName>
                                        </p:attrNameLst>
                                      </p:cBhvr>
                                      <p:to>
                                        <p:strVal val="visible"/>
                                      </p:to>
                                    </p:set>
                                    <p:animEffect transition="in" filter="fade">
                                      <p:cBhvr>
                                        <p:cTn id="101"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56032"/>
            <a:ext cx="11064240" cy="292608"/>
          </a:xfrm>
          <a:prstGeom prst="rect">
            <a:avLst/>
          </a:prstGeom>
          <a:noFill/>
          <a:ln/>
        </p:spPr>
        <p:txBody>
          <a:bodyPr wrap="square" lIns="0" tIns="0" rIns="0" bIns="0" rtlCol="0" anchor="ctr"/>
          <a:lstStyle/>
          <a:p>
            <a:pPr marL="0" indent="0">
              <a:buNone/>
            </a:pPr>
            <a:r>
              <a:rPr lang="en-US" sz="1300" b="1" dirty="0">
                <a:solidFill>
                  <a:schemeClr val="accent4"/>
                </a:solidFill>
                <a:latin typeface="Times New Roman" pitchFamily="34" charset="0"/>
                <a:ea typeface="Times New Roman" pitchFamily="34" charset="-122"/>
                <a:cs typeface="Times New Roman" pitchFamily="34" charset="-120"/>
              </a:rPr>
              <a:t>1-mavzu · Kriptologiyaga kirish</a:t>
            </a:r>
            <a:endParaRPr lang="en-US" sz="1300" dirty="0"/>
          </a:p>
        </p:txBody>
      </p:sp>
      <p:sp>
        <p:nvSpPr>
          <p:cNvPr id="3" name="Text 1"/>
          <p:cNvSpPr>
            <a:spLocks noGrp="1"/>
          </p:cNvSpPr>
          <p:nvPr>
            <p:ph type="title" idx="102" hasCustomPrompt="1"/>
          </p:nvPr>
        </p:nvSpPr>
        <p:spPr>
          <a:xfrm>
            <a:off x="548640" y="530352"/>
            <a:ext cx="1106424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Model, prinsip va hujumchi</a:t>
            </a:r>
            <a:endParaRPr lang="en-US" sz="3200" dirty="0"/>
          </a:p>
        </p:txBody>
      </p:sp>
      <p:sp>
        <p:nvSpPr>
          <p:cNvPr id="5" name="A1_60"/>
          <p:cNvSpPr txBox="1"/>
          <p:nvPr/>
        </p:nvSpPr>
        <p:spPr>
          <a:xfrm>
            <a:off x="2286000" y="1508760"/>
            <a:ext cx="2377440" cy="502920"/>
          </a:xfrm>
          <a:prstGeom prst="roundRect">
            <a:avLst>
              <a:gd name="adj" fmla="val 10909"/>
            </a:avLst>
          </a:prstGeom>
          <a:solidFill>
            <a:schemeClr val="accent6">
              <a:alpha val="15000"/>
            </a:schemeClr>
          </a:solidFill>
          <a:ln w="15875">
            <a:solidFill>
              <a:schemeClr val="accent6"/>
            </a:solidFill>
          </a:ln>
        </p:spPr>
        <p:txBody>
          <a:bodyPr wrap="square" lIns="25400" tIns="25400" rIns="25400" bIns="25400" rtlCol="0" anchor="ctr"/>
          <a:lstStyle/>
          <a:p>
            <a:pPr marL="0" indent="0" algn="ctr">
              <a:buNone/>
            </a:pPr>
            <a:r>
              <a:rPr lang="en-US" sz="1400" b="1" dirty="0">
                <a:solidFill>
                  <a:schemeClr val="tx1"/>
                </a:solidFill>
              </a:rPr>
              <a:t>Maxfiy kalit K</a:t>
            </a:r>
            <a:endParaRPr lang="en-US" sz="1400" dirty="0"/>
          </a:p>
        </p:txBody>
      </p:sp>
      <p:sp>
        <p:nvSpPr>
          <p:cNvPr id="6" name="A1_61"/>
          <p:cNvSpPr txBox="1"/>
          <p:nvPr/>
        </p:nvSpPr>
        <p:spPr>
          <a:xfrm>
            <a:off x="548640" y="2514600"/>
            <a:ext cx="1097280" cy="731520"/>
          </a:xfrm>
          <a:prstGeom prst="roundRect">
            <a:avLst>
              <a:gd name="adj" fmla="val 7500"/>
            </a:avLst>
          </a:prstGeom>
          <a:solidFill>
            <a:schemeClr val="accent4">
              <a:alpha val="15000"/>
            </a:schemeClr>
          </a:solidFill>
          <a:ln w="15875">
            <a:solidFill>
              <a:schemeClr val="accent4"/>
            </a:solidFill>
          </a:ln>
        </p:spPr>
        <p:txBody>
          <a:bodyPr wrap="square" lIns="25400" tIns="25400" rIns="25400" bIns="25400" rtlCol="0" anchor="ctr"/>
          <a:lstStyle/>
          <a:p>
            <a:pPr marL="0" indent="0" algn="ctr">
              <a:buNone/>
            </a:pPr>
            <a:r>
              <a:rPr lang="en-US" sz="1400" b="1" dirty="0">
                <a:solidFill>
                  <a:schemeClr val="tx1"/>
                </a:solidFill>
              </a:rPr>
              <a:t>Alisa</a:t>
            </a:r>
            <a:endParaRPr lang="en-US" sz="1400" dirty="0"/>
          </a:p>
        </p:txBody>
      </p:sp>
      <p:sp>
        <p:nvSpPr>
          <p:cNvPr id="7" name="A1_62"/>
          <p:cNvSpPr txBox="1"/>
          <p:nvPr/>
        </p:nvSpPr>
        <p:spPr>
          <a:xfrm>
            <a:off x="2011680" y="2423160"/>
            <a:ext cx="1143000" cy="914400"/>
          </a:xfrm>
          <a:prstGeom prst="roundRect">
            <a:avLst>
              <a:gd name="adj" fmla="val 6000"/>
            </a:avLst>
          </a:prstGeom>
          <a:solidFill>
            <a:schemeClr val="accent2">
              <a:alpha val="15000"/>
            </a:schemeClr>
          </a:solidFill>
          <a:ln w="15875">
            <a:solidFill>
              <a:schemeClr val="accent2"/>
            </a:solidFill>
          </a:ln>
        </p:spPr>
        <p:txBody>
          <a:bodyPr wrap="square" lIns="25400" tIns="25400" rIns="25400" bIns="25400" rtlCol="0" anchor="ctr"/>
          <a:lstStyle/>
          <a:p>
            <a:pPr marL="0" indent="0" algn="ctr">
              <a:buNone/>
            </a:pPr>
            <a:r>
              <a:rPr lang="en-US" sz="2000" b="1" dirty="0">
                <a:solidFill>
                  <a:schemeClr val="tx1"/>
                </a:solidFill>
              </a:rPr>
              <a:t>E</a:t>
            </a:r>
            <a:endParaRPr lang="en-US" sz="1400" dirty="0"/>
          </a:p>
          <a:p>
            <a:pPr marL="0" indent="0" algn="ctr">
              <a:buNone/>
            </a:pPr>
            <a:r>
              <a:rPr lang="en-US" sz="1100" dirty="0">
                <a:solidFill>
                  <a:schemeClr val="tx1"/>
                </a:solidFill>
              </a:rPr>
              <a:t>shifrlash</a:t>
            </a:r>
            <a:endParaRPr lang="en-US" sz="1400" dirty="0"/>
          </a:p>
        </p:txBody>
      </p:sp>
      <p:sp>
        <p:nvSpPr>
          <p:cNvPr id="8" name="A1_63"/>
          <p:cNvSpPr txBox="1"/>
          <p:nvPr/>
        </p:nvSpPr>
        <p:spPr>
          <a:xfrm>
            <a:off x="4434840" y="2423160"/>
            <a:ext cx="1143000" cy="914400"/>
          </a:xfrm>
          <a:prstGeom prst="roundRect">
            <a:avLst>
              <a:gd name="adj" fmla="val 6000"/>
            </a:avLst>
          </a:prstGeom>
          <a:solidFill>
            <a:schemeClr val="accent2">
              <a:alpha val="15000"/>
            </a:schemeClr>
          </a:solidFill>
          <a:ln w="15875">
            <a:solidFill>
              <a:schemeClr val="accent2"/>
            </a:solidFill>
          </a:ln>
        </p:spPr>
        <p:txBody>
          <a:bodyPr wrap="square" lIns="25400" tIns="25400" rIns="25400" bIns="25400" rtlCol="0" anchor="ctr"/>
          <a:lstStyle/>
          <a:p>
            <a:pPr marL="0" indent="0" algn="ctr">
              <a:buNone/>
            </a:pPr>
            <a:r>
              <a:rPr lang="en-US" sz="2000" b="1" dirty="0">
                <a:solidFill>
                  <a:schemeClr val="tx1"/>
                </a:solidFill>
              </a:rPr>
              <a:t>D</a:t>
            </a:r>
            <a:endParaRPr lang="en-US" sz="1400" dirty="0"/>
          </a:p>
          <a:p>
            <a:pPr marL="0" indent="0" algn="ctr">
              <a:buNone/>
            </a:pPr>
            <a:r>
              <a:rPr lang="en-US" sz="1100" dirty="0">
                <a:solidFill>
                  <a:schemeClr val="tx1"/>
                </a:solidFill>
              </a:rPr>
              <a:t>rasshifrovka</a:t>
            </a:r>
            <a:endParaRPr lang="en-US" sz="1400" dirty="0"/>
          </a:p>
        </p:txBody>
      </p:sp>
      <p:sp>
        <p:nvSpPr>
          <p:cNvPr id="9" name="A1_64"/>
          <p:cNvSpPr txBox="1"/>
          <p:nvPr/>
        </p:nvSpPr>
        <p:spPr>
          <a:xfrm>
            <a:off x="5897880" y="2514600"/>
            <a:ext cx="914400" cy="731520"/>
          </a:xfrm>
          <a:prstGeom prst="roundRect">
            <a:avLst>
              <a:gd name="adj" fmla="val 7500"/>
            </a:avLst>
          </a:prstGeom>
          <a:solidFill>
            <a:schemeClr val="accent4">
              <a:alpha val="15000"/>
            </a:schemeClr>
          </a:solidFill>
          <a:ln w="15875">
            <a:solidFill>
              <a:schemeClr val="accent4"/>
            </a:solidFill>
          </a:ln>
        </p:spPr>
        <p:txBody>
          <a:bodyPr wrap="square" lIns="25400" tIns="25400" rIns="25400" bIns="25400" rtlCol="0" anchor="ctr"/>
          <a:lstStyle/>
          <a:p>
            <a:pPr marL="0" indent="0" algn="ctr">
              <a:buNone/>
            </a:pPr>
            <a:r>
              <a:rPr lang="en-US" sz="1400" b="1" dirty="0">
                <a:solidFill>
                  <a:schemeClr val="tx1"/>
                </a:solidFill>
              </a:rPr>
              <a:t>Bob</a:t>
            </a:r>
            <a:endParaRPr lang="en-US" sz="1400" dirty="0"/>
          </a:p>
        </p:txBody>
      </p:sp>
      <p:sp>
        <p:nvSpPr>
          <p:cNvPr id="10" name="A1_65"/>
          <p:cNvSpPr/>
          <p:nvPr/>
        </p:nvSpPr>
        <p:spPr>
          <a:xfrm>
            <a:off x="1645920" y="2880360"/>
            <a:ext cx="365760" cy="0"/>
          </a:xfrm>
          <a:prstGeom prst="line">
            <a:avLst/>
          </a:prstGeom>
          <a:noFill/>
          <a:ln w="22225">
            <a:solidFill>
              <a:srgbClr val="52514E"/>
            </a:solidFill>
            <a:prstDash val="solid"/>
            <a:tailEnd type="triangle"/>
          </a:ln>
        </p:spPr>
      </p:sp>
      <p:sp>
        <p:nvSpPr>
          <p:cNvPr id="11" name="A1_66"/>
          <p:cNvSpPr/>
          <p:nvPr/>
        </p:nvSpPr>
        <p:spPr>
          <a:xfrm>
            <a:off x="3154680" y="2880360"/>
            <a:ext cx="1280160" cy="0"/>
          </a:xfrm>
          <a:prstGeom prst="line">
            <a:avLst/>
          </a:prstGeom>
          <a:noFill/>
          <a:ln w="31750">
            <a:solidFill>
              <a:schemeClr val="tx2"/>
            </a:solidFill>
            <a:prstDash val="solid"/>
            <a:tailEnd type="triangle"/>
          </a:ln>
        </p:spPr>
      </p:sp>
      <p:sp>
        <p:nvSpPr>
          <p:cNvPr id="12" name="A1_67"/>
          <p:cNvSpPr/>
          <p:nvPr/>
        </p:nvSpPr>
        <p:spPr>
          <a:xfrm>
            <a:off x="5577840" y="2880360"/>
            <a:ext cx="320040" cy="0"/>
          </a:xfrm>
          <a:prstGeom prst="line">
            <a:avLst/>
          </a:prstGeom>
          <a:noFill/>
          <a:ln w="22225">
            <a:solidFill>
              <a:srgbClr val="52514E"/>
            </a:solidFill>
            <a:prstDash val="solid"/>
            <a:tailEnd type="triangle"/>
          </a:ln>
        </p:spPr>
      </p:sp>
      <p:sp>
        <p:nvSpPr>
          <p:cNvPr id="13" name="A1_68"/>
          <p:cNvSpPr/>
          <p:nvPr/>
        </p:nvSpPr>
        <p:spPr>
          <a:xfrm flipH="1">
            <a:off x="2651760" y="2011680"/>
            <a:ext cx="274320" cy="411480"/>
          </a:xfrm>
          <a:prstGeom prst="line">
            <a:avLst/>
          </a:prstGeom>
          <a:noFill/>
          <a:ln w="22225">
            <a:solidFill>
              <a:srgbClr val="6A4C93"/>
            </a:solidFill>
            <a:prstDash val="solid"/>
            <a:tailEnd type="triangle"/>
          </a:ln>
        </p:spPr>
      </p:sp>
      <p:sp>
        <p:nvSpPr>
          <p:cNvPr id="14" name="A1_69"/>
          <p:cNvSpPr/>
          <p:nvPr/>
        </p:nvSpPr>
        <p:spPr>
          <a:xfrm>
            <a:off x="4023360" y="2011680"/>
            <a:ext cx="914400" cy="411480"/>
          </a:xfrm>
          <a:prstGeom prst="line">
            <a:avLst/>
          </a:prstGeom>
          <a:noFill/>
          <a:ln w="22225">
            <a:solidFill>
              <a:srgbClr val="6A4C93"/>
            </a:solidFill>
            <a:prstDash val="solid"/>
            <a:tailEnd type="triangle"/>
          </a:ln>
        </p:spPr>
      </p:sp>
      <p:sp>
        <p:nvSpPr>
          <p:cNvPr id="15" name="A1_70"/>
          <p:cNvSpPr txBox="1"/>
          <p:nvPr/>
        </p:nvSpPr>
        <p:spPr>
          <a:xfrm>
            <a:off x="3154680" y="2514600"/>
            <a:ext cx="1280160" cy="320040"/>
          </a:xfrm>
          <a:prstGeom prst="rect">
            <a:avLst/>
          </a:prstGeom>
          <a:noFill/>
          <a:ln/>
        </p:spPr>
        <p:txBody>
          <a:bodyPr wrap="square" lIns="0" tIns="0" rIns="0" bIns="0" rtlCol="0" anchor="ctr"/>
          <a:lstStyle/>
          <a:p>
            <a:pPr marL="0" indent="0" algn="ctr">
              <a:buNone/>
            </a:pPr>
            <a:r>
              <a:rPr lang="en-US" sz="1500" b="1" dirty="0">
                <a:solidFill>
                  <a:schemeClr val="tx1"/>
                </a:solidFill>
              </a:rPr>
              <a:t>C</a:t>
            </a:r>
            <a:endParaRPr lang="en-US" sz="1500" dirty="0"/>
          </a:p>
        </p:txBody>
      </p:sp>
      <p:sp>
        <p:nvSpPr>
          <p:cNvPr id="16" name="A1_71"/>
          <p:cNvSpPr/>
          <p:nvPr/>
        </p:nvSpPr>
        <p:spPr>
          <a:xfrm>
            <a:off x="3794760" y="2926080"/>
            <a:ext cx="0" cy="868680"/>
          </a:xfrm>
          <a:prstGeom prst="line">
            <a:avLst/>
          </a:prstGeom>
          <a:noFill/>
          <a:ln w="22225">
            <a:solidFill>
              <a:srgbClr val="E76F51"/>
            </a:solidFill>
            <a:prstDash val="dash"/>
            <a:tailEnd type="triangle"/>
          </a:ln>
        </p:spPr>
      </p:sp>
      <p:sp>
        <p:nvSpPr>
          <p:cNvPr id="17" name="A1_72"/>
          <p:cNvSpPr txBox="1"/>
          <p:nvPr/>
        </p:nvSpPr>
        <p:spPr>
          <a:xfrm>
            <a:off x="2971800" y="3794760"/>
            <a:ext cx="1645920" cy="685800"/>
          </a:xfrm>
          <a:prstGeom prst="roundRect">
            <a:avLst>
              <a:gd name="adj" fmla="val 8000"/>
            </a:avLst>
          </a:prstGeom>
          <a:solidFill>
            <a:schemeClr val="accent3">
              <a:alpha val="15000"/>
            </a:schemeClr>
          </a:solidFill>
          <a:ln w="15875">
            <a:solidFill>
              <a:schemeClr val="accent3"/>
            </a:solidFill>
          </a:ln>
        </p:spPr>
        <p:txBody>
          <a:bodyPr wrap="square" lIns="25400" tIns="25400" rIns="25400" bIns="25400" rtlCol="0" anchor="ctr"/>
          <a:lstStyle/>
          <a:p>
            <a:pPr marL="0" indent="0" algn="ctr">
              <a:buNone/>
            </a:pPr>
            <a:r>
              <a:rPr lang="en-US" sz="1400" b="1" dirty="0">
                <a:solidFill>
                  <a:schemeClr val="tx1"/>
                </a:solidFill>
              </a:rPr>
              <a:t>Eva</a:t>
            </a:r>
            <a:endParaRPr lang="en-US" sz="1400" dirty="0"/>
          </a:p>
          <a:p>
            <a:pPr marL="0" indent="0" algn="ctr">
              <a:buNone/>
            </a:pPr>
            <a:r>
              <a:rPr lang="en-US" sz="1100" dirty="0">
                <a:solidFill>
                  <a:schemeClr val="tx1"/>
                </a:solidFill>
              </a:rPr>
              <a:t>C ni ko‘radi, K ni bilmaydi</a:t>
            </a:r>
            <a:endParaRPr lang="en-US" sz="1400" dirty="0"/>
          </a:p>
        </p:txBody>
      </p:sp>
      <p:sp>
        <p:nvSpPr>
          <p:cNvPr id="18" name="A1_73"/>
          <p:cNvSpPr txBox="1"/>
          <p:nvPr/>
        </p:nvSpPr>
        <p:spPr>
          <a:xfrm>
            <a:off x="548640" y="4754880"/>
            <a:ext cx="6309360" cy="411480"/>
          </a:xfrm>
          <a:prstGeom prst="rect">
            <a:avLst/>
          </a:prstGeom>
          <a:noFill/>
          <a:ln/>
        </p:spPr>
        <p:txBody>
          <a:bodyPr wrap="square" lIns="0" tIns="0" rIns="0" bIns="0" rtlCol="0" anchor="ctr"/>
          <a:lstStyle/>
          <a:p>
            <a:pPr marL="0" indent="0" algn="ctr">
              <a:buNone/>
            </a:pPr>
            <a:r>
              <a:rPr lang="en-US" sz="1800" i="1" dirty="0">
                <a:solidFill>
                  <a:schemeClr val="tx1"/>
                </a:solidFill>
                <a:latin typeface="Cambria" pitchFamily="34" charset="0"/>
                <a:ea typeface="Cambria" pitchFamily="34" charset="-122"/>
                <a:cs typeface="Cambria" pitchFamily="34" charset="-120"/>
              </a:rPr>
              <a:t>C = E</a:t>
            </a:r>
            <a:r>
              <a:rPr lang="en-US" sz="1800" i="1" baseline="-40000" dirty="0">
                <a:solidFill>
                  <a:schemeClr val="tx1"/>
                </a:solidFill>
                <a:latin typeface="Cambria" pitchFamily="34" charset="0"/>
                <a:ea typeface="Cambria" pitchFamily="34" charset="-122"/>
                <a:cs typeface="Cambria" pitchFamily="34" charset="-120"/>
              </a:rPr>
              <a:t>K</a:t>
            </a:r>
            <a:r>
              <a:rPr lang="en-US" sz="1800" i="1" dirty="0">
                <a:solidFill>
                  <a:schemeClr val="tx1"/>
                </a:solidFill>
                <a:latin typeface="Cambria" pitchFamily="34" charset="0"/>
                <a:ea typeface="Cambria" pitchFamily="34" charset="-122"/>
                <a:cs typeface="Cambria" pitchFamily="34" charset="-120"/>
              </a:rPr>
              <a:t>(P),   P = D</a:t>
            </a:r>
            <a:r>
              <a:rPr lang="en-US" sz="1800" i="1" baseline="-40000" dirty="0">
                <a:solidFill>
                  <a:schemeClr val="tx1"/>
                </a:solidFill>
                <a:latin typeface="Cambria" pitchFamily="34" charset="0"/>
                <a:ea typeface="Cambria" pitchFamily="34" charset="-122"/>
                <a:cs typeface="Cambria" pitchFamily="34" charset="-120"/>
              </a:rPr>
              <a:t>K</a:t>
            </a:r>
            <a:r>
              <a:rPr lang="en-US" sz="1800" i="1" dirty="0">
                <a:solidFill>
                  <a:schemeClr val="tx1"/>
                </a:solidFill>
                <a:latin typeface="Cambria" pitchFamily="34" charset="0"/>
                <a:ea typeface="Cambria" pitchFamily="34" charset="-122"/>
                <a:cs typeface="Cambria" pitchFamily="34" charset="-120"/>
              </a:rPr>
              <a:t>(C)</a:t>
            </a:r>
            <a:endParaRPr lang="en-US" sz="1800" dirty="0"/>
          </a:p>
        </p:txBody>
      </p:sp>
      <p:sp>
        <p:nvSpPr>
          <p:cNvPr id="19" name="A1_74"/>
          <p:cNvSpPr txBox="1"/>
          <p:nvPr/>
        </p:nvSpPr>
        <p:spPr>
          <a:xfrm>
            <a:off x="822960" y="5257800"/>
            <a:ext cx="5760720" cy="548640"/>
          </a:xfrm>
          <a:prstGeom prst="roundRect">
            <a:avLst>
              <a:gd name="adj" fmla="val 10000"/>
            </a:avLst>
          </a:prstGeom>
          <a:solidFill>
            <a:schemeClr val="accent4">
              <a:alpha val="8000"/>
            </a:schemeClr>
          </a:solidFill>
          <a:ln>
            <a:solidFill>
              <a:schemeClr val="accent4"/>
            </a:solidFill>
          </a:ln>
        </p:spPr>
        <p:txBody>
          <a:bodyPr wrap="square" lIns="25400" tIns="25400" rIns="25400" bIns="25400" rtlCol="0" anchor="ctr"/>
          <a:lstStyle/>
          <a:p>
            <a:pPr marL="0" indent="0" algn="ctr">
              <a:buNone/>
            </a:pPr>
            <a:r>
              <a:rPr lang="en-US" sz="1400" dirty="0">
                <a:solidFill>
                  <a:schemeClr val="tx1"/>
                </a:solidFill>
              </a:rPr>
              <a:t>Misol — Sezar, K = 3:  </a:t>
            </a:r>
            <a:r>
              <a:rPr lang="en-US" sz="1500" b="1" dirty="0">
                <a:solidFill>
                  <a:schemeClr val="tx1"/>
                </a:solidFill>
                <a:latin typeface="Courier New" pitchFamily="34" charset="0"/>
                <a:ea typeface="Courier New" pitchFamily="34" charset="-122"/>
                <a:cs typeface="Courier New" pitchFamily="34" charset="-120"/>
              </a:rPr>
              <a:t>HELLO → KHOOR</a:t>
            </a:r>
            <a:endParaRPr lang="en-US" sz="1400" dirty="0"/>
          </a:p>
        </p:txBody>
      </p:sp>
      <p:sp>
        <p:nvSpPr>
          <p:cNvPr id="20" name="A2_75"/>
          <p:cNvSpPr txBox="1"/>
          <p:nvPr/>
        </p:nvSpPr>
        <p:spPr>
          <a:xfrm>
            <a:off x="7223760" y="1463040"/>
            <a:ext cx="4434840" cy="1234440"/>
          </a:xfrm>
          <a:prstGeom prst="roundRect">
            <a:avLst>
              <a:gd name="adj" fmla="val 5926"/>
            </a:avLst>
          </a:prstGeom>
          <a:solidFill>
            <a:schemeClr val="accent1">
              <a:alpha val="12000"/>
            </a:schemeClr>
          </a:solidFill>
          <a:ln>
            <a:solidFill>
              <a:schemeClr val="accent1">
                <a:alpha val="0"/>
              </a:schemeClr>
            </a:solidFill>
          </a:ln>
        </p:spPr>
        <p:txBody>
          <a:bodyPr wrap="square" lIns="76200" tIns="127000" rIns="127000" bIns="76200" rtlCol="0" anchor="t"/>
          <a:lstStyle/>
          <a:p>
            <a:pPr marL="0" indent="0" algn="l">
              <a:spcAft>
                <a:spcPts val="300"/>
              </a:spcAft>
              <a:buNone/>
            </a:pPr>
            <a:r>
              <a:rPr lang="en-US" sz="1800" b="1" dirty="0">
                <a:solidFill>
                  <a:srgbClr val="9A6A12"/>
                </a:solidFill>
              </a:rPr>
              <a:t>Kerkgoffs prinsipi (1883)</a:t>
            </a:r>
            <a:endParaRPr lang="en-US" sz="1800" dirty="0"/>
          </a:p>
          <a:p>
            <a:pPr marL="0" indent="0" algn="l">
              <a:spcAft>
                <a:spcPts val="300"/>
              </a:spcAft>
              <a:buNone/>
            </a:pPr>
            <a:r>
              <a:rPr lang="en-US" sz="1600" dirty="0">
                <a:solidFill>
                  <a:schemeClr val="tx1"/>
                </a:solidFill>
              </a:rPr>
              <a:t>Algoritm raqibga ma’lum deb hisoblanadi. Xavfsizlik faqat kalitning sirligiga tayanadi.</a:t>
            </a:r>
            <a:endParaRPr lang="en-US" sz="1800" dirty="0"/>
          </a:p>
        </p:txBody>
      </p:sp>
      <p:sp>
        <p:nvSpPr>
          <p:cNvPr id="21" name="A3_76"/>
          <p:cNvSpPr txBox="1"/>
          <p:nvPr/>
        </p:nvSpPr>
        <p:spPr>
          <a:xfrm>
            <a:off x="7223760" y="2834640"/>
            <a:ext cx="4434840" cy="1371600"/>
          </a:xfrm>
          <a:prstGeom prst="roundRect">
            <a:avLst>
              <a:gd name="adj" fmla="val 5333"/>
            </a:avLst>
          </a:prstGeom>
          <a:solidFill>
            <a:schemeClr val="accent2">
              <a:alpha val="12000"/>
            </a:schemeClr>
          </a:solidFill>
          <a:ln>
            <a:solidFill>
              <a:schemeClr val="accent2">
                <a:alpha val="0"/>
              </a:schemeClr>
            </a:solidFill>
          </a:ln>
        </p:spPr>
        <p:txBody>
          <a:bodyPr wrap="square" lIns="76200" tIns="127000" rIns="127000" bIns="76200" rtlCol="0" anchor="t"/>
          <a:lstStyle/>
          <a:p>
            <a:pPr marL="0" indent="0" algn="l">
              <a:spcAft>
                <a:spcPts val="300"/>
              </a:spcAft>
              <a:buNone/>
            </a:pPr>
            <a:r>
              <a:rPr lang="en-US" sz="1800" b="1" dirty="0">
                <a:solidFill>
                  <a:schemeClr val="accent2"/>
                </a:solidFill>
              </a:rPr>
              <a:t>Simmetrik ↔ asimmetrik</a:t>
            </a:r>
            <a:endParaRPr lang="en-US" sz="1800" dirty="0"/>
          </a:p>
          <a:p>
            <a:pPr marL="0" indent="0" algn="l">
              <a:spcAft>
                <a:spcPts val="300"/>
              </a:spcAft>
              <a:buNone/>
            </a:pPr>
            <a:r>
              <a:rPr lang="en-US" sz="1600" dirty="0">
                <a:solidFill>
                  <a:schemeClr val="tx1"/>
                </a:solidFill>
              </a:rPr>
              <a:t>Bitta umumiy kalit (AES) ↔ ochiq/yopiq kalitlar jufti (RSA). Amalda: asimmetrik usul bilan kalit kelishiladi, xabar simmetrik shifr bilan shifrlanadi.</a:t>
            </a:r>
            <a:endParaRPr lang="en-US" sz="1800" dirty="0"/>
          </a:p>
        </p:txBody>
      </p:sp>
      <p:sp>
        <p:nvSpPr>
          <p:cNvPr id="22" name="A4_77"/>
          <p:cNvSpPr txBox="1"/>
          <p:nvPr/>
        </p:nvSpPr>
        <p:spPr>
          <a:xfrm>
            <a:off x="7223760" y="4370832"/>
            <a:ext cx="4434840" cy="320040"/>
          </a:xfrm>
          <a:prstGeom prst="rect">
            <a:avLst/>
          </a:prstGeom>
          <a:noFill/>
          <a:ln/>
        </p:spPr>
        <p:txBody>
          <a:bodyPr wrap="square" lIns="0" tIns="0" rIns="0" bIns="0" rtlCol="0" anchor="ctr"/>
          <a:lstStyle/>
          <a:p>
            <a:pPr marL="0" indent="0" algn="l">
              <a:buNone/>
            </a:pPr>
            <a:r>
              <a:rPr lang="en-US" sz="1600" b="1" dirty="0">
                <a:solidFill>
                  <a:schemeClr val="accent3"/>
                </a:solidFill>
              </a:rPr>
              <a:t>Hujumchi kuchi zinasi</a:t>
            </a:r>
            <a:endParaRPr lang="en-US" sz="1600" dirty="0"/>
          </a:p>
        </p:txBody>
      </p:sp>
      <p:sp>
        <p:nvSpPr>
          <p:cNvPr id="23" name="A4_78"/>
          <p:cNvSpPr txBox="1"/>
          <p:nvPr/>
        </p:nvSpPr>
        <p:spPr>
          <a:xfrm>
            <a:off x="7223760" y="5577840"/>
            <a:ext cx="1069848" cy="411480"/>
          </a:xfrm>
          <a:prstGeom prst="roundRect">
            <a:avLst>
              <a:gd name="adj" fmla="val 13333"/>
            </a:avLst>
          </a:prstGeom>
          <a:solidFill>
            <a:schemeClr val="accent3">
              <a:alpha val="12000"/>
            </a:schemeClr>
          </a:solidFill>
          <a:ln>
            <a:solidFill>
              <a:schemeClr val="accent3"/>
            </a:solidFill>
          </a:ln>
        </p:spPr>
        <p:txBody>
          <a:bodyPr wrap="square" lIns="25400" tIns="25400" rIns="25400" bIns="25400" rtlCol="0" anchor="ctr"/>
          <a:lstStyle/>
          <a:p>
            <a:pPr marL="0" indent="0" algn="ctr">
              <a:buNone/>
            </a:pPr>
            <a:r>
              <a:rPr lang="en-US" sz="1100" dirty="0">
                <a:solidFill>
                  <a:schemeClr val="tx1"/>
                </a:solidFill>
              </a:rPr>
              <a:t>faqat shifrmatn</a:t>
            </a:r>
            <a:endParaRPr lang="en-US" sz="1100" dirty="0"/>
          </a:p>
        </p:txBody>
      </p:sp>
      <p:sp>
        <p:nvSpPr>
          <p:cNvPr id="24" name="A4_79"/>
          <p:cNvSpPr txBox="1"/>
          <p:nvPr/>
        </p:nvSpPr>
        <p:spPr>
          <a:xfrm>
            <a:off x="8339328" y="5330952"/>
            <a:ext cx="1069848" cy="658368"/>
          </a:xfrm>
          <a:prstGeom prst="roundRect">
            <a:avLst>
              <a:gd name="adj" fmla="val 8333"/>
            </a:avLst>
          </a:prstGeom>
          <a:solidFill>
            <a:schemeClr val="accent3">
              <a:alpha val="24000"/>
            </a:schemeClr>
          </a:solidFill>
          <a:ln>
            <a:solidFill>
              <a:schemeClr val="accent3"/>
            </a:solidFill>
          </a:ln>
        </p:spPr>
        <p:txBody>
          <a:bodyPr wrap="square" lIns="25400" tIns="25400" rIns="25400" bIns="25400" rtlCol="0" anchor="ctr"/>
          <a:lstStyle/>
          <a:p>
            <a:pPr marL="0" indent="0" algn="ctr">
              <a:buNone/>
            </a:pPr>
            <a:r>
              <a:rPr lang="en-US" sz="1100" dirty="0">
                <a:solidFill>
                  <a:schemeClr val="tx1"/>
                </a:solidFill>
              </a:rPr>
              <a:t>ma’lum ochiq matn</a:t>
            </a:r>
            <a:endParaRPr lang="en-US" sz="1100" dirty="0"/>
          </a:p>
        </p:txBody>
      </p:sp>
      <p:sp>
        <p:nvSpPr>
          <p:cNvPr id="25" name="A4_80"/>
          <p:cNvSpPr txBox="1"/>
          <p:nvPr/>
        </p:nvSpPr>
        <p:spPr>
          <a:xfrm>
            <a:off x="9454896" y="5084064"/>
            <a:ext cx="1069848" cy="905256"/>
          </a:xfrm>
          <a:prstGeom prst="roundRect">
            <a:avLst>
              <a:gd name="adj" fmla="val 6061"/>
            </a:avLst>
          </a:prstGeom>
          <a:solidFill>
            <a:schemeClr val="accent3">
              <a:alpha val="36000"/>
            </a:schemeClr>
          </a:solidFill>
          <a:ln>
            <a:solidFill>
              <a:schemeClr val="accent3"/>
            </a:solidFill>
          </a:ln>
        </p:spPr>
        <p:txBody>
          <a:bodyPr wrap="square" lIns="25400" tIns="25400" rIns="25400" bIns="25400" rtlCol="0" anchor="ctr"/>
          <a:lstStyle/>
          <a:p>
            <a:pPr marL="0" indent="0" algn="ctr">
              <a:buNone/>
            </a:pPr>
            <a:r>
              <a:rPr lang="en-US" sz="1100" dirty="0">
                <a:solidFill>
                  <a:schemeClr val="tx1"/>
                </a:solidFill>
              </a:rPr>
              <a:t>tanlangan ochiq matn</a:t>
            </a:r>
            <a:endParaRPr lang="en-US" sz="1100" dirty="0"/>
          </a:p>
        </p:txBody>
      </p:sp>
      <p:sp>
        <p:nvSpPr>
          <p:cNvPr id="26" name="A4_81"/>
          <p:cNvSpPr txBox="1"/>
          <p:nvPr/>
        </p:nvSpPr>
        <p:spPr>
          <a:xfrm>
            <a:off x="10570464" y="4837176"/>
            <a:ext cx="1069848" cy="1152144"/>
          </a:xfrm>
          <a:prstGeom prst="roundRect">
            <a:avLst>
              <a:gd name="adj" fmla="val 5128"/>
            </a:avLst>
          </a:prstGeom>
          <a:solidFill>
            <a:schemeClr val="accent3">
              <a:alpha val="48000"/>
            </a:schemeClr>
          </a:solidFill>
          <a:ln>
            <a:solidFill>
              <a:schemeClr val="accent3"/>
            </a:solidFill>
          </a:ln>
        </p:spPr>
        <p:txBody>
          <a:bodyPr wrap="square" lIns="25400" tIns="25400" rIns="25400" bIns="25400" rtlCol="0" anchor="ctr"/>
          <a:lstStyle/>
          <a:p>
            <a:pPr marL="0" indent="0" algn="ctr">
              <a:buNone/>
            </a:pPr>
            <a:r>
              <a:rPr lang="en-US" sz="1100" dirty="0">
                <a:solidFill>
                  <a:schemeClr val="tx1"/>
                </a:solidFill>
              </a:rPr>
              <a:t>tanlangan shifrmatn</a:t>
            </a:r>
            <a:endParaRPr lang="en-US" sz="1100" dirty="0"/>
          </a:p>
        </p:txBody>
      </p:sp>
      <p:sp>
        <p:nvSpPr>
          <p:cNvPr id="4"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D99AE"/>
                </a:solidFill>
                <a:latin typeface="Times New Roman"/>
                <a:ea typeface="Times New Roman"/>
                <a:cs typeface="Times New Roman"/>
              </a:defRPr>
            </a:lvl1pPr>
          </a:lstStyle>
          <a:p>
            <a:pPr algn="r"/>
            <a:fld id="{F7021451-1387-4CA6-816F-3879F97B5CBC}" type="slidenum">
              <a:rPr lang="en-US" b="0"/>
              <a:t>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par>
                                <p:cTn id="20" presetID="10" presetClass="entr" presetSubtype="0" fill="hold"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400"/>
                                        <p:tgtEl>
                                          <p:spTgt spid="10"/>
                                        </p:tgtEl>
                                      </p:cBhvr>
                                    </p:animEffect>
                                  </p:childTnLst>
                                </p:cTn>
                              </p:par>
                              <p:par>
                                <p:cTn id="23" presetID="10" presetClass="entr" presetSubtype="0"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400"/>
                                        <p:tgtEl>
                                          <p:spTgt spid="11"/>
                                        </p:tgtEl>
                                      </p:cBhvr>
                                    </p:animEffect>
                                  </p:childTnLst>
                                </p:cTn>
                              </p:par>
                              <p:par>
                                <p:cTn id="26" presetID="10" presetClass="entr" presetSubtype="0" fill="hold"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400"/>
                                        <p:tgtEl>
                                          <p:spTgt spid="12"/>
                                        </p:tgtEl>
                                      </p:cBhvr>
                                    </p:animEffect>
                                  </p:childTnLst>
                                </p:cTn>
                              </p:par>
                              <p:par>
                                <p:cTn id="29" presetID="10" presetClass="entr" presetSubtype="0"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400"/>
                                        <p:tgtEl>
                                          <p:spTgt spid="13"/>
                                        </p:tgtEl>
                                      </p:cBhvr>
                                    </p:animEffect>
                                  </p:childTnLst>
                                </p:cTn>
                              </p:par>
                              <p:par>
                                <p:cTn id="32" presetID="10" presetClass="entr" presetSubtype="0" fill="hold"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par>
                                <p:cTn id="35" presetID="10" presetClass="entr" presetSubtype="0" fill="hold"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400"/>
                                        <p:tgtEl>
                                          <p:spTgt spid="15"/>
                                        </p:tgtEl>
                                      </p:cBhvr>
                                    </p:animEffect>
                                  </p:childTnLst>
                                </p:cTn>
                              </p:par>
                              <p:par>
                                <p:cTn id="38" presetID="10" presetClass="entr" presetSubtype="0" fill="hold"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400"/>
                                        <p:tgtEl>
                                          <p:spTgt spid="16"/>
                                        </p:tgtEl>
                                      </p:cBhvr>
                                    </p:animEffect>
                                  </p:childTnLst>
                                </p:cTn>
                              </p:par>
                              <p:par>
                                <p:cTn id="41" presetID="10" presetClass="entr" presetSubtype="0" fill="hold"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400"/>
                                        <p:tgtEl>
                                          <p:spTgt spid="17"/>
                                        </p:tgtEl>
                                      </p:cBhvr>
                                    </p:animEffect>
                                  </p:childTnLst>
                                </p:cTn>
                              </p:par>
                              <p:par>
                                <p:cTn id="44" presetID="10" presetClass="entr" presetSubtype="0" fill="hold" nodeType="with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400"/>
                                        <p:tgtEl>
                                          <p:spTgt spid="18"/>
                                        </p:tgtEl>
                                      </p:cBhvr>
                                    </p:animEffect>
                                  </p:childTnLst>
                                </p:cTn>
                              </p:par>
                              <p:par>
                                <p:cTn id="47" presetID="10" presetClass="entr" presetSubtype="0" fill="hold" nodeType="with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400"/>
                                        <p:tgtEl>
                                          <p:spTgt spid="19"/>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400"/>
                                        <p:tgtEl>
                                          <p:spTgt spid="20"/>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21"/>
                                        </p:tgtEl>
                                        <p:attrNameLst>
                                          <p:attrName>style.visibility</p:attrName>
                                        </p:attrNameLst>
                                      </p:cBhvr>
                                      <p:to>
                                        <p:strVal val="visible"/>
                                      </p:to>
                                    </p:set>
                                    <p:animEffect transition="in" filter="fade">
                                      <p:cBhvr>
                                        <p:cTn id="59"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00"/>
                                        <p:tgtEl>
                                          <p:spTgt spid="22"/>
                                        </p:tgtEl>
                                      </p:cBhvr>
                                    </p:animEffect>
                                  </p:childTnLst>
                                </p:cTn>
                              </p:par>
                              <p:par>
                                <p:cTn id="65" presetID="10" presetClass="entr" presetSubtype="0" fill="hold"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00"/>
                                        <p:tgtEl>
                                          <p:spTgt spid="23"/>
                                        </p:tgtEl>
                                      </p:cBhvr>
                                    </p:animEffect>
                                  </p:childTnLst>
                                </p:cTn>
                              </p:par>
                              <p:par>
                                <p:cTn id="68" presetID="10" presetClass="entr" presetSubtype="0" fill="hold"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00"/>
                                        <p:tgtEl>
                                          <p:spTgt spid="24"/>
                                        </p:tgtEl>
                                      </p:cBhvr>
                                    </p:animEffect>
                                  </p:childTnLst>
                                </p:cTn>
                              </p:par>
                              <p:par>
                                <p:cTn id="71" presetID="10" presetClass="entr" presetSubtype="0" fill="hold" nodeType="withEffect">
                                  <p:stCondLst>
                                    <p:cond delay="0"/>
                                  </p:stCondLst>
                                  <p:childTnLst>
                                    <p:set>
                                      <p:cBhvr>
                                        <p:cTn id="72" dur="1" fill="hold">
                                          <p:stCondLst>
                                            <p:cond delay="0"/>
                                          </p:stCondLst>
                                        </p:cTn>
                                        <p:tgtEl>
                                          <p:spTgt spid="25"/>
                                        </p:tgtEl>
                                        <p:attrNameLst>
                                          <p:attrName>style.visibility</p:attrName>
                                        </p:attrNameLst>
                                      </p:cBhvr>
                                      <p:to>
                                        <p:strVal val="visible"/>
                                      </p:to>
                                    </p:set>
                                    <p:animEffect transition="in" filter="fade">
                                      <p:cBhvr>
                                        <p:cTn id="73" dur="400"/>
                                        <p:tgtEl>
                                          <p:spTgt spid="25"/>
                                        </p:tgtEl>
                                      </p:cBhvr>
                                    </p:animEffect>
                                  </p:childTnLst>
                                </p:cTn>
                              </p:par>
                              <p:par>
                                <p:cTn id="74" presetID="10" presetClass="entr" presetSubtype="0" fill="hold" nodeType="withEffect">
                                  <p:stCondLst>
                                    <p:cond delay="0"/>
                                  </p:stCondLst>
                                  <p:childTnLst>
                                    <p:set>
                                      <p:cBhvr>
                                        <p:cTn id="75" dur="1" fill="hold">
                                          <p:stCondLst>
                                            <p:cond delay="0"/>
                                          </p:stCondLst>
                                        </p:cTn>
                                        <p:tgtEl>
                                          <p:spTgt spid="26"/>
                                        </p:tgtEl>
                                        <p:attrNameLst>
                                          <p:attrName>style.visibility</p:attrName>
                                        </p:attrNameLst>
                                      </p:cBhvr>
                                      <p:to>
                                        <p:strVal val="visible"/>
                                      </p:to>
                                    </p:set>
                                    <p:animEffect transition="in" filter="fade">
                                      <p:cBhvr>
                                        <p:cTn id="76"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56032"/>
            <a:ext cx="11064240" cy="292608"/>
          </a:xfrm>
          <a:prstGeom prst="rect">
            <a:avLst/>
          </a:prstGeom>
          <a:noFill/>
          <a:ln/>
        </p:spPr>
        <p:txBody>
          <a:bodyPr wrap="square" lIns="0" tIns="0" rIns="0" bIns="0" rtlCol="0" anchor="ctr"/>
          <a:lstStyle/>
          <a:p>
            <a:pPr marL="0" indent="0">
              <a:buNone/>
            </a:pPr>
            <a:r>
              <a:rPr lang="en-US" sz="1300" b="1" dirty="0">
                <a:solidFill>
                  <a:schemeClr val="accent4"/>
                </a:solidFill>
                <a:latin typeface="Times New Roman" pitchFamily="34" charset="0"/>
                <a:ea typeface="Times New Roman" pitchFamily="34" charset="-122"/>
                <a:cs typeface="Times New Roman" pitchFamily="34" charset="-120"/>
              </a:rPr>
              <a:t>1-mavzu · Kriptologiyaga kirish</a:t>
            </a:r>
            <a:endParaRPr lang="en-US" sz="1300" dirty="0"/>
          </a:p>
        </p:txBody>
      </p:sp>
      <p:sp>
        <p:nvSpPr>
          <p:cNvPr id="3" name="Text 1"/>
          <p:cNvSpPr>
            <a:spLocks noGrp="1"/>
          </p:cNvSpPr>
          <p:nvPr>
            <p:ph type="title" idx="102" hasCustomPrompt="1"/>
          </p:nvPr>
        </p:nvSpPr>
        <p:spPr>
          <a:xfrm>
            <a:off x="548640" y="530352"/>
            <a:ext cx="1106424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Kriptografiyaning asosiy maqsadlari</a:t>
            </a:r>
            <a:endParaRPr lang="en-US" sz="3200" dirty="0"/>
          </a:p>
        </p:txBody>
      </p:sp>
      <p:sp>
        <p:nvSpPr>
          <p:cNvPr id="5" name="A1_1"/>
          <p:cNvSpPr txBox="1"/>
          <p:nvPr/>
        </p:nvSpPr>
        <p:spPr>
          <a:xfrm>
            <a:off x="548640" y="1417320"/>
            <a:ext cx="2670048" cy="566928"/>
          </a:xfrm>
          <a:prstGeom prst="roundRect">
            <a:avLst>
              <a:gd name="adj" fmla="val 12903"/>
            </a:avLst>
          </a:prstGeom>
          <a:solidFill>
            <a:schemeClr val="accent4"/>
          </a:solidFill>
          <a:ln>
            <a:solidFill>
              <a:schemeClr val="accent4"/>
            </a:solidFill>
          </a:ln>
        </p:spPr>
        <p:txBody>
          <a:bodyPr wrap="square" lIns="25400" tIns="25400" rIns="25400" bIns="25400" rtlCol="0" anchor="ctr"/>
          <a:lstStyle/>
          <a:p>
            <a:pPr marL="0" indent="0" algn="ctr">
              <a:buNone/>
            </a:pPr>
            <a:r>
              <a:rPr lang="en-US" sz="1900" b="1" dirty="0">
                <a:solidFill>
                  <a:schemeClr val="bg1"/>
                </a:solidFill>
                <a:latin typeface="Cambria" pitchFamily="34" charset="0"/>
                <a:ea typeface="Cambria" pitchFamily="34" charset="-122"/>
                <a:cs typeface="Cambria" pitchFamily="34" charset="-120"/>
              </a:rPr>
              <a:t>1. Maxfiylik</a:t>
            </a:r>
            <a:endParaRPr lang="en-US" sz="1900" dirty="0"/>
          </a:p>
        </p:txBody>
      </p:sp>
      <p:sp>
        <p:nvSpPr>
          <p:cNvPr id="6" name="A1_2"/>
          <p:cNvSpPr txBox="1"/>
          <p:nvPr/>
        </p:nvSpPr>
        <p:spPr>
          <a:xfrm>
            <a:off x="548640" y="2057400"/>
            <a:ext cx="2670048" cy="2697480"/>
          </a:xfrm>
          <a:prstGeom prst="roundRect">
            <a:avLst>
              <a:gd name="adj" fmla="val 2740"/>
            </a:avLst>
          </a:prstGeom>
          <a:solidFill>
            <a:schemeClr val="accent4">
              <a:alpha val="12000"/>
            </a:schemeClr>
          </a:solidFill>
          <a:ln>
            <a:solidFill>
              <a:schemeClr val="accent4">
                <a:alpha val="0"/>
              </a:schemeClr>
            </a:solidFill>
          </a:ln>
        </p:spPr>
        <p:txBody>
          <a:bodyPr wrap="square" lIns="76200" tIns="127000" rIns="127000" bIns="76200" rtlCol="0" anchor="t"/>
          <a:lstStyle/>
          <a:p>
            <a:pPr marL="0" indent="0" algn="l">
              <a:spcAft>
                <a:spcPts val="300"/>
              </a:spcAft>
              <a:buNone/>
            </a:pPr>
            <a:r>
              <a:rPr lang="en-US" sz="1300" i="1" dirty="0">
                <a:solidFill>
                  <a:srgbClr val="6B7280"/>
                </a:solidFill>
              </a:rPr>
              <a:t>конфиденциальность / confidentiality</a:t>
            </a:r>
            <a:endParaRPr lang="en-US" sz="1300" dirty="0"/>
          </a:p>
          <a:p>
            <a:pPr marL="0" indent="0" algn="l">
              <a:spcAft>
                <a:spcPts val="300"/>
              </a:spcAft>
              <a:buNone/>
            </a:pPr>
            <a:r>
              <a:rPr lang="en-US" sz="1500" b="1" dirty="0">
                <a:solidFill>
                  <a:schemeClr val="tx1"/>
                </a:solidFill>
              </a:rPr>
              <a:t>Savol: </a:t>
            </a:r>
            <a:endParaRPr lang="en-US" sz="1300" dirty="0"/>
          </a:p>
          <a:p>
            <a:pPr marL="0" indent="0" algn="l">
              <a:spcAft>
                <a:spcPts val="300"/>
              </a:spcAft>
              <a:buNone/>
            </a:pPr>
            <a:r>
              <a:rPr lang="en-US" sz="1500" dirty="0">
                <a:solidFill>
                  <a:schemeClr val="tx1"/>
                </a:solidFill>
              </a:rPr>
              <a:t>Begona xabarni o‘qiy olmaydimi?</a:t>
            </a:r>
            <a:endParaRPr lang="en-US" sz="1300" dirty="0"/>
          </a:p>
          <a:p>
            <a:pPr marL="0" indent="0" algn="l">
              <a:spcAft>
                <a:spcPts val="300"/>
              </a:spcAft>
              <a:buNone/>
            </a:pPr>
            <a:r>
              <a:rPr lang="en-US" sz="1500" b="1" dirty="0">
                <a:solidFill>
                  <a:schemeClr val="tx1"/>
                </a:solidFill>
              </a:rPr>
              <a:t>Misol: </a:t>
            </a:r>
            <a:endParaRPr lang="en-US" sz="1300" dirty="0"/>
          </a:p>
          <a:p>
            <a:pPr marL="0" indent="0" algn="l">
              <a:spcAft>
                <a:spcPts val="300"/>
              </a:spcAft>
              <a:buNone/>
            </a:pPr>
            <a:r>
              <a:rPr lang="en-US" sz="1500" dirty="0">
                <a:solidFill>
                  <a:schemeClr val="tx1"/>
                </a:solidFill>
              </a:rPr>
              <a:t>Tahlil natijasini faqat bemor ko‘radi</a:t>
            </a:r>
            <a:endParaRPr lang="en-US" sz="1300" dirty="0"/>
          </a:p>
          <a:p>
            <a:pPr marL="0" indent="0" algn="l">
              <a:spcAft>
                <a:spcPts val="300"/>
              </a:spcAft>
              <a:buNone/>
            </a:pPr>
            <a:r>
              <a:rPr lang="en-US" sz="1500" b="1" dirty="0">
                <a:solidFill>
                  <a:schemeClr val="accent4"/>
                </a:solidFill>
              </a:rPr>
              <a:t>Vosita: </a:t>
            </a:r>
            <a:endParaRPr lang="en-US" sz="1300" dirty="0"/>
          </a:p>
          <a:p>
            <a:pPr marL="0" indent="0" algn="l">
              <a:spcAft>
                <a:spcPts val="300"/>
              </a:spcAft>
              <a:buNone/>
            </a:pPr>
            <a:r>
              <a:rPr lang="en-US" sz="1500" b="1" dirty="0">
                <a:solidFill>
                  <a:schemeClr val="accent4"/>
                </a:solidFill>
              </a:rPr>
              <a:t>Shifrlash (7–32)</a:t>
            </a:r>
            <a:endParaRPr lang="en-US" sz="1300" dirty="0"/>
          </a:p>
        </p:txBody>
      </p:sp>
      <p:sp>
        <p:nvSpPr>
          <p:cNvPr id="7" name="A2_3"/>
          <p:cNvSpPr txBox="1"/>
          <p:nvPr/>
        </p:nvSpPr>
        <p:spPr>
          <a:xfrm>
            <a:off x="3355848" y="1417320"/>
            <a:ext cx="2670048" cy="566928"/>
          </a:xfrm>
          <a:prstGeom prst="roundRect">
            <a:avLst>
              <a:gd name="adj" fmla="val 12903"/>
            </a:avLst>
          </a:prstGeom>
          <a:solidFill>
            <a:schemeClr val="accent2"/>
          </a:solidFill>
          <a:ln>
            <a:solidFill>
              <a:schemeClr val="accent2"/>
            </a:solidFill>
          </a:ln>
        </p:spPr>
        <p:txBody>
          <a:bodyPr wrap="square" lIns="25400" tIns="25400" rIns="25400" bIns="25400" rtlCol="0" anchor="ctr"/>
          <a:lstStyle/>
          <a:p>
            <a:pPr marL="0" indent="0" algn="ctr">
              <a:buNone/>
            </a:pPr>
            <a:r>
              <a:rPr lang="en-US" sz="1900" b="1" dirty="0">
                <a:solidFill>
                  <a:schemeClr val="bg1"/>
                </a:solidFill>
                <a:latin typeface="Cambria" pitchFamily="34" charset="0"/>
                <a:ea typeface="Cambria" pitchFamily="34" charset="-122"/>
                <a:cs typeface="Cambria" pitchFamily="34" charset="-120"/>
              </a:rPr>
              <a:t>2. Butunlik</a:t>
            </a:r>
            <a:endParaRPr lang="en-US" sz="1900" dirty="0"/>
          </a:p>
        </p:txBody>
      </p:sp>
      <p:sp>
        <p:nvSpPr>
          <p:cNvPr id="8" name="A2_4"/>
          <p:cNvSpPr txBox="1"/>
          <p:nvPr/>
        </p:nvSpPr>
        <p:spPr>
          <a:xfrm>
            <a:off x="3355848" y="2057400"/>
            <a:ext cx="2670048" cy="2697480"/>
          </a:xfrm>
          <a:prstGeom prst="roundRect">
            <a:avLst>
              <a:gd name="adj" fmla="val 2740"/>
            </a:avLst>
          </a:prstGeom>
          <a:solidFill>
            <a:schemeClr val="accent2">
              <a:alpha val="12000"/>
            </a:schemeClr>
          </a:solidFill>
          <a:ln>
            <a:solidFill>
              <a:schemeClr val="accent2">
                <a:alpha val="0"/>
              </a:schemeClr>
            </a:solidFill>
          </a:ln>
        </p:spPr>
        <p:txBody>
          <a:bodyPr wrap="square" lIns="76200" tIns="127000" rIns="127000" bIns="76200" rtlCol="0" anchor="t"/>
          <a:lstStyle/>
          <a:p>
            <a:pPr marL="0" indent="0" algn="l">
              <a:spcAft>
                <a:spcPts val="300"/>
              </a:spcAft>
              <a:buNone/>
            </a:pPr>
            <a:r>
              <a:rPr lang="en-US" sz="1300" i="1" dirty="0">
                <a:solidFill>
                  <a:srgbClr val="6B7280"/>
                </a:solidFill>
              </a:rPr>
              <a:t>целостность / integrity</a:t>
            </a:r>
            <a:endParaRPr lang="en-US" sz="1300" dirty="0"/>
          </a:p>
          <a:p>
            <a:pPr marL="0" indent="0" algn="l">
              <a:spcAft>
                <a:spcPts val="300"/>
              </a:spcAft>
              <a:buNone/>
            </a:pPr>
            <a:r>
              <a:rPr lang="en-US" sz="1500" b="1" dirty="0">
                <a:solidFill>
                  <a:schemeClr val="tx1"/>
                </a:solidFill>
              </a:rPr>
              <a:t>Savol: </a:t>
            </a:r>
            <a:endParaRPr lang="en-US" sz="1300" dirty="0"/>
          </a:p>
          <a:p>
            <a:pPr marL="0" indent="0" algn="l">
              <a:spcAft>
                <a:spcPts val="300"/>
              </a:spcAft>
              <a:buNone/>
            </a:pPr>
            <a:r>
              <a:rPr lang="en-US" sz="1500" dirty="0">
                <a:solidFill>
                  <a:schemeClr val="tx1"/>
                </a:solidFill>
              </a:rPr>
              <a:t>Xabar yo‘lda o‘zgarmadimi?</a:t>
            </a:r>
            <a:endParaRPr lang="en-US" sz="1300" dirty="0"/>
          </a:p>
          <a:p>
            <a:pPr marL="0" indent="0" algn="l">
              <a:spcAft>
                <a:spcPts val="300"/>
              </a:spcAft>
              <a:buNone/>
            </a:pPr>
            <a:r>
              <a:rPr lang="en-US" sz="1500" b="1" dirty="0">
                <a:solidFill>
                  <a:schemeClr val="tx1"/>
                </a:solidFill>
              </a:rPr>
              <a:t>Misol: </a:t>
            </a:r>
            <a:endParaRPr lang="en-US" sz="1300" dirty="0"/>
          </a:p>
          <a:p>
            <a:pPr marL="0" indent="0" algn="l">
              <a:spcAft>
                <a:spcPts val="300"/>
              </a:spcAft>
              <a:buNone/>
            </a:pPr>
            <a:r>
              <a:rPr lang="en-US" sz="1500" dirty="0">
                <a:solidFill>
                  <a:schemeClr val="tx1"/>
                </a:solidFill>
              </a:rPr>
              <a:t>“100 so‘m” “100 000 so‘m”ga aylanmasin</a:t>
            </a:r>
            <a:endParaRPr lang="en-US" sz="1300" dirty="0"/>
          </a:p>
          <a:p>
            <a:pPr marL="0" indent="0" algn="l">
              <a:spcAft>
                <a:spcPts val="300"/>
              </a:spcAft>
              <a:buNone/>
            </a:pPr>
            <a:r>
              <a:rPr lang="en-US" sz="1500" b="1" dirty="0">
                <a:solidFill>
                  <a:schemeClr val="accent2"/>
                </a:solidFill>
              </a:rPr>
              <a:t>Vosita: </a:t>
            </a:r>
            <a:endParaRPr lang="en-US" sz="1300" dirty="0"/>
          </a:p>
          <a:p>
            <a:pPr marL="0" indent="0" algn="l">
              <a:spcAft>
                <a:spcPts val="300"/>
              </a:spcAft>
              <a:buNone/>
            </a:pPr>
            <a:r>
              <a:rPr lang="en-US" sz="1500" b="1" dirty="0">
                <a:solidFill>
                  <a:schemeClr val="accent2"/>
                </a:solidFill>
              </a:rPr>
              <a:t>Xesh, MAC (33–34)</a:t>
            </a:r>
            <a:endParaRPr lang="en-US" sz="1300" dirty="0"/>
          </a:p>
        </p:txBody>
      </p:sp>
      <p:sp>
        <p:nvSpPr>
          <p:cNvPr id="9" name="A3_5"/>
          <p:cNvSpPr txBox="1"/>
          <p:nvPr/>
        </p:nvSpPr>
        <p:spPr>
          <a:xfrm>
            <a:off x="6163056" y="1417320"/>
            <a:ext cx="2670048" cy="566928"/>
          </a:xfrm>
          <a:prstGeom prst="roundRect">
            <a:avLst>
              <a:gd name="adj" fmla="val 12903"/>
            </a:avLst>
          </a:prstGeom>
          <a:solidFill>
            <a:schemeClr val="accent6"/>
          </a:solidFill>
          <a:ln>
            <a:solidFill>
              <a:schemeClr val="accent6"/>
            </a:solidFill>
          </a:ln>
        </p:spPr>
        <p:txBody>
          <a:bodyPr wrap="square" lIns="25400" tIns="25400" rIns="25400" bIns="25400" rtlCol="0" anchor="ctr"/>
          <a:lstStyle/>
          <a:p>
            <a:pPr marL="0" indent="0" algn="ctr">
              <a:buNone/>
            </a:pPr>
            <a:r>
              <a:rPr lang="en-US" sz="1900" b="1" dirty="0">
                <a:solidFill>
                  <a:schemeClr val="bg1"/>
                </a:solidFill>
                <a:latin typeface="Cambria" pitchFamily="34" charset="0"/>
                <a:ea typeface="Cambria" pitchFamily="34" charset="-122"/>
                <a:cs typeface="Cambria" pitchFamily="34" charset="-120"/>
              </a:rPr>
              <a:t>3. Autentifikatsiya</a:t>
            </a:r>
            <a:endParaRPr lang="en-US" sz="1900" dirty="0"/>
          </a:p>
        </p:txBody>
      </p:sp>
      <p:sp>
        <p:nvSpPr>
          <p:cNvPr id="10" name="A3_6"/>
          <p:cNvSpPr txBox="1"/>
          <p:nvPr/>
        </p:nvSpPr>
        <p:spPr>
          <a:xfrm>
            <a:off x="6163056" y="2057400"/>
            <a:ext cx="2670048" cy="2697480"/>
          </a:xfrm>
          <a:prstGeom prst="roundRect">
            <a:avLst>
              <a:gd name="adj" fmla="val 2740"/>
            </a:avLst>
          </a:prstGeom>
          <a:solidFill>
            <a:schemeClr val="accent6">
              <a:alpha val="12000"/>
            </a:schemeClr>
          </a:solidFill>
          <a:ln>
            <a:solidFill>
              <a:schemeClr val="accent6">
                <a:alpha val="0"/>
              </a:schemeClr>
            </a:solidFill>
          </a:ln>
        </p:spPr>
        <p:txBody>
          <a:bodyPr wrap="square" lIns="76200" tIns="127000" rIns="127000" bIns="76200" rtlCol="0" anchor="t"/>
          <a:lstStyle/>
          <a:p>
            <a:pPr marL="0" indent="0" algn="l">
              <a:spcAft>
                <a:spcPts val="300"/>
              </a:spcAft>
              <a:buNone/>
            </a:pPr>
            <a:r>
              <a:rPr lang="en-US" sz="1300" i="1" dirty="0">
                <a:solidFill>
                  <a:srgbClr val="6B7280"/>
                </a:solidFill>
              </a:rPr>
              <a:t>аутентификация / authentication</a:t>
            </a:r>
            <a:endParaRPr lang="en-US" sz="1300" dirty="0"/>
          </a:p>
          <a:p>
            <a:pPr marL="0" indent="0" algn="l">
              <a:spcAft>
                <a:spcPts val="300"/>
              </a:spcAft>
              <a:buNone/>
            </a:pPr>
            <a:r>
              <a:rPr lang="en-US" sz="1500" b="1" dirty="0">
                <a:solidFill>
                  <a:schemeClr val="tx1"/>
                </a:solidFill>
              </a:rPr>
              <a:t>Savol: </a:t>
            </a:r>
            <a:endParaRPr lang="en-US" sz="1300" dirty="0"/>
          </a:p>
          <a:p>
            <a:pPr marL="0" indent="0" algn="l">
              <a:spcAft>
                <a:spcPts val="300"/>
              </a:spcAft>
              <a:buNone/>
            </a:pPr>
            <a:r>
              <a:rPr lang="en-US" sz="1500" dirty="0">
                <a:solidFill>
                  <a:schemeClr val="tx1"/>
                </a:solidFill>
              </a:rPr>
              <a:t>Xabarni haqiqatan kim yubordi?</a:t>
            </a:r>
            <a:endParaRPr lang="en-US" sz="1300" dirty="0"/>
          </a:p>
          <a:p>
            <a:pPr marL="0" indent="0" algn="l">
              <a:spcAft>
                <a:spcPts val="300"/>
              </a:spcAft>
              <a:buNone/>
            </a:pPr>
            <a:r>
              <a:rPr lang="en-US" sz="1500" b="1" dirty="0">
                <a:solidFill>
                  <a:schemeClr val="tx1"/>
                </a:solidFill>
              </a:rPr>
              <a:t>Misol: </a:t>
            </a:r>
            <a:endParaRPr lang="en-US" sz="1300" dirty="0"/>
          </a:p>
          <a:p>
            <a:pPr marL="0" indent="0" algn="l">
              <a:spcAft>
                <a:spcPts val="300"/>
              </a:spcAft>
              <a:buNone/>
            </a:pPr>
            <a:r>
              <a:rPr lang="en-US" sz="1500" dirty="0">
                <a:solidFill>
                  <a:schemeClr val="tx1"/>
                </a:solidFill>
              </a:rPr>
              <a:t>“Bankdan” kelgan SMS firibgarnikimi?</a:t>
            </a:r>
            <a:endParaRPr lang="en-US" sz="1300" dirty="0"/>
          </a:p>
          <a:p>
            <a:pPr marL="0" indent="0" algn="l">
              <a:spcAft>
                <a:spcPts val="300"/>
              </a:spcAft>
              <a:buNone/>
            </a:pPr>
            <a:r>
              <a:rPr lang="en-US" sz="1500" b="1" dirty="0">
                <a:solidFill>
                  <a:schemeClr val="accent6"/>
                </a:solidFill>
              </a:rPr>
              <a:t>Vosita: </a:t>
            </a:r>
            <a:endParaRPr lang="en-US" sz="1300" dirty="0"/>
          </a:p>
          <a:p>
            <a:pPr marL="0" indent="0" algn="l">
              <a:spcAft>
                <a:spcPts val="300"/>
              </a:spcAft>
              <a:buNone/>
            </a:pPr>
            <a:r>
              <a:rPr lang="en-US" sz="1500" b="1" dirty="0">
                <a:solidFill>
                  <a:schemeClr val="accent6"/>
                </a:solidFill>
              </a:rPr>
              <a:t>MAC, imzo (34–35)</a:t>
            </a:r>
            <a:endParaRPr lang="en-US" sz="1300" dirty="0"/>
          </a:p>
        </p:txBody>
      </p:sp>
      <p:sp>
        <p:nvSpPr>
          <p:cNvPr id="11" name="A4_7"/>
          <p:cNvSpPr txBox="1"/>
          <p:nvPr/>
        </p:nvSpPr>
        <p:spPr>
          <a:xfrm>
            <a:off x="8970264" y="1417320"/>
            <a:ext cx="2670048" cy="566928"/>
          </a:xfrm>
          <a:prstGeom prst="roundRect">
            <a:avLst>
              <a:gd name="adj" fmla="val 12903"/>
            </a:avLst>
          </a:prstGeom>
          <a:solidFill>
            <a:schemeClr val="accent3"/>
          </a:solidFill>
          <a:ln>
            <a:solidFill>
              <a:schemeClr val="accent3"/>
            </a:solidFill>
          </a:ln>
        </p:spPr>
        <p:txBody>
          <a:bodyPr wrap="square" lIns="25400" tIns="25400" rIns="25400" bIns="25400" rtlCol="0" anchor="ctr"/>
          <a:lstStyle/>
          <a:p>
            <a:pPr marL="0" indent="0" algn="ctr">
              <a:buNone/>
            </a:pPr>
            <a:r>
              <a:rPr lang="en-US" sz="1900" b="1" dirty="0">
                <a:solidFill>
                  <a:schemeClr val="bg1"/>
                </a:solidFill>
                <a:latin typeface="Cambria" pitchFamily="34" charset="0"/>
                <a:ea typeface="Cambria" pitchFamily="34" charset="-122"/>
                <a:cs typeface="Cambria" pitchFamily="34" charset="-120"/>
              </a:rPr>
              <a:t>4. Rad eta olmaslik</a:t>
            </a:r>
            <a:endParaRPr lang="en-US" sz="1900" dirty="0"/>
          </a:p>
        </p:txBody>
      </p:sp>
      <p:sp>
        <p:nvSpPr>
          <p:cNvPr id="12" name="A4_8"/>
          <p:cNvSpPr txBox="1"/>
          <p:nvPr/>
        </p:nvSpPr>
        <p:spPr>
          <a:xfrm>
            <a:off x="8970264" y="2057400"/>
            <a:ext cx="2670048" cy="2697480"/>
          </a:xfrm>
          <a:prstGeom prst="roundRect">
            <a:avLst>
              <a:gd name="adj" fmla="val 2740"/>
            </a:avLst>
          </a:prstGeom>
          <a:solidFill>
            <a:schemeClr val="accent3">
              <a:alpha val="12000"/>
            </a:schemeClr>
          </a:solidFill>
          <a:ln>
            <a:solidFill>
              <a:schemeClr val="accent3">
                <a:alpha val="0"/>
              </a:schemeClr>
            </a:solidFill>
          </a:ln>
        </p:spPr>
        <p:txBody>
          <a:bodyPr wrap="square" lIns="76200" tIns="127000" rIns="127000" bIns="76200" rtlCol="0" anchor="t"/>
          <a:lstStyle/>
          <a:p>
            <a:pPr marL="0" indent="0" algn="l">
              <a:spcAft>
                <a:spcPts val="300"/>
              </a:spcAft>
              <a:buNone/>
            </a:pPr>
            <a:r>
              <a:rPr lang="en-US" sz="1300" i="1" dirty="0">
                <a:solidFill>
                  <a:srgbClr val="6B7280"/>
                </a:solidFill>
              </a:rPr>
              <a:t>неотказуемость / non-repudiation</a:t>
            </a:r>
            <a:endParaRPr lang="en-US" sz="1300" dirty="0"/>
          </a:p>
          <a:p>
            <a:pPr marL="0" indent="0" algn="l">
              <a:spcAft>
                <a:spcPts val="300"/>
              </a:spcAft>
              <a:buNone/>
            </a:pPr>
            <a:r>
              <a:rPr lang="en-US" sz="1500" b="1" dirty="0">
                <a:solidFill>
                  <a:schemeClr val="tx1"/>
                </a:solidFill>
              </a:rPr>
              <a:t>Savol: </a:t>
            </a:r>
            <a:endParaRPr lang="en-US" sz="1300" dirty="0"/>
          </a:p>
          <a:p>
            <a:pPr marL="0" indent="0" algn="l">
              <a:spcAft>
                <a:spcPts val="300"/>
              </a:spcAft>
              <a:buNone/>
            </a:pPr>
            <a:r>
              <a:rPr lang="en-US" sz="1500" dirty="0">
                <a:solidFill>
                  <a:schemeClr val="tx1"/>
                </a:solidFill>
              </a:rPr>
              <a:t>Muallif “men yubormaganman” deya oladimi?</a:t>
            </a:r>
            <a:endParaRPr lang="en-US" sz="1300" dirty="0"/>
          </a:p>
          <a:p>
            <a:pPr marL="0" indent="0" algn="l">
              <a:spcAft>
                <a:spcPts val="300"/>
              </a:spcAft>
              <a:buNone/>
            </a:pPr>
            <a:r>
              <a:rPr lang="en-US" sz="1500" b="1" dirty="0">
                <a:solidFill>
                  <a:schemeClr val="tx1"/>
                </a:solidFill>
              </a:rPr>
              <a:t>Misol: </a:t>
            </a:r>
            <a:endParaRPr lang="en-US" sz="1300" dirty="0"/>
          </a:p>
          <a:p>
            <a:pPr marL="0" indent="0" algn="l">
              <a:spcAft>
                <a:spcPts val="300"/>
              </a:spcAft>
              <a:buNone/>
            </a:pPr>
            <a:r>
              <a:rPr lang="en-US" sz="1500" dirty="0">
                <a:solidFill>
                  <a:schemeClr val="tx1"/>
                </a:solidFill>
              </a:rPr>
              <a:t>Elektron imzoli shartnoma</a:t>
            </a:r>
            <a:endParaRPr lang="en-US" sz="1300" dirty="0"/>
          </a:p>
          <a:p>
            <a:pPr marL="0" indent="0" algn="l">
              <a:spcAft>
                <a:spcPts val="300"/>
              </a:spcAft>
              <a:buNone/>
            </a:pPr>
            <a:r>
              <a:rPr lang="en-US" sz="1500" b="1" dirty="0">
                <a:solidFill>
                  <a:schemeClr val="accent3"/>
                </a:solidFill>
              </a:rPr>
              <a:t>Vosita: </a:t>
            </a:r>
            <a:endParaRPr lang="en-US" sz="1300" dirty="0"/>
          </a:p>
          <a:p>
            <a:pPr marL="0" indent="0" algn="l">
              <a:spcAft>
                <a:spcPts val="300"/>
              </a:spcAft>
              <a:buNone/>
            </a:pPr>
            <a:r>
              <a:rPr lang="en-US" sz="1500" b="1" dirty="0">
                <a:solidFill>
                  <a:schemeClr val="accent3"/>
                </a:solidFill>
              </a:rPr>
              <a:t>Raqamli imzo (35)</a:t>
            </a:r>
            <a:endParaRPr lang="en-US" sz="1300" dirty="0"/>
          </a:p>
        </p:txBody>
      </p:sp>
      <p:sp>
        <p:nvSpPr>
          <p:cNvPr id="13" name="A5_9"/>
          <p:cNvSpPr txBox="1"/>
          <p:nvPr/>
        </p:nvSpPr>
        <p:spPr>
          <a:xfrm>
            <a:off x="548640" y="4892040"/>
            <a:ext cx="11109960" cy="1280160"/>
          </a:xfrm>
          <a:prstGeom prst="roundRect">
            <a:avLst>
              <a:gd name="adj" fmla="val 5714"/>
            </a:avLst>
          </a:prstGeom>
          <a:solidFill>
            <a:schemeClr val="accent1">
              <a:alpha val="12000"/>
            </a:schemeClr>
          </a:solidFill>
          <a:ln>
            <a:solidFill>
              <a:schemeClr val="accent1">
                <a:alpha val="0"/>
              </a:schemeClr>
            </a:solidFill>
          </a:ln>
        </p:spPr>
        <p:txBody>
          <a:bodyPr wrap="square" lIns="76200" tIns="127000" rIns="127000" bIns="76200" rtlCol="0" anchor="t"/>
          <a:lstStyle/>
          <a:p>
            <a:pPr marL="0" indent="0" algn="l">
              <a:spcAft>
                <a:spcPts val="300"/>
              </a:spcAft>
              <a:buNone/>
            </a:pPr>
            <a:r>
              <a:rPr lang="en-US" sz="1700" b="1" dirty="0">
                <a:solidFill>
                  <a:srgbClr val="9A6A12"/>
                </a:solidFill>
              </a:rPr>
              <a:t>Yordamchi vazifa: kalitlarni boshqarish (управление ключами / key management)</a:t>
            </a:r>
            <a:endParaRPr lang="en-US" sz="1700" dirty="0"/>
          </a:p>
          <a:p>
            <a:pPr marL="0" indent="0" algn="l">
              <a:spcAft>
                <a:spcPts val="300"/>
              </a:spcAft>
              <a:buNone/>
            </a:pPr>
            <a:r>
              <a:rPr lang="en-US" sz="1500" dirty="0">
                <a:solidFill>
                  <a:schemeClr val="tx1"/>
                </a:solidFill>
              </a:rPr>
              <a:t>Izoh: bu maqsad emas, to‘rt maqsadning ishlashi uchun shart: ular kalit tasodifiy yaratilgan va xavfsiz yetkazilgan bo‘lsagina ta’minlanadi. Vositalar: tasodifiy sonlar generatori (17), Diffi–Xellman (30), PKI (35).</a:t>
            </a:r>
            <a:endParaRPr lang="en-US" sz="17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D99AE"/>
                </a:solidFill>
                <a:latin typeface="Times New Roman"/>
                <a:ea typeface="Times New Roman"/>
                <a:cs typeface="Times New Roman"/>
              </a:defRPr>
            </a:lvl1pPr>
          </a:lstStyle>
          <a:p>
            <a:pPr algn="r"/>
            <a:fld id="{F7021451-1387-4CA6-816F-3879F97B5CBC}" type="slidenum">
              <a:rPr lang="en-US" b="0"/>
              <a:t>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400"/>
                                        <p:tgtEl>
                                          <p:spTgt spid="7"/>
                                        </p:tgtEl>
                                      </p:cBhvr>
                                    </p:animEffect>
                                  </p:childTnLst>
                                </p:cTn>
                              </p:par>
                              <p:par>
                                <p:cTn id="16" presetID="10" presetClass="entr" presetSubtype="0" fill="hold"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4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400"/>
                                        <p:tgtEl>
                                          <p:spTgt spid="9"/>
                                        </p:tgtEl>
                                      </p:cBhvr>
                                    </p:animEffect>
                                  </p:childTnLst>
                                </p:cTn>
                              </p:par>
                              <p:par>
                                <p:cTn id="24" presetID="10" presetClass="entr" presetSubtype="0" fill="hold"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400"/>
                                        <p:tgtEl>
                                          <p:spTgt spid="10"/>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400"/>
                                        <p:tgtEl>
                                          <p:spTgt spid="11"/>
                                        </p:tgtEl>
                                      </p:cBhvr>
                                    </p:animEffect>
                                  </p:childTnLst>
                                </p:cTn>
                              </p:par>
                              <p:par>
                                <p:cTn id="32" presetID="10" presetClass="entr" presetSubtype="0" fill="hold"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400"/>
                                        <p:tgtEl>
                                          <p:spTgt spid="12"/>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56032"/>
            <a:ext cx="11064240" cy="292608"/>
          </a:xfrm>
          <a:prstGeom prst="rect">
            <a:avLst/>
          </a:prstGeom>
          <a:noFill/>
          <a:ln/>
        </p:spPr>
        <p:txBody>
          <a:bodyPr wrap="square" lIns="0" tIns="0" rIns="0" bIns="0" rtlCol="0" anchor="ctr"/>
          <a:lstStyle/>
          <a:p>
            <a:pPr marL="0" indent="0">
              <a:buNone/>
            </a:pPr>
            <a:r>
              <a:rPr lang="en-US" sz="1300" b="1" dirty="0">
                <a:solidFill>
                  <a:schemeClr val="accent4"/>
                </a:solidFill>
                <a:latin typeface="Times New Roman" pitchFamily="34" charset="0"/>
                <a:ea typeface="Times New Roman" pitchFamily="34" charset="-122"/>
                <a:cs typeface="Times New Roman" pitchFamily="34" charset="-120"/>
              </a:rPr>
              <a:t>2-mavzu · Matnni sonlarga aylantirish</a:t>
            </a:r>
            <a:endParaRPr lang="en-US" sz="1300" dirty="0"/>
          </a:p>
        </p:txBody>
      </p:sp>
      <p:sp>
        <p:nvSpPr>
          <p:cNvPr id="3" name="Text 1"/>
          <p:cNvSpPr>
            <a:spLocks noGrp="1"/>
          </p:cNvSpPr>
          <p:nvPr>
            <p:ph type="title" idx="102" hasCustomPrompt="1"/>
          </p:nvPr>
        </p:nvSpPr>
        <p:spPr>
          <a:xfrm>
            <a:off x="548640" y="530352"/>
            <a:ext cx="1106424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Ikki yondashuv — bitta g‘oya: modul bo‘yicha qo‘shish</a:t>
            </a:r>
            <a:endParaRPr lang="en-US" sz="3200" dirty="0"/>
          </a:p>
        </p:txBody>
      </p:sp>
      <p:sp>
        <p:nvSpPr>
          <p:cNvPr id="5" name="A1_91"/>
          <p:cNvSpPr txBox="1"/>
          <p:nvPr/>
        </p:nvSpPr>
        <p:spPr>
          <a:xfrm>
            <a:off x="548640" y="1417320"/>
            <a:ext cx="10972800" cy="365760"/>
          </a:xfrm>
          <a:prstGeom prst="rect">
            <a:avLst/>
          </a:prstGeom>
          <a:noFill/>
          <a:ln/>
        </p:spPr>
        <p:txBody>
          <a:bodyPr wrap="square" lIns="0" tIns="0" rIns="0" bIns="0" rtlCol="0" anchor="ctr"/>
          <a:lstStyle/>
          <a:p>
            <a:pPr marL="0" indent="0" algn="l">
              <a:buNone/>
            </a:pPr>
            <a:r>
              <a:rPr lang="en-US" sz="1700" b="1" dirty="0">
                <a:solidFill>
                  <a:schemeClr val="accent4"/>
                </a:solidFill>
              </a:rPr>
              <a:t>Klassik: harf → 0…25, qo‘shish mod 26</a:t>
            </a:r>
            <a:endParaRPr lang="en-US" sz="1700" dirty="0"/>
          </a:p>
        </p:txBody>
      </p:sp>
      <p:sp>
        <p:nvSpPr>
          <p:cNvPr id="6" name="A1_92"/>
          <p:cNvSpPr txBox="1"/>
          <p:nvPr/>
        </p:nvSpPr>
        <p:spPr>
          <a:xfrm>
            <a:off x="548640" y="1874520"/>
            <a:ext cx="1554480" cy="640080"/>
          </a:xfrm>
          <a:prstGeom prst="roundRect">
            <a:avLst>
              <a:gd name="adj" fmla="val 8571"/>
            </a:avLst>
          </a:prstGeom>
          <a:solidFill>
            <a:schemeClr val="accent5">
              <a:alpha val="15000"/>
            </a:schemeClr>
          </a:solidFill>
          <a:ln w="15875">
            <a:solidFill>
              <a:schemeClr val="accent5"/>
            </a:solidFill>
          </a:ln>
        </p:spPr>
        <p:txBody>
          <a:bodyPr wrap="square" lIns="25400" tIns="25400" rIns="25400" bIns="25400" rtlCol="0" anchor="ctr"/>
          <a:lstStyle/>
          <a:p>
            <a:pPr marL="0" indent="0" algn="ctr">
              <a:buNone/>
            </a:pPr>
            <a:r>
              <a:rPr lang="en-US" sz="1600" b="1" dirty="0">
                <a:solidFill>
                  <a:schemeClr val="tx1"/>
                </a:solidFill>
                <a:latin typeface="Courier New" pitchFamily="34" charset="0"/>
                <a:ea typeface="Courier New" pitchFamily="34" charset="-122"/>
                <a:cs typeface="Courier New" pitchFamily="34" charset="-120"/>
              </a:rPr>
              <a:t>HELLO</a:t>
            </a:r>
            <a:endParaRPr lang="en-US" sz="1600" dirty="0"/>
          </a:p>
        </p:txBody>
      </p:sp>
      <p:sp>
        <p:nvSpPr>
          <p:cNvPr id="7" name="A1_93"/>
          <p:cNvSpPr txBox="1"/>
          <p:nvPr/>
        </p:nvSpPr>
        <p:spPr>
          <a:xfrm>
            <a:off x="3017520" y="1874520"/>
            <a:ext cx="2194560" cy="640080"/>
          </a:xfrm>
          <a:prstGeom prst="roundRect">
            <a:avLst>
              <a:gd name="adj" fmla="val 8571"/>
            </a:avLst>
          </a:prstGeom>
          <a:solidFill>
            <a:schemeClr val="accent4">
              <a:alpha val="15000"/>
            </a:schemeClr>
          </a:solidFill>
          <a:ln w="15875">
            <a:solidFill>
              <a:schemeClr val="accent4"/>
            </a:solidFill>
          </a:ln>
        </p:spPr>
        <p:txBody>
          <a:bodyPr wrap="square" lIns="25400" tIns="25400" rIns="25400" bIns="25400" rtlCol="0" anchor="ctr"/>
          <a:lstStyle/>
          <a:p>
            <a:pPr marL="0" indent="0" algn="ctr">
              <a:buNone/>
            </a:pPr>
            <a:r>
              <a:rPr lang="en-US" sz="1600" b="1" dirty="0">
                <a:solidFill>
                  <a:schemeClr val="tx1"/>
                </a:solidFill>
                <a:latin typeface="Courier New" pitchFamily="34" charset="0"/>
                <a:ea typeface="Courier New" pitchFamily="34" charset="-122"/>
                <a:cs typeface="Courier New" pitchFamily="34" charset="-120"/>
              </a:rPr>
              <a:t>7 4 11 11 14</a:t>
            </a:r>
            <a:endParaRPr lang="en-US" sz="1600" dirty="0"/>
          </a:p>
        </p:txBody>
      </p:sp>
      <p:sp>
        <p:nvSpPr>
          <p:cNvPr id="8" name="A1_94"/>
          <p:cNvSpPr txBox="1"/>
          <p:nvPr/>
        </p:nvSpPr>
        <p:spPr>
          <a:xfrm>
            <a:off x="6172200" y="1874520"/>
            <a:ext cx="2194560" cy="640080"/>
          </a:xfrm>
          <a:prstGeom prst="roundRect">
            <a:avLst>
              <a:gd name="adj" fmla="val 8571"/>
            </a:avLst>
          </a:prstGeom>
          <a:solidFill>
            <a:schemeClr val="accent2">
              <a:alpha val="15000"/>
            </a:schemeClr>
          </a:solidFill>
          <a:ln w="15875">
            <a:solidFill>
              <a:schemeClr val="accent2"/>
            </a:solidFill>
          </a:ln>
        </p:spPr>
        <p:txBody>
          <a:bodyPr wrap="square" lIns="25400" tIns="25400" rIns="25400" bIns="25400" rtlCol="0" anchor="ctr"/>
          <a:lstStyle/>
          <a:p>
            <a:pPr marL="0" indent="0" algn="ctr">
              <a:buNone/>
            </a:pPr>
            <a:r>
              <a:rPr lang="en-US" sz="1600" b="1" dirty="0">
                <a:solidFill>
                  <a:schemeClr val="tx1"/>
                </a:solidFill>
                <a:latin typeface="Courier New" pitchFamily="34" charset="0"/>
                <a:ea typeface="Courier New" pitchFamily="34" charset="-122"/>
                <a:cs typeface="Courier New" pitchFamily="34" charset="-120"/>
              </a:rPr>
              <a:t>10 7 14 14 17</a:t>
            </a:r>
            <a:endParaRPr lang="en-US" sz="1600" dirty="0"/>
          </a:p>
        </p:txBody>
      </p:sp>
      <p:sp>
        <p:nvSpPr>
          <p:cNvPr id="9" name="A1_95"/>
          <p:cNvSpPr txBox="1"/>
          <p:nvPr/>
        </p:nvSpPr>
        <p:spPr>
          <a:xfrm>
            <a:off x="9326880" y="1874520"/>
            <a:ext cx="1554480" cy="640080"/>
          </a:xfrm>
          <a:prstGeom prst="roundRect">
            <a:avLst>
              <a:gd name="adj" fmla="val 8571"/>
            </a:avLst>
          </a:prstGeom>
          <a:solidFill>
            <a:schemeClr val="accent3">
              <a:alpha val="15000"/>
            </a:schemeClr>
          </a:solidFill>
          <a:ln w="15875">
            <a:solidFill>
              <a:schemeClr val="accent3"/>
            </a:solidFill>
          </a:ln>
        </p:spPr>
        <p:txBody>
          <a:bodyPr wrap="square" lIns="25400" tIns="25400" rIns="25400" bIns="25400" rtlCol="0" anchor="ctr"/>
          <a:lstStyle/>
          <a:p>
            <a:pPr marL="0" indent="0" algn="ctr">
              <a:buNone/>
            </a:pPr>
            <a:r>
              <a:rPr lang="en-US" sz="1600" b="1" dirty="0">
                <a:solidFill>
                  <a:schemeClr val="tx1"/>
                </a:solidFill>
                <a:latin typeface="Courier New" pitchFamily="34" charset="0"/>
                <a:ea typeface="Courier New" pitchFamily="34" charset="-122"/>
                <a:cs typeface="Courier New" pitchFamily="34" charset="-120"/>
              </a:rPr>
              <a:t>KHOOR</a:t>
            </a:r>
            <a:endParaRPr lang="en-US" sz="1600" dirty="0"/>
          </a:p>
        </p:txBody>
      </p:sp>
      <p:sp>
        <p:nvSpPr>
          <p:cNvPr id="10" name="A1_96"/>
          <p:cNvSpPr/>
          <p:nvPr/>
        </p:nvSpPr>
        <p:spPr>
          <a:xfrm>
            <a:off x="2103120" y="2194560"/>
            <a:ext cx="914400" cy="0"/>
          </a:xfrm>
          <a:prstGeom prst="line">
            <a:avLst/>
          </a:prstGeom>
          <a:noFill/>
          <a:ln w="22225">
            <a:solidFill>
              <a:srgbClr val="52514E"/>
            </a:solidFill>
            <a:prstDash val="solid"/>
            <a:tailEnd type="triangle"/>
          </a:ln>
        </p:spPr>
      </p:sp>
      <p:sp>
        <p:nvSpPr>
          <p:cNvPr id="11" name="A1_97"/>
          <p:cNvSpPr txBox="1"/>
          <p:nvPr/>
        </p:nvSpPr>
        <p:spPr>
          <a:xfrm>
            <a:off x="2103120" y="2560320"/>
            <a:ext cx="914400" cy="320040"/>
          </a:xfrm>
          <a:prstGeom prst="rect">
            <a:avLst/>
          </a:prstGeom>
          <a:noFill/>
          <a:ln/>
        </p:spPr>
        <p:txBody>
          <a:bodyPr wrap="square" lIns="0" tIns="0" rIns="0" bIns="0" rtlCol="0" anchor="ctr"/>
          <a:lstStyle/>
          <a:p>
            <a:pPr marL="0" indent="0" algn="ctr">
              <a:buNone/>
            </a:pPr>
            <a:r>
              <a:rPr lang="en-US" sz="1400" dirty="0">
                <a:solidFill>
                  <a:srgbClr val="52514E"/>
                </a:solidFill>
              </a:rPr>
              <a:t>A = 0</a:t>
            </a:r>
            <a:endParaRPr lang="en-US" sz="1400" dirty="0"/>
          </a:p>
        </p:txBody>
      </p:sp>
      <p:sp>
        <p:nvSpPr>
          <p:cNvPr id="12" name="A1_98"/>
          <p:cNvSpPr/>
          <p:nvPr/>
        </p:nvSpPr>
        <p:spPr>
          <a:xfrm>
            <a:off x="5212080" y="2194560"/>
            <a:ext cx="960120" cy="0"/>
          </a:xfrm>
          <a:prstGeom prst="line">
            <a:avLst/>
          </a:prstGeom>
          <a:noFill/>
          <a:ln w="22225">
            <a:solidFill>
              <a:srgbClr val="52514E"/>
            </a:solidFill>
            <a:prstDash val="solid"/>
            <a:tailEnd type="triangle"/>
          </a:ln>
        </p:spPr>
      </p:sp>
      <p:sp>
        <p:nvSpPr>
          <p:cNvPr id="13" name="A1_99"/>
          <p:cNvSpPr txBox="1"/>
          <p:nvPr/>
        </p:nvSpPr>
        <p:spPr>
          <a:xfrm>
            <a:off x="5212080" y="2560320"/>
            <a:ext cx="960120" cy="320040"/>
          </a:xfrm>
          <a:prstGeom prst="rect">
            <a:avLst/>
          </a:prstGeom>
          <a:noFill/>
          <a:ln/>
        </p:spPr>
        <p:txBody>
          <a:bodyPr wrap="square" lIns="0" tIns="0" rIns="0" bIns="0" rtlCol="0" anchor="ctr"/>
          <a:lstStyle/>
          <a:p>
            <a:pPr marL="0" indent="0" algn="ctr">
              <a:buNone/>
            </a:pPr>
            <a:r>
              <a:rPr lang="en-US" sz="1400" dirty="0">
                <a:solidFill>
                  <a:srgbClr val="52514E"/>
                </a:solidFill>
              </a:rPr>
              <a:t>+3 (mod 26)</a:t>
            </a:r>
            <a:endParaRPr lang="en-US" sz="1400" dirty="0"/>
          </a:p>
        </p:txBody>
      </p:sp>
      <p:sp>
        <p:nvSpPr>
          <p:cNvPr id="14" name="A1_100"/>
          <p:cNvSpPr/>
          <p:nvPr/>
        </p:nvSpPr>
        <p:spPr>
          <a:xfrm>
            <a:off x="8366760" y="2194560"/>
            <a:ext cx="960120" cy="0"/>
          </a:xfrm>
          <a:prstGeom prst="line">
            <a:avLst/>
          </a:prstGeom>
          <a:noFill/>
          <a:ln w="22225">
            <a:solidFill>
              <a:srgbClr val="52514E"/>
            </a:solidFill>
            <a:prstDash val="solid"/>
            <a:tailEnd type="triangle"/>
          </a:ln>
        </p:spPr>
      </p:sp>
      <p:sp>
        <p:nvSpPr>
          <p:cNvPr id="15" name="A1_101"/>
          <p:cNvSpPr txBox="1"/>
          <p:nvPr/>
        </p:nvSpPr>
        <p:spPr>
          <a:xfrm>
            <a:off x="8366760" y="2560320"/>
            <a:ext cx="960120" cy="320040"/>
          </a:xfrm>
          <a:prstGeom prst="rect">
            <a:avLst/>
          </a:prstGeom>
          <a:noFill/>
          <a:ln/>
        </p:spPr>
        <p:txBody>
          <a:bodyPr wrap="square" lIns="0" tIns="0" rIns="0" bIns="0" rtlCol="0" anchor="ctr"/>
          <a:lstStyle/>
          <a:p>
            <a:pPr marL="0" indent="0" algn="ctr">
              <a:buNone/>
            </a:pPr>
            <a:r>
              <a:rPr lang="en-US" sz="1400" dirty="0">
                <a:solidFill>
                  <a:srgbClr val="52514E"/>
                </a:solidFill>
              </a:rPr>
              <a:t>harfga</a:t>
            </a:r>
            <a:endParaRPr lang="en-US" sz="1400" dirty="0"/>
          </a:p>
        </p:txBody>
      </p:sp>
      <p:sp>
        <p:nvSpPr>
          <p:cNvPr id="16" name="A1_102"/>
          <p:cNvSpPr txBox="1"/>
          <p:nvPr/>
        </p:nvSpPr>
        <p:spPr>
          <a:xfrm>
            <a:off x="548640" y="2880360"/>
            <a:ext cx="10972800" cy="320040"/>
          </a:xfrm>
          <a:prstGeom prst="rect">
            <a:avLst/>
          </a:prstGeom>
          <a:noFill/>
          <a:ln/>
        </p:spPr>
        <p:txBody>
          <a:bodyPr wrap="square" lIns="0" tIns="0" rIns="0" bIns="0" rtlCol="0" anchor="ctr"/>
          <a:lstStyle/>
          <a:p>
            <a:pPr marL="0" indent="0" algn="l">
              <a:buNone/>
            </a:pPr>
            <a:r>
              <a:rPr lang="en-US" sz="1400" i="1" dirty="0">
                <a:solidFill>
                  <a:srgbClr val="52514E"/>
                </a:solidFill>
              </a:rPr>
              <a:t>Chegara: X = 23 → 23 + 3 = 26 ≡ 0 → A (“aylanib qaytish” — 3-mavzu)</a:t>
            </a:r>
            <a:endParaRPr lang="en-US" sz="1400" dirty="0"/>
          </a:p>
        </p:txBody>
      </p:sp>
      <p:sp>
        <p:nvSpPr>
          <p:cNvPr id="17" name="A2_103"/>
          <p:cNvSpPr txBox="1"/>
          <p:nvPr/>
        </p:nvSpPr>
        <p:spPr>
          <a:xfrm>
            <a:off x="548640" y="3383280"/>
            <a:ext cx="6675120" cy="365760"/>
          </a:xfrm>
          <a:prstGeom prst="rect">
            <a:avLst/>
          </a:prstGeom>
          <a:noFill/>
          <a:ln/>
        </p:spPr>
        <p:txBody>
          <a:bodyPr wrap="square" lIns="0" tIns="0" rIns="0" bIns="0" rtlCol="0" anchor="ctr"/>
          <a:lstStyle/>
          <a:p>
            <a:pPr marL="0" indent="0" algn="l">
              <a:buNone/>
            </a:pPr>
            <a:r>
              <a:rPr lang="en-US" sz="1700" b="1" dirty="0">
                <a:solidFill>
                  <a:schemeClr val="accent2"/>
                </a:solidFill>
              </a:rPr>
              <a:t>Zamonaviy: bayt → bitlar, XOR = qo‘shish mod 2</a:t>
            </a:r>
            <a:endParaRPr lang="en-US" sz="1700" dirty="0"/>
          </a:p>
        </p:txBody>
      </p:sp>
      <p:sp>
        <p:nvSpPr>
          <p:cNvPr id="18" name="A2_104"/>
          <p:cNvSpPr txBox="1"/>
          <p:nvPr/>
        </p:nvSpPr>
        <p:spPr>
          <a:xfrm>
            <a:off x="548640" y="3886200"/>
            <a:ext cx="1463040" cy="411480"/>
          </a:xfrm>
          <a:prstGeom prst="rect">
            <a:avLst/>
          </a:prstGeom>
          <a:noFill/>
          <a:ln/>
        </p:spPr>
        <p:txBody>
          <a:bodyPr wrap="square" lIns="0" tIns="0" rIns="0" bIns="0" rtlCol="0" anchor="ctr"/>
          <a:lstStyle/>
          <a:p>
            <a:pPr marL="0" indent="0" algn="r">
              <a:buNone/>
            </a:pPr>
            <a:r>
              <a:rPr lang="en-US" sz="1500" b="1" dirty="0">
                <a:solidFill>
                  <a:schemeClr val="tx1"/>
                </a:solidFill>
              </a:rPr>
              <a:t>P = A</a:t>
            </a:r>
            <a:endParaRPr lang="en-US" sz="1500" dirty="0"/>
          </a:p>
        </p:txBody>
      </p:sp>
      <p:sp>
        <p:nvSpPr>
          <p:cNvPr id="19" name="A2_105"/>
          <p:cNvSpPr txBox="1"/>
          <p:nvPr/>
        </p:nvSpPr>
        <p:spPr>
          <a:xfrm>
            <a:off x="2194560" y="3886200"/>
            <a:ext cx="411480" cy="411480"/>
          </a:xfrm>
          <a:prstGeom prst="roundRect">
            <a:avLst>
              <a:gd name="adj" fmla="val 13333"/>
            </a:avLst>
          </a:prstGeom>
          <a:solidFill>
            <a:schemeClr val="accent4">
              <a:alpha val="15000"/>
            </a:schemeClr>
          </a:solidFill>
          <a:ln w="9525">
            <a:solidFill>
              <a:schemeClr val="accent4"/>
            </a:solidFill>
          </a:ln>
        </p:spPr>
        <p:txBody>
          <a:bodyPr wrap="square" lIns="25400" tIns="25400" rIns="25400" bIns="25400" rtlCol="0" anchor="ctr"/>
          <a:lstStyle/>
          <a:p>
            <a:pPr marL="0" indent="0" algn="ctr">
              <a:buNone/>
            </a:pPr>
            <a:r>
              <a:rPr lang="en-US" sz="1500" b="1" dirty="0">
                <a:solidFill>
                  <a:schemeClr val="tx1"/>
                </a:solidFill>
                <a:latin typeface="Courier New" pitchFamily="34" charset="0"/>
                <a:ea typeface="Courier New" pitchFamily="34" charset="-122"/>
                <a:cs typeface="Courier New" pitchFamily="34" charset="-120"/>
              </a:rPr>
              <a:t>0</a:t>
            </a:r>
            <a:endParaRPr lang="en-US" sz="1500" dirty="0"/>
          </a:p>
        </p:txBody>
      </p:sp>
      <p:sp>
        <p:nvSpPr>
          <p:cNvPr id="20" name="A2_106"/>
          <p:cNvSpPr txBox="1"/>
          <p:nvPr/>
        </p:nvSpPr>
        <p:spPr>
          <a:xfrm>
            <a:off x="2651760" y="3886200"/>
            <a:ext cx="411480" cy="411480"/>
          </a:xfrm>
          <a:prstGeom prst="roundRect">
            <a:avLst>
              <a:gd name="adj" fmla="val 13333"/>
            </a:avLst>
          </a:prstGeom>
          <a:solidFill>
            <a:schemeClr val="accent4">
              <a:alpha val="15000"/>
            </a:schemeClr>
          </a:solidFill>
          <a:ln w="9525">
            <a:solidFill>
              <a:schemeClr val="accent4"/>
            </a:solidFill>
          </a:ln>
        </p:spPr>
        <p:txBody>
          <a:bodyPr wrap="square" lIns="25400" tIns="25400" rIns="25400" bIns="25400" rtlCol="0" anchor="ctr"/>
          <a:lstStyle/>
          <a:p>
            <a:pPr marL="0" indent="0" algn="ctr">
              <a:buNone/>
            </a:pPr>
            <a:r>
              <a:rPr lang="en-US" sz="1500" b="1" dirty="0">
                <a:solidFill>
                  <a:schemeClr val="tx1"/>
                </a:solidFill>
                <a:latin typeface="Courier New" pitchFamily="34" charset="0"/>
                <a:ea typeface="Courier New" pitchFamily="34" charset="-122"/>
                <a:cs typeface="Courier New" pitchFamily="34" charset="-120"/>
              </a:rPr>
              <a:t>1</a:t>
            </a:r>
            <a:endParaRPr lang="en-US" sz="1500" dirty="0"/>
          </a:p>
        </p:txBody>
      </p:sp>
      <p:sp>
        <p:nvSpPr>
          <p:cNvPr id="21" name="A2_107"/>
          <p:cNvSpPr txBox="1"/>
          <p:nvPr/>
        </p:nvSpPr>
        <p:spPr>
          <a:xfrm>
            <a:off x="3108960" y="3886200"/>
            <a:ext cx="411480" cy="411480"/>
          </a:xfrm>
          <a:prstGeom prst="roundRect">
            <a:avLst>
              <a:gd name="adj" fmla="val 13333"/>
            </a:avLst>
          </a:prstGeom>
          <a:solidFill>
            <a:schemeClr val="accent4">
              <a:alpha val="15000"/>
            </a:schemeClr>
          </a:solidFill>
          <a:ln w="9525">
            <a:solidFill>
              <a:schemeClr val="accent4"/>
            </a:solidFill>
          </a:ln>
        </p:spPr>
        <p:txBody>
          <a:bodyPr wrap="square" lIns="25400" tIns="25400" rIns="25400" bIns="25400" rtlCol="0" anchor="ctr"/>
          <a:lstStyle/>
          <a:p>
            <a:pPr marL="0" indent="0" algn="ctr">
              <a:buNone/>
            </a:pPr>
            <a:r>
              <a:rPr lang="en-US" sz="1500" b="1" dirty="0">
                <a:solidFill>
                  <a:schemeClr val="tx1"/>
                </a:solidFill>
                <a:latin typeface="Courier New" pitchFamily="34" charset="0"/>
                <a:ea typeface="Courier New" pitchFamily="34" charset="-122"/>
                <a:cs typeface="Courier New" pitchFamily="34" charset="-120"/>
              </a:rPr>
              <a:t>0</a:t>
            </a:r>
            <a:endParaRPr lang="en-US" sz="1500" dirty="0"/>
          </a:p>
        </p:txBody>
      </p:sp>
      <p:sp>
        <p:nvSpPr>
          <p:cNvPr id="22" name="A2_108"/>
          <p:cNvSpPr txBox="1"/>
          <p:nvPr/>
        </p:nvSpPr>
        <p:spPr>
          <a:xfrm>
            <a:off x="3566160" y="3886200"/>
            <a:ext cx="411480" cy="411480"/>
          </a:xfrm>
          <a:prstGeom prst="roundRect">
            <a:avLst>
              <a:gd name="adj" fmla="val 13333"/>
            </a:avLst>
          </a:prstGeom>
          <a:solidFill>
            <a:schemeClr val="accent4">
              <a:alpha val="15000"/>
            </a:schemeClr>
          </a:solidFill>
          <a:ln w="9525">
            <a:solidFill>
              <a:schemeClr val="accent4"/>
            </a:solidFill>
          </a:ln>
        </p:spPr>
        <p:txBody>
          <a:bodyPr wrap="square" lIns="25400" tIns="25400" rIns="25400" bIns="25400" rtlCol="0" anchor="ctr"/>
          <a:lstStyle/>
          <a:p>
            <a:pPr marL="0" indent="0" algn="ctr">
              <a:buNone/>
            </a:pPr>
            <a:r>
              <a:rPr lang="en-US" sz="1500" b="1" dirty="0">
                <a:solidFill>
                  <a:schemeClr val="tx1"/>
                </a:solidFill>
                <a:latin typeface="Courier New" pitchFamily="34" charset="0"/>
                <a:ea typeface="Courier New" pitchFamily="34" charset="-122"/>
                <a:cs typeface="Courier New" pitchFamily="34" charset="-120"/>
              </a:rPr>
              <a:t>0</a:t>
            </a:r>
            <a:endParaRPr lang="en-US" sz="1500" dirty="0"/>
          </a:p>
        </p:txBody>
      </p:sp>
      <p:sp>
        <p:nvSpPr>
          <p:cNvPr id="23" name="A2_109"/>
          <p:cNvSpPr txBox="1"/>
          <p:nvPr/>
        </p:nvSpPr>
        <p:spPr>
          <a:xfrm>
            <a:off x="4023360" y="3886200"/>
            <a:ext cx="411480" cy="411480"/>
          </a:xfrm>
          <a:prstGeom prst="roundRect">
            <a:avLst>
              <a:gd name="adj" fmla="val 13333"/>
            </a:avLst>
          </a:prstGeom>
          <a:solidFill>
            <a:schemeClr val="accent4">
              <a:alpha val="15000"/>
            </a:schemeClr>
          </a:solidFill>
          <a:ln w="9525">
            <a:solidFill>
              <a:schemeClr val="accent4"/>
            </a:solidFill>
          </a:ln>
        </p:spPr>
        <p:txBody>
          <a:bodyPr wrap="square" lIns="25400" tIns="25400" rIns="25400" bIns="25400" rtlCol="0" anchor="ctr"/>
          <a:lstStyle/>
          <a:p>
            <a:pPr marL="0" indent="0" algn="ctr">
              <a:buNone/>
            </a:pPr>
            <a:r>
              <a:rPr lang="en-US" sz="1500" b="1" dirty="0">
                <a:solidFill>
                  <a:schemeClr val="tx1"/>
                </a:solidFill>
                <a:latin typeface="Courier New" pitchFamily="34" charset="0"/>
                <a:ea typeface="Courier New" pitchFamily="34" charset="-122"/>
                <a:cs typeface="Courier New" pitchFamily="34" charset="-120"/>
              </a:rPr>
              <a:t>0</a:t>
            </a:r>
            <a:endParaRPr lang="en-US" sz="1500" dirty="0"/>
          </a:p>
        </p:txBody>
      </p:sp>
      <p:sp>
        <p:nvSpPr>
          <p:cNvPr id="24" name="A2_110"/>
          <p:cNvSpPr txBox="1"/>
          <p:nvPr/>
        </p:nvSpPr>
        <p:spPr>
          <a:xfrm>
            <a:off x="4480560" y="3886200"/>
            <a:ext cx="411480" cy="411480"/>
          </a:xfrm>
          <a:prstGeom prst="roundRect">
            <a:avLst>
              <a:gd name="adj" fmla="val 13333"/>
            </a:avLst>
          </a:prstGeom>
          <a:solidFill>
            <a:schemeClr val="accent4">
              <a:alpha val="15000"/>
            </a:schemeClr>
          </a:solidFill>
          <a:ln w="9525">
            <a:solidFill>
              <a:schemeClr val="accent4"/>
            </a:solidFill>
          </a:ln>
        </p:spPr>
        <p:txBody>
          <a:bodyPr wrap="square" lIns="25400" tIns="25400" rIns="25400" bIns="25400" rtlCol="0" anchor="ctr"/>
          <a:lstStyle/>
          <a:p>
            <a:pPr marL="0" indent="0" algn="ctr">
              <a:buNone/>
            </a:pPr>
            <a:r>
              <a:rPr lang="en-US" sz="1500" b="1" dirty="0">
                <a:solidFill>
                  <a:schemeClr val="tx1"/>
                </a:solidFill>
                <a:latin typeface="Courier New" pitchFamily="34" charset="0"/>
                <a:ea typeface="Courier New" pitchFamily="34" charset="-122"/>
                <a:cs typeface="Courier New" pitchFamily="34" charset="-120"/>
              </a:rPr>
              <a:t>0</a:t>
            </a:r>
            <a:endParaRPr lang="en-US" sz="1500" dirty="0"/>
          </a:p>
        </p:txBody>
      </p:sp>
      <p:sp>
        <p:nvSpPr>
          <p:cNvPr id="25" name="A2_111"/>
          <p:cNvSpPr txBox="1"/>
          <p:nvPr/>
        </p:nvSpPr>
        <p:spPr>
          <a:xfrm>
            <a:off x="4937760" y="3886200"/>
            <a:ext cx="411480" cy="411480"/>
          </a:xfrm>
          <a:prstGeom prst="roundRect">
            <a:avLst>
              <a:gd name="adj" fmla="val 13333"/>
            </a:avLst>
          </a:prstGeom>
          <a:solidFill>
            <a:schemeClr val="accent4">
              <a:alpha val="15000"/>
            </a:schemeClr>
          </a:solidFill>
          <a:ln w="9525">
            <a:solidFill>
              <a:schemeClr val="accent4"/>
            </a:solidFill>
          </a:ln>
        </p:spPr>
        <p:txBody>
          <a:bodyPr wrap="square" lIns="25400" tIns="25400" rIns="25400" bIns="25400" rtlCol="0" anchor="ctr"/>
          <a:lstStyle/>
          <a:p>
            <a:pPr marL="0" indent="0" algn="ctr">
              <a:buNone/>
            </a:pPr>
            <a:r>
              <a:rPr lang="en-US" sz="1500" b="1" dirty="0">
                <a:solidFill>
                  <a:schemeClr val="tx1"/>
                </a:solidFill>
                <a:latin typeface="Courier New" pitchFamily="34" charset="0"/>
                <a:ea typeface="Courier New" pitchFamily="34" charset="-122"/>
                <a:cs typeface="Courier New" pitchFamily="34" charset="-120"/>
              </a:rPr>
              <a:t>0</a:t>
            </a:r>
            <a:endParaRPr lang="en-US" sz="1500" dirty="0"/>
          </a:p>
        </p:txBody>
      </p:sp>
      <p:sp>
        <p:nvSpPr>
          <p:cNvPr id="26" name="A2_112"/>
          <p:cNvSpPr txBox="1"/>
          <p:nvPr/>
        </p:nvSpPr>
        <p:spPr>
          <a:xfrm>
            <a:off x="5394960" y="3886200"/>
            <a:ext cx="411480" cy="411480"/>
          </a:xfrm>
          <a:prstGeom prst="roundRect">
            <a:avLst>
              <a:gd name="adj" fmla="val 13333"/>
            </a:avLst>
          </a:prstGeom>
          <a:solidFill>
            <a:schemeClr val="accent4">
              <a:alpha val="15000"/>
            </a:schemeClr>
          </a:solidFill>
          <a:ln w="9525">
            <a:solidFill>
              <a:schemeClr val="accent4"/>
            </a:solidFill>
          </a:ln>
        </p:spPr>
        <p:txBody>
          <a:bodyPr wrap="square" lIns="25400" tIns="25400" rIns="25400" bIns="25400" rtlCol="0" anchor="ctr"/>
          <a:lstStyle/>
          <a:p>
            <a:pPr marL="0" indent="0" algn="ctr">
              <a:buNone/>
            </a:pPr>
            <a:r>
              <a:rPr lang="en-US" sz="1500" b="1" dirty="0">
                <a:solidFill>
                  <a:schemeClr val="tx1"/>
                </a:solidFill>
                <a:latin typeface="Courier New" pitchFamily="34" charset="0"/>
                <a:ea typeface="Courier New" pitchFamily="34" charset="-122"/>
                <a:cs typeface="Courier New" pitchFamily="34" charset="-120"/>
              </a:rPr>
              <a:t>1</a:t>
            </a:r>
            <a:endParaRPr lang="en-US" sz="1500" dirty="0"/>
          </a:p>
        </p:txBody>
      </p:sp>
      <p:sp>
        <p:nvSpPr>
          <p:cNvPr id="27" name="A2_113"/>
          <p:cNvSpPr txBox="1"/>
          <p:nvPr/>
        </p:nvSpPr>
        <p:spPr>
          <a:xfrm>
            <a:off x="548640" y="4389120"/>
            <a:ext cx="1463040" cy="411480"/>
          </a:xfrm>
          <a:prstGeom prst="rect">
            <a:avLst/>
          </a:prstGeom>
          <a:noFill/>
          <a:ln/>
        </p:spPr>
        <p:txBody>
          <a:bodyPr wrap="square" lIns="0" tIns="0" rIns="0" bIns="0" rtlCol="0" anchor="ctr"/>
          <a:lstStyle/>
          <a:p>
            <a:pPr marL="0" indent="0" algn="r">
              <a:buNone/>
            </a:pPr>
            <a:r>
              <a:rPr lang="en-US" sz="1500" b="1" dirty="0">
                <a:solidFill>
                  <a:schemeClr val="tx1"/>
                </a:solidFill>
              </a:rPr>
              <a:t>K</a:t>
            </a:r>
            <a:endParaRPr lang="en-US" sz="1500" dirty="0"/>
          </a:p>
        </p:txBody>
      </p:sp>
      <p:sp>
        <p:nvSpPr>
          <p:cNvPr id="28" name="A2_114"/>
          <p:cNvSpPr txBox="1"/>
          <p:nvPr/>
        </p:nvSpPr>
        <p:spPr>
          <a:xfrm>
            <a:off x="2194560" y="4389120"/>
            <a:ext cx="411480" cy="411480"/>
          </a:xfrm>
          <a:prstGeom prst="roundRect">
            <a:avLst>
              <a:gd name="adj" fmla="val 13333"/>
            </a:avLst>
          </a:prstGeom>
          <a:solidFill>
            <a:schemeClr val="accent6">
              <a:alpha val="15000"/>
            </a:schemeClr>
          </a:solidFill>
          <a:ln w="9525">
            <a:solidFill>
              <a:schemeClr val="accent6"/>
            </a:solidFill>
          </a:ln>
        </p:spPr>
        <p:txBody>
          <a:bodyPr wrap="square" lIns="25400" tIns="25400" rIns="25400" bIns="25400" rtlCol="0" anchor="ctr"/>
          <a:lstStyle/>
          <a:p>
            <a:pPr marL="0" indent="0" algn="ctr">
              <a:buNone/>
            </a:pPr>
            <a:r>
              <a:rPr lang="en-US" sz="1500" b="1" dirty="0">
                <a:solidFill>
                  <a:schemeClr val="tx1"/>
                </a:solidFill>
                <a:latin typeface="Courier New" pitchFamily="34" charset="0"/>
                <a:ea typeface="Courier New" pitchFamily="34" charset="-122"/>
                <a:cs typeface="Courier New" pitchFamily="34" charset="-120"/>
              </a:rPr>
              <a:t>0</a:t>
            </a:r>
            <a:endParaRPr lang="en-US" sz="1500" dirty="0"/>
          </a:p>
        </p:txBody>
      </p:sp>
      <p:sp>
        <p:nvSpPr>
          <p:cNvPr id="29" name="A2_115"/>
          <p:cNvSpPr txBox="1"/>
          <p:nvPr/>
        </p:nvSpPr>
        <p:spPr>
          <a:xfrm>
            <a:off x="2651760" y="4389120"/>
            <a:ext cx="411480" cy="411480"/>
          </a:xfrm>
          <a:prstGeom prst="roundRect">
            <a:avLst>
              <a:gd name="adj" fmla="val 13333"/>
            </a:avLst>
          </a:prstGeom>
          <a:solidFill>
            <a:schemeClr val="accent6">
              <a:alpha val="15000"/>
            </a:schemeClr>
          </a:solidFill>
          <a:ln w="9525">
            <a:solidFill>
              <a:schemeClr val="accent6"/>
            </a:solidFill>
          </a:ln>
        </p:spPr>
        <p:txBody>
          <a:bodyPr wrap="square" lIns="25400" tIns="25400" rIns="25400" bIns="25400" rtlCol="0" anchor="ctr"/>
          <a:lstStyle/>
          <a:p>
            <a:pPr marL="0" indent="0" algn="ctr">
              <a:buNone/>
            </a:pPr>
            <a:r>
              <a:rPr lang="en-US" sz="1500" b="1" dirty="0">
                <a:solidFill>
                  <a:schemeClr val="tx1"/>
                </a:solidFill>
                <a:latin typeface="Courier New" pitchFamily="34" charset="0"/>
                <a:ea typeface="Courier New" pitchFamily="34" charset="-122"/>
                <a:cs typeface="Courier New" pitchFamily="34" charset="-120"/>
              </a:rPr>
              <a:t>0</a:t>
            </a:r>
            <a:endParaRPr lang="en-US" sz="1500" dirty="0"/>
          </a:p>
        </p:txBody>
      </p:sp>
      <p:sp>
        <p:nvSpPr>
          <p:cNvPr id="30" name="A2_116"/>
          <p:cNvSpPr txBox="1"/>
          <p:nvPr/>
        </p:nvSpPr>
        <p:spPr>
          <a:xfrm>
            <a:off x="3108960" y="4389120"/>
            <a:ext cx="411480" cy="411480"/>
          </a:xfrm>
          <a:prstGeom prst="roundRect">
            <a:avLst>
              <a:gd name="adj" fmla="val 13333"/>
            </a:avLst>
          </a:prstGeom>
          <a:solidFill>
            <a:schemeClr val="accent6">
              <a:alpha val="15000"/>
            </a:schemeClr>
          </a:solidFill>
          <a:ln w="9525">
            <a:solidFill>
              <a:schemeClr val="accent6"/>
            </a:solidFill>
          </a:ln>
        </p:spPr>
        <p:txBody>
          <a:bodyPr wrap="square" lIns="25400" tIns="25400" rIns="25400" bIns="25400" rtlCol="0" anchor="ctr"/>
          <a:lstStyle/>
          <a:p>
            <a:pPr marL="0" indent="0" algn="ctr">
              <a:buNone/>
            </a:pPr>
            <a:r>
              <a:rPr lang="en-US" sz="1500" b="1" dirty="0">
                <a:solidFill>
                  <a:schemeClr val="tx1"/>
                </a:solidFill>
                <a:latin typeface="Courier New" pitchFamily="34" charset="0"/>
                <a:ea typeface="Courier New" pitchFamily="34" charset="-122"/>
                <a:cs typeface="Courier New" pitchFamily="34" charset="-120"/>
              </a:rPr>
              <a:t>1</a:t>
            </a:r>
            <a:endParaRPr lang="en-US" sz="1500" dirty="0"/>
          </a:p>
        </p:txBody>
      </p:sp>
      <p:sp>
        <p:nvSpPr>
          <p:cNvPr id="31" name="A2_117"/>
          <p:cNvSpPr txBox="1"/>
          <p:nvPr/>
        </p:nvSpPr>
        <p:spPr>
          <a:xfrm>
            <a:off x="3566160" y="4389120"/>
            <a:ext cx="411480" cy="411480"/>
          </a:xfrm>
          <a:prstGeom prst="roundRect">
            <a:avLst>
              <a:gd name="adj" fmla="val 13333"/>
            </a:avLst>
          </a:prstGeom>
          <a:solidFill>
            <a:schemeClr val="accent6">
              <a:alpha val="15000"/>
            </a:schemeClr>
          </a:solidFill>
          <a:ln w="9525">
            <a:solidFill>
              <a:schemeClr val="accent6"/>
            </a:solidFill>
          </a:ln>
        </p:spPr>
        <p:txBody>
          <a:bodyPr wrap="square" lIns="25400" tIns="25400" rIns="25400" bIns="25400" rtlCol="0" anchor="ctr"/>
          <a:lstStyle/>
          <a:p>
            <a:pPr marL="0" indent="0" algn="ctr">
              <a:buNone/>
            </a:pPr>
            <a:r>
              <a:rPr lang="en-US" sz="1500" b="1" dirty="0">
                <a:solidFill>
                  <a:schemeClr val="tx1"/>
                </a:solidFill>
                <a:latin typeface="Courier New" pitchFamily="34" charset="0"/>
                <a:ea typeface="Courier New" pitchFamily="34" charset="-122"/>
                <a:cs typeface="Courier New" pitchFamily="34" charset="-120"/>
              </a:rPr>
              <a:t>0</a:t>
            </a:r>
            <a:endParaRPr lang="en-US" sz="1500" dirty="0"/>
          </a:p>
        </p:txBody>
      </p:sp>
      <p:sp>
        <p:nvSpPr>
          <p:cNvPr id="32" name="A2_118"/>
          <p:cNvSpPr txBox="1"/>
          <p:nvPr/>
        </p:nvSpPr>
        <p:spPr>
          <a:xfrm>
            <a:off x="4023360" y="4389120"/>
            <a:ext cx="411480" cy="411480"/>
          </a:xfrm>
          <a:prstGeom prst="roundRect">
            <a:avLst>
              <a:gd name="adj" fmla="val 13333"/>
            </a:avLst>
          </a:prstGeom>
          <a:solidFill>
            <a:schemeClr val="accent6">
              <a:alpha val="15000"/>
            </a:schemeClr>
          </a:solidFill>
          <a:ln w="9525">
            <a:solidFill>
              <a:schemeClr val="accent6"/>
            </a:solidFill>
          </a:ln>
        </p:spPr>
        <p:txBody>
          <a:bodyPr wrap="square" lIns="25400" tIns="25400" rIns="25400" bIns="25400" rtlCol="0" anchor="ctr"/>
          <a:lstStyle/>
          <a:p>
            <a:pPr marL="0" indent="0" algn="ctr">
              <a:buNone/>
            </a:pPr>
            <a:r>
              <a:rPr lang="en-US" sz="1500" b="1" dirty="0">
                <a:solidFill>
                  <a:schemeClr val="tx1"/>
                </a:solidFill>
                <a:latin typeface="Courier New" pitchFamily="34" charset="0"/>
                <a:ea typeface="Courier New" pitchFamily="34" charset="-122"/>
                <a:cs typeface="Courier New" pitchFamily="34" charset="-120"/>
              </a:rPr>
              <a:t>1</a:t>
            </a:r>
            <a:endParaRPr lang="en-US" sz="1500" dirty="0"/>
          </a:p>
        </p:txBody>
      </p:sp>
      <p:sp>
        <p:nvSpPr>
          <p:cNvPr id="33" name="A2_119"/>
          <p:cNvSpPr txBox="1"/>
          <p:nvPr/>
        </p:nvSpPr>
        <p:spPr>
          <a:xfrm>
            <a:off x="4480560" y="4389120"/>
            <a:ext cx="411480" cy="411480"/>
          </a:xfrm>
          <a:prstGeom prst="roundRect">
            <a:avLst>
              <a:gd name="adj" fmla="val 13333"/>
            </a:avLst>
          </a:prstGeom>
          <a:solidFill>
            <a:schemeClr val="accent6">
              <a:alpha val="15000"/>
            </a:schemeClr>
          </a:solidFill>
          <a:ln w="9525">
            <a:solidFill>
              <a:schemeClr val="accent6"/>
            </a:solidFill>
          </a:ln>
        </p:spPr>
        <p:txBody>
          <a:bodyPr wrap="square" lIns="25400" tIns="25400" rIns="25400" bIns="25400" rtlCol="0" anchor="ctr"/>
          <a:lstStyle/>
          <a:p>
            <a:pPr marL="0" indent="0" algn="ctr">
              <a:buNone/>
            </a:pPr>
            <a:r>
              <a:rPr lang="en-US" sz="1500" b="1" dirty="0">
                <a:solidFill>
                  <a:schemeClr val="tx1"/>
                </a:solidFill>
                <a:latin typeface="Courier New" pitchFamily="34" charset="0"/>
                <a:ea typeface="Courier New" pitchFamily="34" charset="-122"/>
                <a:cs typeface="Courier New" pitchFamily="34" charset="-120"/>
              </a:rPr>
              <a:t>0</a:t>
            </a:r>
            <a:endParaRPr lang="en-US" sz="1500" dirty="0"/>
          </a:p>
        </p:txBody>
      </p:sp>
      <p:sp>
        <p:nvSpPr>
          <p:cNvPr id="34" name="A2_120"/>
          <p:cNvSpPr txBox="1"/>
          <p:nvPr/>
        </p:nvSpPr>
        <p:spPr>
          <a:xfrm>
            <a:off x="4937760" y="4389120"/>
            <a:ext cx="411480" cy="411480"/>
          </a:xfrm>
          <a:prstGeom prst="roundRect">
            <a:avLst>
              <a:gd name="adj" fmla="val 13333"/>
            </a:avLst>
          </a:prstGeom>
          <a:solidFill>
            <a:schemeClr val="accent6">
              <a:alpha val="15000"/>
            </a:schemeClr>
          </a:solidFill>
          <a:ln w="9525">
            <a:solidFill>
              <a:schemeClr val="accent6"/>
            </a:solidFill>
          </a:ln>
        </p:spPr>
        <p:txBody>
          <a:bodyPr wrap="square" lIns="25400" tIns="25400" rIns="25400" bIns="25400" rtlCol="0" anchor="ctr"/>
          <a:lstStyle/>
          <a:p>
            <a:pPr marL="0" indent="0" algn="ctr">
              <a:buNone/>
            </a:pPr>
            <a:r>
              <a:rPr lang="en-US" sz="1500" b="1" dirty="0">
                <a:solidFill>
                  <a:schemeClr val="tx1"/>
                </a:solidFill>
                <a:latin typeface="Courier New" pitchFamily="34" charset="0"/>
                <a:ea typeface="Courier New" pitchFamily="34" charset="-122"/>
                <a:cs typeface="Courier New" pitchFamily="34" charset="-120"/>
              </a:rPr>
              <a:t>1</a:t>
            </a:r>
            <a:endParaRPr lang="en-US" sz="1500" dirty="0"/>
          </a:p>
        </p:txBody>
      </p:sp>
      <p:sp>
        <p:nvSpPr>
          <p:cNvPr id="35" name="A2_121"/>
          <p:cNvSpPr txBox="1"/>
          <p:nvPr/>
        </p:nvSpPr>
        <p:spPr>
          <a:xfrm>
            <a:off x="5394960" y="4389120"/>
            <a:ext cx="411480" cy="411480"/>
          </a:xfrm>
          <a:prstGeom prst="roundRect">
            <a:avLst>
              <a:gd name="adj" fmla="val 13333"/>
            </a:avLst>
          </a:prstGeom>
          <a:solidFill>
            <a:schemeClr val="accent6">
              <a:alpha val="15000"/>
            </a:schemeClr>
          </a:solidFill>
          <a:ln w="9525">
            <a:solidFill>
              <a:schemeClr val="accent6"/>
            </a:solidFill>
          </a:ln>
        </p:spPr>
        <p:txBody>
          <a:bodyPr wrap="square" lIns="25400" tIns="25400" rIns="25400" bIns="25400" rtlCol="0" anchor="ctr"/>
          <a:lstStyle/>
          <a:p>
            <a:pPr marL="0" indent="0" algn="ctr">
              <a:buNone/>
            </a:pPr>
            <a:r>
              <a:rPr lang="en-US" sz="1500" b="1" dirty="0">
                <a:solidFill>
                  <a:schemeClr val="tx1"/>
                </a:solidFill>
                <a:latin typeface="Courier New" pitchFamily="34" charset="0"/>
                <a:ea typeface="Courier New" pitchFamily="34" charset="-122"/>
                <a:cs typeface="Courier New" pitchFamily="34" charset="-120"/>
              </a:rPr>
              <a:t>0</a:t>
            </a:r>
            <a:endParaRPr lang="en-US" sz="1500" dirty="0"/>
          </a:p>
        </p:txBody>
      </p:sp>
      <p:sp>
        <p:nvSpPr>
          <p:cNvPr id="36" name="A2_122"/>
          <p:cNvSpPr txBox="1"/>
          <p:nvPr/>
        </p:nvSpPr>
        <p:spPr>
          <a:xfrm>
            <a:off x="548640" y="4892040"/>
            <a:ext cx="1463040" cy="411480"/>
          </a:xfrm>
          <a:prstGeom prst="rect">
            <a:avLst/>
          </a:prstGeom>
          <a:noFill/>
          <a:ln/>
        </p:spPr>
        <p:txBody>
          <a:bodyPr wrap="square" lIns="0" tIns="0" rIns="0" bIns="0" rtlCol="0" anchor="ctr"/>
          <a:lstStyle/>
          <a:p>
            <a:pPr marL="0" indent="0" algn="r">
              <a:buNone/>
            </a:pPr>
            <a:r>
              <a:rPr lang="en-US" sz="1500" b="1" dirty="0">
                <a:solidFill>
                  <a:schemeClr val="tx1"/>
                </a:solidFill>
              </a:rPr>
              <a:t>C = P ⊕ K</a:t>
            </a:r>
            <a:endParaRPr lang="en-US" sz="1500" dirty="0"/>
          </a:p>
        </p:txBody>
      </p:sp>
      <p:sp>
        <p:nvSpPr>
          <p:cNvPr id="37" name="A2_123"/>
          <p:cNvSpPr txBox="1"/>
          <p:nvPr/>
        </p:nvSpPr>
        <p:spPr>
          <a:xfrm>
            <a:off x="2194560" y="4892040"/>
            <a:ext cx="411480" cy="411480"/>
          </a:xfrm>
          <a:prstGeom prst="roundRect">
            <a:avLst>
              <a:gd name="adj" fmla="val 13333"/>
            </a:avLst>
          </a:prstGeom>
          <a:solidFill>
            <a:schemeClr val="accent3">
              <a:alpha val="15000"/>
            </a:schemeClr>
          </a:solidFill>
          <a:ln w="9525">
            <a:solidFill>
              <a:schemeClr val="accent3"/>
            </a:solidFill>
          </a:ln>
        </p:spPr>
        <p:txBody>
          <a:bodyPr wrap="square" lIns="25400" tIns="25400" rIns="25400" bIns="25400" rtlCol="0" anchor="ctr"/>
          <a:lstStyle/>
          <a:p>
            <a:pPr marL="0" indent="0" algn="ctr">
              <a:buNone/>
            </a:pPr>
            <a:r>
              <a:rPr lang="en-US" sz="1500" b="1" dirty="0">
                <a:solidFill>
                  <a:schemeClr val="tx1"/>
                </a:solidFill>
                <a:latin typeface="Courier New" pitchFamily="34" charset="0"/>
                <a:ea typeface="Courier New" pitchFamily="34" charset="-122"/>
                <a:cs typeface="Courier New" pitchFamily="34" charset="-120"/>
              </a:rPr>
              <a:t>0</a:t>
            </a:r>
            <a:endParaRPr lang="en-US" sz="1500" dirty="0"/>
          </a:p>
        </p:txBody>
      </p:sp>
      <p:sp>
        <p:nvSpPr>
          <p:cNvPr id="38" name="A2_124"/>
          <p:cNvSpPr txBox="1"/>
          <p:nvPr/>
        </p:nvSpPr>
        <p:spPr>
          <a:xfrm>
            <a:off x="2651760" y="4892040"/>
            <a:ext cx="411480" cy="411480"/>
          </a:xfrm>
          <a:prstGeom prst="roundRect">
            <a:avLst>
              <a:gd name="adj" fmla="val 13333"/>
            </a:avLst>
          </a:prstGeom>
          <a:solidFill>
            <a:schemeClr val="accent3">
              <a:alpha val="15000"/>
            </a:schemeClr>
          </a:solidFill>
          <a:ln w="9525">
            <a:solidFill>
              <a:schemeClr val="accent3"/>
            </a:solidFill>
          </a:ln>
        </p:spPr>
        <p:txBody>
          <a:bodyPr wrap="square" lIns="25400" tIns="25400" rIns="25400" bIns="25400" rtlCol="0" anchor="ctr"/>
          <a:lstStyle/>
          <a:p>
            <a:pPr marL="0" indent="0" algn="ctr">
              <a:buNone/>
            </a:pPr>
            <a:r>
              <a:rPr lang="en-US" sz="1500" b="1" dirty="0">
                <a:solidFill>
                  <a:schemeClr val="tx1"/>
                </a:solidFill>
                <a:latin typeface="Courier New" pitchFamily="34" charset="0"/>
                <a:ea typeface="Courier New" pitchFamily="34" charset="-122"/>
                <a:cs typeface="Courier New" pitchFamily="34" charset="-120"/>
              </a:rPr>
              <a:t>1</a:t>
            </a:r>
            <a:endParaRPr lang="en-US" sz="1500" dirty="0"/>
          </a:p>
        </p:txBody>
      </p:sp>
      <p:sp>
        <p:nvSpPr>
          <p:cNvPr id="39" name="A2_125"/>
          <p:cNvSpPr txBox="1"/>
          <p:nvPr/>
        </p:nvSpPr>
        <p:spPr>
          <a:xfrm>
            <a:off x="3108960" y="4892040"/>
            <a:ext cx="411480" cy="411480"/>
          </a:xfrm>
          <a:prstGeom prst="roundRect">
            <a:avLst>
              <a:gd name="adj" fmla="val 13333"/>
            </a:avLst>
          </a:prstGeom>
          <a:solidFill>
            <a:schemeClr val="accent3">
              <a:alpha val="15000"/>
            </a:schemeClr>
          </a:solidFill>
          <a:ln w="9525">
            <a:solidFill>
              <a:schemeClr val="accent3"/>
            </a:solidFill>
          </a:ln>
        </p:spPr>
        <p:txBody>
          <a:bodyPr wrap="square" lIns="25400" tIns="25400" rIns="25400" bIns="25400" rtlCol="0" anchor="ctr"/>
          <a:lstStyle/>
          <a:p>
            <a:pPr marL="0" indent="0" algn="ctr">
              <a:buNone/>
            </a:pPr>
            <a:r>
              <a:rPr lang="en-US" sz="1500" b="1" dirty="0">
                <a:solidFill>
                  <a:schemeClr val="tx1"/>
                </a:solidFill>
                <a:latin typeface="Courier New" pitchFamily="34" charset="0"/>
                <a:ea typeface="Courier New" pitchFamily="34" charset="-122"/>
                <a:cs typeface="Courier New" pitchFamily="34" charset="-120"/>
              </a:rPr>
              <a:t>1</a:t>
            </a:r>
            <a:endParaRPr lang="en-US" sz="1500" dirty="0"/>
          </a:p>
        </p:txBody>
      </p:sp>
      <p:sp>
        <p:nvSpPr>
          <p:cNvPr id="40" name="A2_126"/>
          <p:cNvSpPr txBox="1"/>
          <p:nvPr/>
        </p:nvSpPr>
        <p:spPr>
          <a:xfrm>
            <a:off x="3566160" y="4892040"/>
            <a:ext cx="411480" cy="411480"/>
          </a:xfrm>
          <a:prstGeom prst="roundRect">
            <a:avLst>
              <a:gd name="adj" fmla="val 13333"/>
            </a:avLst>
          </a:prstGeom>
          <a:solidFill>
            <a:schemeClr val="accent3">
              <a:alpha val="15000"/>
            </a:schemeClr>
          </a:solidFill>
          <a:ln w="9525">
            <a:solidFill>
              <a:schemeClr val="accent3"/>
            </a:solidFill>
          </a:ln>
        </p:spPr>
        <p:txBody>
          <a:bodyPr wrap="square" lIns="25400" tIns="25400" rIns="25400" bIns="25400" rtlCol="0" anchor="ctr"/>
          <a:lstStyle/>
          <a:p>
            <a:pPr marL="0" indent="0" algn="ctr">
              <a:buNone/>
            </a:pPr>
            <a:r>
              <a:rPr lang="en-US" sz="1500" b="1" dirty="0">
                <a:solidFill>
                  <a:schemeClr val="tx1"/>
                </a:solidFill>
                <a:latin typeface="Courier New" pitchFamily="34" charset="0"/>
                <a:ea typeface="Courier New" pitchFamily="34" charset="-122"/>
                <a:cs typeface="Courier New" pitchFamily="34" charset="-120"/>
              </a:rPr>
              <a:t>0</a:t>
            </a:r>
            <a:endParaRPr lang="en-US" sz="1500" dirty="0"/>
          </a:p>
        </p:txBody>
      </p:sp>
      <p:sp>
        <p:nvSpPr>
          <p:cNvPr id="41" name="A2_127"/>
          <p:cNvSpPr txBox="1"/>
          <p:nvPr/>
        </p:nvSpPr>
        <p:spPr>
          <a:xfrm>
            <a:off x="4023360" y="4892040"/>
            <a:ext cx="411480" cy="411480"/>
          </a:xfrm>
          <a:prstGeom prst="roundRect">
            <a:avLst>
              <a:gd name="adj" fmla="val 13333"/>
            </a:avLst>
          </a:prstGeom>
          <a:solidFill>
            <a:schemeClr val="accent3">
              <a:alpha val="15000"/>
            </a:schemeClr>
          </a:solidFill>
          <a:ln w="9525">
            <a:solidFill>
              <a:schemeClr val="accent3"/>
            </a:solidFill>
          </a:ln>
        </p:spPr>
        <p:txBody>
          <a:bodyPr wrap="square" lIns="25400" tIns="25400" rIns="25400" bIns="25400" rtlCol="0" anchor="ctr"/>
          <a:lstStyle/>
          <a:p>
            <a:pPr marL="0" indent="0" algn="ctr">
              <a:buNone/>
            </a:pPr>
            <a:r>
              <a:rPr lang="en-US" sz="1500" b="1" dirty="0">
                <a:solidFill>
                  <a:schemeClr val="tx1"/>
                </a:solidFill>
                <a:latin typeface="Courier New" pitchFamily="34" charset="0"/>
                <a:ea typeface="Courier New" pitchFamily="34" charset="-122"/>
                <a:cs typeface="Courier New" pitchFamily="34" charset="-120"/>
              </a:rPr>
              <a:t>1</a:t>
            </a:r>
            <a:endParaRPr lang="en-US" sz="1500" dirty="0"/>
          </a:p>
        </p:txBody>
      </p:sp>
      <p:sp>
        <p:nvSpPr>
          <p:cNvPr id="42" name="A2_128"/>
          <p:cNvSpPr txBox="1"/>
          <p:nvPr/>
        </p:nvSpPr>
        <p:spPr>
          <a:xfrm>
            <a:off x="4480560" y="4892040"/>
            <a:ext cx="411480" cy="411480"/>
          </a:xfrm>
          <a:prstGeom prst="roundRect">
            <a:avLst>
              <a:gd name="adj" fmla="val 13333"/>
            </a:avLst>
          </a:prstGeom>
          <a:solidFill>
            <a:schemeClr val="accent3">
              <a:alpha val="15000"/>
            </a:schemeClr>
          </a:solidFill>
          <a:ln w="9525">
            <a:solidFill>
              <a:schemeClr val="accent3"/>
            </a:solidFill>
          </a:ln>
        </p:spPr>
        <p:txBody>
          <a:bodyPr wrap="square" lIns="25400" tIns="25400" rIns="25400" bIns="25400" rtlCol="0" anchor="ctr"/>
          <a:lstStyle/>
          <a:p>
            <a:pPr marL="0" indent="0" algn="ctr">
              <a:buNone/>
            </a:pPr>
            <a:r>
              <a:rPr lang="en-US" sz="1500" b="1" dirty="0">
                <a:solidFill>
                  <a:schemeClr val="tx1"/>
                </a:solidFill>
                <a:latin typeface="Courier New" pitchFamily="34" charset="0"/>
                <a:ea typeface="Courier New" pitchFamily="34" charset="-122"/>
                <a:cs typeface="Courier New" pitchFamily="34" charset="-120"/>
              </a:rPr>
              <a:t>0</a:t>
            </a:r>
            <a:endParaRPr lang="en-US" sz="1500" dirty="0"/>
          </a:p>
        </p:txBody>
      </p:sp>
      <p:sp>
        <p:nvSpPr>
          <p:cNvPr id="43" name="A2_129"/>
          <p:cNvSpPr txBox="1"/>
          <p:nvPr/>
        </p:nvSpPr>
        <p:spPr>
          <a:xfrm>
            <a:off x="4937760" y="4892040"/>
            <a:ext cx="411480" cy="411480"/>
          </a:xfrm>
          <a:prstGeom prst="roundRect">
            <a:avLst>
              <a:gd name="adj" fmla="val 13333"/>
            </a:avLst>
          </a:prstGeom>
          <a:solidFill>
            <a:schemeClr val="accent3">
              <a:alpha val="15000"/>
            </a:schemeClr>
          </a:solidFill>
          <a:ln w="9525">
            <a:solidFill>
              <a:schemeClr val="accent3"/>
            </a:solidFill>
          </a:ln>
        </p:spPr>
        <p:txBody>
          <a:bodyPr wrap="square" lIns="25400" tIns="25400" rIns="25400" bIns="25400" rtlCol="0" anchor="ctr"/>
          <a:lstStyle/>
          <a:p>
            <a:pPr marL="0" indent="0" algn="ctr">
              <a:buNone/>
            </a:pPr>
            <a:r>
              <a:rPr lang="en-US" sz="1500" b="1" dirty="0">
                <a:solidFill>
                  <a:schemeClr val="tx1"/>
                </a:solidFill>
                <a:latin typeface="Courier New" pitchFamily="34" charset="0"/>
                <a:ea typeface="Courier New" pitchFamily="34" charset="-122"/>
                <a:cs typeface="Courier New" pitchFamily="34" charset="-120"/>
              </a:rPr>
              <a:t>1</a:t>
            </a:r>
            <a:endParaRPr lang="en-US" sz="1500" dirty="0"/>
          </a:p>
        </p:txBody>
      </p:sp>
      <p:sp>
        <p:nvSpPr>
          <p:cNvPr id="44" name="A2_130"/>
          <p:cNvSpPr txBox="1"/>
          <p:nvPr/>
        </p:nvSpPr>
        <p:spPr>
          <a:xfrm>
            <a:off x="5394960" y="4892040"/>
            <a:ext cx="411480" cy="411480"/>
          </a:xfrm>
          <a:prstGeom prst="roundRect">
            <a:avLst>
              <a:gd name="adj" fmla="val 13333"/>
            </a:avLst>
          </a:prstGeom>
          <a:solidFill>
            <a:schemeClr val="accent3">
              <a:alpha val="15000"/>
            </a:schemeClr>
          </a:solidFill>
          <a:ln w="9525">
            <a:solidFill>
              <a:schemeClr val="accent3"/>
            </a:solidFill>
          </a:ln>
        </p:spPr>
        <p:txBody>
          <a:bodyPr wrap="square" lIns="25400" tIns="25400" rIns="25400" bIns="25400" rtlCol="0" anchor="ctr"/>
          <a:lstStyle/>
          <a:p>
            <a:pPr marL="0" indent="0" algn="ctr">
              <a:buNone/>
            </a:pPr>
            <a:r>
              <a:rPr lang="en-US" sz="1500" b="1" dirty="0">
                <a:solidFill>
                  <a:schemeClr val="tx1"/>
                </a:solidFill>
                <a:latin typeface="Courier New" pitchFamily="34" charset="0"/>
                <a:ea typeface="Courier New" pitchFamily="34" charset="-122"/>
                <a:cs typeface="Courier New" pitchFamily="34" charset="-120"/>
              </a:rPr>
              <a:t>1</a:t>
            </a:r>
            <a:endParaRPr lang="en-US" sz="1500" dirty="0"/>
          </a:p>
        </p:txBody>
      </p:sp>
      <p:sp>
        <p:nvSpPr>
          <p:cNvPr id="45" name="A2_131"/>
          <p:cNvSpPr txBox="1"/>
          <p:nvPr/>
        </p:nvSpPr>
        <p:spPr>
          <a:xfrm>
            <a:off x="5989320" y="3886200"/>
            <a:ext cx="1280160" cy="1417320"/>
          </a:xfrm>
          <a:prstGeom prst="rect">
            <a:avLst/>
          </a:prstGeom>
          <a:noFill/>
          <a:ln/>
        </p:spPr>
        <p:txBody>
          <a:bodyPr wrap="square" lIns="0" tIns="0" rIns="0" bIns="0" rtlCol="0" anchor="ctr"/>
          <a:lstStyle/>
          <a:p>
            <a:pPr marL="0" indent="0" algn="l">
              <a:buNone/>
            </a:pPr>
            <a:r>
              <a:rPr lang="en-US" sz="1500" b="1" dirty="0">
                <a:solidFill>
                  <a:schemeClr val="tx1"/>
                </a:solidFill>
              </a:rPr>
              <a:t>C ⊕ K = P</a:t>
            </a:r>
            <a:endParaRPr lang="en-US" sz="1400" dirty="0"/>
          </a:p>
          <a:p>
            <a:pPr marL="0" indent="0" algn="l">
              <a:buNone/>
            </a:pPr>
            <a:r>
              <a:rPr lang="en-US" sz="1200" dirty="0">
                <a:solidFill>
                  <a:srgbClr val="52514E"/>
                </a:solidFill>
              </a:rPr>
              <a:t>shifrlash va rasshifrovka — bitta amal</a:t>
            </a:r>
            <a:endParaRPr lang="en-US" sz="1400" dirty="0"/>
          </a:p>
        </p:txBody>
      </p:sp>
      <p:sp>
        <p:nvSpPr>
          <p:cNvPr id="46" name="A3_132"/>
          <p:cNvSpPr txBox="1"/>
          <p:nvPr/>
        </p:nvSpPr>
        <p:spPr>
          <a:xfrm>
            <a:off x="7589520" y="3337560"/>
            <a:ext cx="4069080" cy="2057400"/>
          </a:xfrm>
          <a:prstGeom prst="roundRect">
            <a:avLst>
              <a:gd name="adj" fmla="val 3556"/>
            </a:avLst>
          </a:prstGeom>
          <a:solidFill>
            <a:schemeClr val="accent2">
              <a:alpha val="18000"/>
            </a:schemeClr>
          </a:solidFill>
          <a:ln>
            <a:solidFill>
              <a:schemeClr val="accent2">
                <a:alpha val="0"/>
              </a:schemeClr>
            </a:solidFill>
          </a:ln>
        </p:spPr>
        <p:txBody>
          <a:bodyPr wrap="square" lIns="76200" tIns="127000" rIns="127000" bIns="76200" rtlCol="0" anchor="t"/>
          <a:lstStyle/>
          <a:p>
            <a:pPr marL="0" indent="0" algn="l">
              <a:spcAft>
                <a:spcPts val="300"/>
              </a:spcAft>
              <a:buNone/>
            </a:pPr>
            <a:r>
              <a:rPr lang="en-US" sz="1700" b="1" dirty="0">
                <a:solidFill>
                  <a:srgbClr val="1E7268"/>
                </a:solidFill>
              </a:rPr>
              <a:t>Kriptografiyada qayerda kerak</a:t>
            </a:r>
            <a:endParaRPr lang="en-US" sz="1700" dirty="0"/>
          </a:p>
          <a:p>
            <a:pPr marL="0" indent="0" algn="l">
              <a:spcAft>
                <a:spcPts val="300"/>
              </a:spcAft>
              <a:buNone/>
            </a:pPr>
            <a:r>
              <a:rPr lang="en-US" sz="1500" dirty="0">
                <a:solidFill>
                  <a:schemeClr val="tx1"/>
                </a:solidFill>
              </a:rPr>
              <a:t>▸ Sezar, affin, Vijener — harf raqamlari ustida (7–10)</a:t>
            </a:r>
            <a:endParaRPr lang="en-US" sz="1700" dirty="0"/>
          </a:p>
          <a:p>
            <a:pPr marL="0" indent="0" algn="l">
              <a:spcAft>
                <a:spcPts val="300"/>
              </a:spcAft>
              <a:buNone/>
            </a:pPr>
            <a:r>
              <a:rPr lang="en-US" sz="1500" dirty="0">
                <a:solidFill>
                  <a:schemeClr val="tx1"/>
                </a:solidFill>
              </a:rPr>
              <a:t>▸ XOR — Vernam, oqimli shifrlar, AES ichida (15–17, 25)</a:t>
            </a:r>
            <a:endParaRPr lang="en-US" sz="1700" dirty="0"/>
          </a:p>
          <a:p>
            <a:pPr marL="0" indent="0" algn="l">
              <a:spcAft>
                <a:spcPts val="300"/>
              </a:spcAft>
              <a:buNone/>
            </a:pPr>
            <a:r>
              <a:rPr lang="en-US" sz="1500" dirty="0">
                <a:solidFill>
                  <a:schemeClr val="tx1"/>
                </a:solidFill>
              </a:rPr>
              <a:t>▸ Matn, rasm, ovoz — avval baytga aylanib, keyin shifrlanadi</a:t>
            </a:r>
            <a:endParaRPr lang="en-US" sz="1700" dirty="0"/>
          </a:p>
        </p:txBody>
      </p:sp>
      <p:sp>
        <p:nvSpPr>
          <p:cNvPr id="47" name="A3_133"/>
          <p:cNvSpPr txBox="1"/>
          <p:nvPr/>
        </p:nvSpPr>
        <p:spPr>
          <a:xfrm>
            <a:off x="7589520" y="5486400"/>
            <a:ext cx="4069080" cy="685800"/>
          </a:xfrm>
          <a:prstGeom prst="roundRect">
            <a:avLst>
              <a:gd name="adj" fmla="val 10667"/>
            </a:avLst>
          </a:prstGeom>
          <a:solidFill>
            <a:schemeClr val="accent5">
              <a:alpha val="12000"/>
            </a:schemeClr>
          </a:solidFill>
          <a:ln>
            <a:solidFill>
              <a:schemeClr val="accent5">
                <a:alpha val="0"/>
              </a:schemeClr>
            </a:solidFill>
          </a:ln>
        </p:spPr>
        <p:txBody>
          <a:bodyPr wrap="square" lIns="76200" tIns="127000" rIns="127000" bIns="76200" rtlCol="0" anchor="t"/>
          <a:lstStyle/>
          <a:p>
            <a:pPr marL="0" indent="0" algn="l">
              <a:spcAft>
                <a:spcPts val="300"/>
              </a:spcAft>
              <a:buNone/>
            </a:pPr>
            <a:r>
              <a:rPr lang="en-US" sz="1800" b="1" dirty="0">
                <a:solidFill>
                  <a:schemeClr val="accent5"/>
                </a:solidFill>
              </a:rPr>
              <a:t>Raqamlar</a:t>
            </a:r>
            <a:endParaRPr lang="en-US" sz="1800" dirty="0"/>
          </a:p>
          <a:p>
            <a:pPr marL="0" indent="0" algn="l">
              <a:spcAft>
                <a:spcPts val="300"/>
              </a:spcAft>
              <a:buNone/>
            </a:pPr>
            <a:r>
              <a:rPr lang="en-US" sz="1500" dirty="0">
                <a:solidFill>
                  <a:schemeClr val="tx1"/>
                </a:solidFill>
              </a:rPr>
              <a:t>1 bayt = 8 bit;  A = 65 = 0x41</a:t>
            </a:r>
            <a:endParaRPr lang="en-US" sz="1800" dirty="0"/>
          </a:p>
        </p:txBody>
      </p:sp>
      <p:sp>
        <p:nvSpPr>
          <p:cNvPr id="4"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D99AE"/>
                </a:solidFill>
                <a:latin typeface="Times New Roman"/>
                <a:ea typeface="Times New Roman"/>
                <a:cs typeface="Times New Roman"/>
              </a:defRPr>
            </a:lvl1pPr>
          </a:lstStyle>
          <a:p>
            <a:pPr algn="r"/>
            <a:fld id="{F7021451-1387-4CA6-816F-3879F97B5CBC}" type="slidenum">
              <a:rPr lang="en-US" b="0"/>
              <a:t>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par>
                                <p:cTn id="20" presetID="10" presetClass="entr" presetSubtype="0" fill="hold"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400"/>
                                        <p:tgtEl>
                                          <p:spTgt spid="10"/>
                                        </p:tgtEl>
                                      </p:cBhvr>
                                    </p:animEffect>
                                  </p:childTnLst>
                                </p:cTn>
                              </p:par>
                              <p:par>
                                <p:cTn id="23" presetID="10" presetClass="entr" presetSubtype="0"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400"/>
                                        <p:tgtEl>
                                          <p:spTgt spid="11"/>
                                        </p:tgtEl>
                                      </p:cBhvr>
                                    </p:animEffect>
                                  </p:childTnLst>
                                </p:cTn>
                              </p:par>
                              <p:par>
                                <p:cTn id="26" presetID="10" presetClass="entr" presetSubtype="0" fill="hold"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400"/>
                                        <p:tgtEl>
                                          <p:spTgt spid="12"/>
                                        </p:tgtEl>
                                      </p:cBhvr>
                                    </p:animEffect>
                                  </p:childTnLst>
                                </p:cTn>
                              </p:par>
                              <p:par>
                                <p:cTn id="29" presetID="10" presetClass="entr" presetSubtype="0"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400"/>
                                        <p:tgtEl>
                                          <p:spTgt spid="13"/>
                                        </p:tgtEl>
                                      </p:cBhvr>
                                    </p:animEffect>
                                  </p:childTnLst>
                                </p:cTn>
                              </p:par>
                              <p:par>
                                <p:cTn id="32" presetID="10" presetClass="entr" presetSubtype="0" fill="hold"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par>
                                <p:cTn id="35" presetID="10" presetClass="entr" presetSubtype="0" fill="hold"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400"/>
                                        <p:tgtEl>
                                          <p:spTgt spid="15"/>
                                        </p:tgtEl>
                                      </p:cBhvr>
                                    </p:animEffect>
                                  </p:childTnLst>
                                </p:cTn>
                              </p:par>
                              <p:par>
                                <p:cTn id="38" presetID="10" presetClass="entr" presetSubtype="0" fill="hold"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400"/>
                                        <p:tgtEl>
                                          <p:spTgt spid="16"/>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400"/>
                                        <p:tgtEl>
                                          <p:spTgt spid="17"/>
                                        </p:tgtEl>
                                      </p:cBhvr>
                                    </p:animEffect>
                                  </p:childTnLst>
                                </p:cTn>
                              </p:par>
                              <p:par>
                                <p:cTn id="46" presetID="10" presetClass="entr" presetSubtype="0" fill="hold" nodeType="with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400"/>
                                        <p:tgtEl>
                                          <p:spTgt spid="18"/>
                                        </p:tgtEl>
                                      </p:cBhvr>
                                    </p:animEffect>
                                  </p:childTnLst>
                                </p:cTn>
                              </p:par>
                              <p:par>
                                <p:cTn id="49" presetID="10" presetClass="entr" presetSubtype="0" fill="hold" nodeType="with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400"/>
                                        <p:tgtEl>
                                          <p:spTgt spid="19"/>
                                        </p:tgtEl>
                                      </p:cBhvr>
                                    </p:animEffect>
                                  </p:childTnLst>
                                </p:cTn>
                              </p:par>
                              <p:par>
                                <p:cTn id="52" presetID="10" presetClass="entr" presetSubtype="0" fill="hold" nodeType="with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400"/>
                                        <p:tgtEl>
                                          <p:spTgt spid="20"/>
                                        </p:tgtEl>
                                      </p:cBhvr>
                                    </p:animEffect>
                                  </p:childTnLst>
                                </p:cTn>
                              </p:par>
                              <p:par>
                                <p:cTn id="55" presetID="10" presetClass="entr" presetSubtype="0" fill="hold" nodeType="with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400"/>
                                        <p:tgtEl>
                                          <p:spTgt spid="21"/>
                                        </p:tgtEl>
                                      </p:cBhvr>
                                    </p:animEffect>
                                  </p:childTnLst>
                                </p:cTn>
                              </p:par>
                              <p:par>
                                <p:cTn id="58" presetID="10" presetClass="entr" presetSubtype="0" fill="hold" nodeType="withEffect">
                                  <p:stCondLst>
                                    <p:cond delay="0"/>
                                  </p:stCondLst>
                                  <p:childTnLst>
                                    <p:set>
                                      <p:cBhvr>
                                        <p:cTn id="59" dur="1" fill="hold">
                                          <p:stCondLst>
                                            <p:cond delay="0"/>
                                          </p:stCondLst>
                                        </p:cTn>
                                        <p:tgtEl>
                                          <p:spTgt spid="22"/>
                                        </p:tgtEl>
                                        <p:attrNameLst>
                                          <p:attrName>style.visibility</p:attrName>
                                        </p:attrNameLst>
                                      </p:cBhvr>
                                      <p:to>
                                        <p:strVal val="visible"/>
                                      </p:to>
                                    </p:set>
                                    <p:animEffect transition="in" filter="fade">
                                      <p:cBhvr>
                                        <p:cTn id="60" dur="400"/>
                                        <p:tgtEl>
                                          <p:spTgt spid="22"/>
                                        </p:tgtEl>
                                      </p:cBhvr>
                                    </p:animEffect>
                                  </p:childTnLst>
                                </p:cTn>
                              </p:par>
                              <p:par>
                                <p:cTn id="61" presetID="10" presetClass="entr" presetSubtype="0" fill="hold" nodeType="withEffect">
                                  <p:stCondLst>
                                    <p:cond delay="0"/>
                                  </p:stCondLst>
                                  <p:childTnLst>
                                    <p:set>
                                      <p:cBhvr>
                                        <p:cTn id="62" dur="1" fill="hold">
                                          <p:stCondLst>
                                            <p:cond delay="0"/>
                                          </p:stCondLst>
                                        </p:cTn>
                                        <p:tgtEl>
                                          <p:spTgt spid="23"/>
                                        </p:tgtEl>
                                        <p:attrNameLst>
                                          <p:attrName>style.visibility</p:attrName>
                                        </p:attrNameLst>
                                      </p:cBhvr>
                                      <p:to>
                                        <p:strVal val="visible"/>
                                      </p:to>
                                    </p:set>
                                    <p:animEffect transition="in" filter="fade">
                                      <p:cBhvr>
                                        <p:cTn id="63" dur="400"/>
                                        <p:tgtEl>
                                          <p:spTgt spid="23"/>
                                        </p:tgtEl>
                                      </p:cBhvr>
                                    </p:animEffect>
                                  </p:childTnLst>
                                </p:cTn>
                              </p:par>
                              <p:par>
                                <p:cTn id="64" presetID="10" presetClass="entr" presetSubtype="0" fill="hold" nodeType="withEffect">
                                  <p:stCondLst>
                                    <p:cond delay="0"/>
                                  </p:stCondLst>
                                  <p:childTnLst>
                                    <p:set>
                                      <p:cBhvr>
                                        <p:cTn id="65" dur="1" fill="hold">
                                          <p:stCondLst>
                                            <p:cond delay="0"/>
                                          </p:stCondLst>
                                        </p:cTn>
                                        <p:tgtEl>
                                          <p:spTgt spid="24"/>
                                        </p:tgtEl>
                                        <p:attrNameLst>
                                          <p:attrName>style.visibility</p:attrName>
                                        </p:attrNameLst>
                                      </p:cBhvr>
                                      <p:to>
                                        <p:strVal val="visible"/>
                                      </p:to>
                                    </p:set>
                                    <p:animEffect transition="in" filter="fade">
                                      <p:cBhvr>
                                        <p:cTn id="66" dur="400"/>
                                        <p:tgtEl>
                                          <p:spTgt spid="24"/>
                                        </p:tgtEl>
                                      </p:cBhvr>
                                    </p:animEffect>
                                  </p:childTnLst>
                                </p:cTn>
                              </p:par>
                              <p:par>
                                <p:cTn id="67" presetID="10" presetClass="entr" presetSubtype="0" fill="hold" nodeType="withEffect">
                                  <p:stCondLst>
                                    <p:cond delay="0"/>
                                  </p:stCondLst>
                                  <p:childTnLst>
                                    <p:set>
                                      <p:cBhvr>
                                        <p:cTn id="68" dur="1" fill="hold">
                                          <p:stCondLst>
                                            <p:cond delay="0"/>
                                          </p:stCondLst>
                                        </p:cTn>
                                        <p:tgtEl>
                                          <p:spTgt spid="25"/>
                                        </p:tgtEl>
                                        <p:attrNameLst>
                                          <p:attrName>style.visibility</p:attrName>
                                        </p:attrNameLst>
                                      </p:cBhvr>
                                      <p:to>
                                        <p:strVal val="visible"/>
                                      </p:to>
                                    </p:set>
                                    <p:animEffect transition="in" filter="fade">
                                      <p:cBhvr>
                                        <p:cTn id="69" dur="400"/>
                                        <p:tgtEl>
                                          <p:spTgt spid="25"/>
                                        </p:tgtEl>
                                      </p:cBhvr>
                                    </p:animEffect>
                                  </p:childTnLst>
                                </p:cTn>
                              </p:par>
                              <p:par>
                                <p:cTn id="70" presetID="10" presetClass="entr" presetSubtype="0" fill="hold" nodeType="withEffect">
                                  <p:stCondLst>
                                    <p:cond delay="0"/>
                                  </p:stCondLst>
                                  <p:childTnLst>
                                    <p:set>
                                      <p:cBhvr>
                                        <p:cTn id="71" dur="1" fill="hold">
                                          <p:stCondLst>
                                            <p:cond delay="0"/>
                                          </p:stCondLst>
                                        </p:cTn>
                                        <p:tgtEl>
                                          <p:spTgt spid="26"/>
                                        </p:tgtEl>
                                        <p:attrNameLst>
                                          <p:attrName>style.visibility</p:attrName>
                                        </p:attrNameLst>
                                      </p:cBhvr>
                                      <p:to>
                                        <p:strVal val="visible"/>
                                      </p:to>
                                    </p:set>
                                    <p:animEffect transition="in" filter="fade">
                                      <p:cBhvr>
                                        <p:cTn id="72" dur="400"/>
                                        <p:tgtEl>
                                          <p:spTgt spid="26"/>
                                        </p:tgtEl>
                                      </p:cBhvr>
                                    </p:animEffect>
                                  </p:childTnLst>
                                </p:cTn>
                              </p:par>
                              <p:par>
                                <p:cTn id="73" presetID="10" presetClass="entr" presetSubtype="0" fill="hold" nodeType="withEffect">
                                  <p:stCondLst>
                                    <p:cond delay="0"/>
                                  </p:stCondLst>
                                  <p:childTnLst>
                                    <p:set>
                                      <p:cBhvr>
                                        <p:cTn id="74" dur="1" fill="hold">
                                          <p:stCondLst>
                                            <p:cond delay="0"/>
                                          </p:stCondLst>
                                        </p:cTn>
                                        <p:tgtEl>
                                          <p:spTgt spid="27"/>
                                        </p:tgtEl>
                                        <p:attrNameLst>
                                          <p:attrName>style.visibility</p:attrName>
                                        </p:attrNameLst>
                                      </p:cBhvr>
                                      <p:to>
                                        <p:strVal val="visible"/>
                                      </p:to>
                                    </p:set>
                                    <p:animEffect transition="in" filter="fade">
                                      <p:cBhvr>
                                        <p:cTn id="75" dur="400"/>
                                        <p:tgtEl>
                                          <p:spTgt spid="27"/>
                                        </p:tgtEl>
                                      </p:cBhvr>
                                    </p:animEffect>
                                  </p:childTnLst>
                                </p:cTn>
                              </p:par>
                              <p:par>
                                <p:cTn id="76" presetID="10" presetClass="entr" presetSubtype="0" fill="hold" nodeType="withEffect">
                                  <p:stCondLst>
                                    <p:cond delay="0"/>
                                  </p:stCondLst>
                                  <p:childTnLst>
                                    <p:set>
                                      <p:cBhvr>
                                        <p:cTn id="77" dur="1" fill="hold">
                                          <p:stCondLst>
                                            <p:cond delay="0"/>
                                          </p:stCondLst>
                                        </p:cTn>
                                        <p:tgtEl>
                                          <p:spTgt spid="28"/>
                                        </p:tgtEl>
                                        <p:attrNameLst>
                                          <p:attrName>style.visibility</p:attrName>
                                        </p:attrNameLst>
                                      </p:cBhvr>
                                      <p:to>
                                        <p:strVal val="visible"/>
                                      </p:to>
                                    </p:set>
                                    <p:animEffect transition="in" filter="fade">
                                      <p:cBhvr>
                                        <p:cTn id="78" dur="400"/>
                                        <p:tgtEl>
                                          <p:spTgt spid="28"/>
                                        </p:tgtEl>
                                      </p:cBhvr>
                                    </p:animEffect>
                                  </p:childTnLst>
                                </p:cTn>
                              </p:par>
                              <p:par>
                                <p:cTn id="79" presetID="10" presetClass="entr" presetSubtype="0" fill="hold" nodeType="withEffect">
                                  <p:stCondLst>
                                    <p:cond delay="0"/>
                                  </p:stCondLst>
                                  <p:childTnLst>
                                    <p:set>
                                      <p:cBhvr>
                                        <p:cTn id="80" dur="1" fill="hold">
                                          <p:stCondLst>
                                            <p:cond delay="0"/>
                                          </p:stCondLst>
                                        </p:cTn>
                                        <p:tgtEl>
                                          <p:spTgt spid="29"/>
                                        </p:tgtEl>
                                        <p:attrNameLst>
                                          <p:attrName>style.visibility</p:attrName>
                                        </p:attrNameLst>
                                      </p:cBhvr>
                                      <p:to>
                                        <p:strVal val="visible"/>
                                      </p:to>
                                    </p:set>
                                    <p:animEffect transition="in" filter="fade">
                                      <p:cBhvr>
                                        <p:cTn id="81" dur="400"/>
                                        <p:tgtEl>
                                          <p:spTgt spid="29"/>
                                        </p:tgtEl>
                                      </p:cBhvr>
                                    </p:animEffect>
                                  </p:childTnLst>
                                </p:cTn>
                              </p:par>
                              <p:par>
                                <p:cTn id="82" presetID="10" presetClass="entr" presetSubtype="0" fill="hold" nodeType="withEffect">
                                  <p:stCondLst>
                                    <p:cond delay="0"/>
                                  </p:stCondLst>
                                  <p:childTnLst>
                                    <p:set>
                                      <p:cBhvr>
                                        <p:cTn id="83" dur="1" fill="hold">
                                          <p:stCondLst>
                                            <p:cond delay="0"/>
                                          </p:stCondLst>
                                        </p:cTn>
                                        <p:tgtEl>
                                          <p:spTgt spid="30"/>
                                        </p:tgtEl>
                                        <p:attrNameLst>
                                          <p:attrName>style.visibility</p:attrName>
                                        </p:attrNameLst>
                                      </p:cBhvr>
                                      <p:to>
                                        <p:strVal val="visible"/>
                                      </p:to>
                                    </p:set>
                                    <p:animEffect transition="in" filter="fade">
                                      <p:cBhvr>
                                        <p:cTn id="84" dur="400"/>
                                        <p:tgtEl>
                                          <p:spTgt spid="30"/>
                                        </p:tgtEl>
                                      </p:cBhvr>
                                    </p:animEffect>
                                  </p:childTnLst>
                                </p:cTn>
                              </p:par>
                              <p:par>
                                <p:cTn id="85" presetID="10" presetClass="entr" presetSubtype="0" fill="hold" nodeType="withEffect">
                                  <p:stCondLst>
                                    <p:cond delay="0"/>
                                  </p:stCondLst>
                                  <p:childTnLst>
                                    <p:set>
                                      <p:cBhvr>
                                        <p:cTn id="86" dur="1" fill="hold">
                                          <p:stCondLst>
                                            <p:cond delay="0"/>
                                          </p:stCondLst>
                                        </p:cTn>
                                        <p:tgtEl>
                                          <p:spTgt spid="31"/>
                                        </p:tgtEl>
                                        <p:attrNameLst>
                                          <p:attrName>style.visibility</p:attrName>
                                        </p:attrNameLst>
                                      </p:cBhvr>
                                      <p:to>
                                        <p:strVal val="visible"/>
                                      </p:to>
                                    </p:set>
                                    <p:animEffect transition="in" filter="fade">
                                      <p:cBhvr>
                                        <p:cTn id="87" dur="400"/>
                                        <p:tgtEl>
                                          <p:spTgt spid="31"/>
                                        </p:tgtEl>
                                      </p:cBhvr>
                                    </p:animEffect>
                                  </p:childTnLst>
                                </p:cTn>
                              </p:par>
                              <p:par>
                                <p:cTn id="88" presetID="10" presetClass="entr" presetSubtype="0" fill="hold" nodeType="withEffect">
                                  <p:stCondLst>
                                    <p:cond delay="0"/>
                                  </p:stCondLst>
                                  <p:childTnLst>
                                    <p:set>
                                      <p:cBhvr>
                                        <p:cTn id="89" dur="1" fill="hold">
                                          <p:stCondLst>
                                            <p:cond delay="0"/>
                                          </p:stCondLst>
                                        </p:cTn>
                                        <p:tgtEl>
                                          <p:spTgt spid="32"/>
                                        </p:tgtEl>
                                        <p:attrNameLst>
                                          <p:attrName>style.visibility</p:attrName>
                                        </p:attrNameLst>
                                      </p:cBhvr>
                                      <p:to>
                                        <p:strVal val="visible"/>
                                      </p:to>
                                    </p:set>
                                    <p:animEffect transition="in" filter="fade">
                                      <p:cBhvr>
                                        <p:cTn id="90" dur="400"/>
                                        <p:tgtEl>
                                          <p:spTgt spid="32"/>
                                        </p:tgtEl>
                                      </p:cBhvr>
                                    </p:animEffect>
                                  </p:childTnLst>
                                </p:cTn>
                              </p:par>
                              <p:par>
                                <p:cTn id="91" presetID="10" presetClass="entr" presetSubtype="0" fill="hold" nodeType="withEffect">
                                  <p:stCondLst>
                                    <p:cond delay="0"/>
                                  </p:stCondLst>
                                  <p:childTnLst>
                                    <p:set>
                                      <p:cBhvr>
                                        <p:cTn id="92" dur="1" fill="hold">
                                          <p:stCondLst>
                                            <p:cond delay="0"/>
                                          </p:stCondLst>
                                        </p:cTn>
                                        <p:tgtEl>
                                          <p:spTgt spid="33"/>
                                        </p:tgtEl>
                                        <p:attrNameLst>
                                          <p:attrName>style.visibility</p:attrName>
                                        </p:attrNameLst>
                                      </p:cBhvr>
                                      <p:to>
                                        <p:strVal val="visible"/>
                                      </p:to>
                                    </p:set>
                                    <p:animEffect transition="in" filter="fade">
                                      <p:cBhvr>
                                        <p:cTn id="93" dur="400"/>
                                        <p:tgtEl>
                                          <p:spTgt spid="33"/>
                                        </p:tgtEl>
                                      </p:cBhvr>
                                    </p:animEffect>
                                  </p:childTnLst>
                                </p:cTn>
                              </p:par>
                              <p:par>
                                <p:cTn id="94" presetID="10" presetClass="entr" presetSubtype="0" fill="hold" nodeType="withEffect">
                                  <p:stCondLst>
                                    <p:cond delay="0"/>
                                  </p:stCondLst>
                                  <p:childTnLst>
                                    <p:set>
                                      <p:cBhvr>
                                        <p:cTn id="95" dur="1" fill="hold">
                                          <p:stCondLst>
                                            <p:cond delay="0"/>
                                          </p:stCondLst>
                                        </p:cTn>
                                        <p:tgtEl>
                                          <p:spTgt spid="34"/>
                                        </p:tgtEl>
                                        <p:attrNameLst>
                                          <p:attrName>style.visibility</p:attrName>
                                        </p:attrNameLst>
                                      </p:cBhvr>
                                      <p:to>
                                        <p:strVal val="visible"/>
                                      </p:to>
                                    </p:set>
                                    <p:animEffect transition="in" filter="fade">
                                      <p:cBhvr>
                                        <p:cTn id="96" dur="400"/>
                                        <p:tgtEl>
                                          <p:spTgt spid="34"/>
                                        </p:tgtEl>
                                      </p:cBhvr>
                                    </p:animEffect>
                                  </p:childTnLst>
                                </p:cTn>
                              </p:par>
                              <p:par>
                                <p:cTn id="97" presetID="10" presetClass="entr" presetSubtype="0" fill="hold" nodeType="withEffect">
                                  <p:stCondLst>
                                    <p:cond delay="0"/>
                                  </p:stCondLst>
                                  <p:childTnLst>
                                    <p:set>
                                      <p:cBhvr>
                                        <p:cTn id="98" dur="1" fill="hold">
                                          <p:stCondLst>
                                            <p:cond delay="0"/>
                                          </p:stCondLst>
                                        </p:cTn>
                                        <p:tgtEl>
                                          <p:spTgt spid="35"/>
                                        </p:tgtEl>
                                        <p:attrNameLst>
                                          <p:attrName>style.visibility</p:attrName>
                                        </p:attrNameLst>
                                      </p:cBhvr>
                                      <p:to>
                                        <p:strVal val="visible"/>
                                      </p:to>
                                    </p:set>
                                    <p:animEffect transition="in" filter="fade">
                                      <p:cBhvr>
                                        <p:cTn id="99" dur="400"/>
                                        <p:tgtEl>
                                          <p:spTgt spid="35"/>
                                        </p:tgtEl>
                                      </p:cBhvr>
                                    </p:animEffect>
                                  </p:childTnLst>
                                </p:cTn>
                              </p:par>
                              <p:par>
                                <p:cTn id="100" presetID="10" presetClass="entr" presetSubtype="0" fill="hold" nodeType="withEffect">
                                  <p:stCondLst>
                                    <p:cond delay="0"/>
                                  </p:stCondLst>
                                  <p:childTnLst>
                                    <p:set>
                                      <p:cBhvr>
                                        <p:cTn id="101" dur="1" fill="hold">
                                          <p:stCondLst>
                                            <p:cond delay="0"/>
                                          </p:stCondLst>
                                        </p:cTn>
                                        <p:tgtEl>
                                          <p:spTgt spid="36"/>
                                        </p:tgtEl>
                                        <p:attrNameLst>
                                          <p:attrName>style.visibility</p:attrName>
                                        </p:attrNameLst>
                                      </p:cBhvr>
                                      <p:to>
                                        <p:strVal val="visible"/>
                                      </p:to>
                                    </p:set>
                                    <p:animEffect transition="in" filter="fade">
                                      <p:cBhvr>
                                        <p:cTn id="102" dur="400"/>
                                        <p:tgtEl>
                                          <p:spTgt spid="36"/>
                                        </p:tgtEl>
                                      </p:cBhvr>
                                    </p:animEffect>
                                  </p:childTnLst>
                                </p:cTn>
                              </p:par>
                              <p:par>
                                <p:cTn id="103" presetID="10" presetClass="entr" presetSubtype="0" fill="hold" nodeType="withEffect">
                                  <p:stCondLst>
                                    <p:cond delay="0"/>
                                  </p:stCondLst>
                                  <p:childTnLst>
                                    <p:set>
                                      <p:cBhvr>
                                        <p:cTn id="104" dur="1" fill="hold">
                                          <p:stCondLst>
                                            <p:cond delay="0"/>
                                          </p:stCondLst>
                                        </p:cTn>
                                        <p:tgtEl>
                                          <p:spTgt spid="37"/>
                                        </p:tgtEl>
                                        <p:attrNameLst>
                                          <p:attrName>style.visibility</p:attrName>
                                        </p:attrNameLst>
                                      </p:cBhvr>
                                      <p:to>
                                        <p:strVal val="visible"/>
                                      </p:to>
                                    </p:set>
                                    <p:animEffect transition="in" filter="fade">
                                      <p:cBhvr>
                                        <p:cTn id="105" dur="400"/>
                                        <p:tgtEl>
                                          <p:spTgt spid="37"/>
                                        </p:tgtEl>
                                      </p:cBhvr>
                                    </p:animEffect>
                                  </p:childTnLst>
                                </p:cTn>
                              </p:par>
                              <p:par>
                                <p:cTn id="106" presetID="10" presetClass="entr" presetSubtype="0" fill="hold" nodeType="withEffect">
                                  <p:stCondLst>
                                    <p:cond delay="0"/>
                                  </p:stCondLst>
                                  <p:childTnLst>
                                    <p:set>
                                      <p:cBhvr>
                                        <p:cTn id="107" dur="1" fill="hold">
                                          <p:stCondLst>
                                            <p:cond delay="0"/>
                                          </p:stCondLst>
                                        </p:cTn>
                                        <p:tgtEl>
                                          <p:spTgt spid="38"/>
                                        </p:tgtEl>
                                        <p:attrNameLst>
                                          <p:attrName>style.visibility</p:attrName>
                                        </p:attrNameLst>
                                      </p:cBhvr>
                                      <p:to>
                                        <p:strVal val="visible"/>
                                      </p:to>
                                    </p:set>
                                    <p:animEffect transition="in" filter="fade">
                                      <p:cBhvr>
                                        <p:cTn id="108" dur="400"/>
                                        <p:tgtEl>
                                          <p:spTgt spid="38"/>
                                        </p:tgtEl>
                                      </p:cBhvr>
                                    </p:animEffect>
                                  </p:childTnLst>
                                </p:cTn>
                              </p:par>
                              <p:par>
                                <p:cTn id="109" presetID="10" presetClass="entr" presetSubtype="0" fill="hold" nodeType="withEffect">
                                  <p:stCondLst>
                                    <p:cond delay="0"/>
                                  </p:stCondLst>
                                  <p:childTnLst>
                                    <p:set>
                                      <p:cBhvr>
                                        <p:cTn id="110" dur="1" fill="hold">
                                          <p:stCondLst>
                                            <p:cond delay="0"/>
                                          </p:stCondLst>
                                        </p:cTn>
                                        <p:tgtEl>
                                          <p:spTgt spid="39"/>
                                        </p:tgtEl>
                                        <p:attrNameLst>
                                          <p:attrName>style.visibility</p:attrName>
                                        </p:attrNameLst>
                                      </p:cBhvr>
                                      <p:to>
                                        <p:strVal val="visible"/>
                                      </p:to>
                                    </p:set>
                                    <p:animEffect transition="in" filter="fade">
                                      <p:cBhvr>
                                        <p:cTn id="111" dur="400"/>
                                        <p:tgtEl>
                                          <p:spTgt spid="39"/>
                                        </p:tgtEl>
                                      </p:cBhvr>
                                    </p:animEffect>
                                  </p:childTnLst>
                                </p:cTn>
                              </p:par>
                              <p:par>
                                <p:cTn id="112" presetID="10" presetClass="entr" presetSubtype="0" fill="hold" nodeType="withEffect">
                                  <p:stCondLst>
                                    <p:cond delay="0"/>
                                  </p:stCondLst>
                                  <p:childTnLst>
                                    <p:set>
                                      <p:cBhvr>
                                        <p:cTn id="113" dur="1" fill="hold">
                                          <p:stCondLst>
                                            <p:cond delay="0"/>
                                          </p:stCondLst>
                                        </p:cTn>
                                        <p:tgtEl>
                                          <p:spTgt spid="40"/>
                                        </p:tgtEl>
                                        <p:attrNameLst>
                                          <p:attrName>style.visibility</p:attrName>
                                        </p:attrNameLst>
                                      </p:cBhvr>
                                      <p:to>
                                        <p:strVal val="visible"/>
                                      </p:to>
                                    </p:set>
                                    <p:animEffect transition="in" filter="fade">
                                      <p:cBhvr>
                                        <p:cTn id="114" dur="400"/>
                                        <p:tgtEl>
                                          <p:spTgt spid="40"/>
                                        </p:tgtEl>
                                      </p:cBhvr>
                                    </p:animEffect>
                                  </p:childTnLst>
                                </p:cTn>
                              </p:par>
                              <p:par>
                                <p:cTn id="115" presetID="10" presetClass="entr" presetSubtype="0" fill="hold" nodeType="withEffect">
                                  <p:stCondLst>
                                    <p:cond delay="0"/>
                                  </p:stCondLst>
                                  <p:childTnLst>
                                    <p:set>
                                      <p:cBhvr>
                                        <p:cTn id="116" dur="1" fill="hold">
                                          <p:stCondLst>
                                            <p:cond delay="0"/>
                                          </p:stCondLst>
                                        </p:cTn>
                                        <p:tgtEl>
                                          <p:spTgt spid="41"/>
                                        </p:tgtEl>
                                        <p:attrNameLst>
                                          <p:attrName>style.visibility</p:attrName>
                                        </p:attrNameLst>
                                      </p:cBhvr>
                                      <p:to>
                                        <p:strVal val="visible"/>
                                      </p:to>
                                    </p:set>
                                    <p:animEffect transition="in" filter="fade">
                                      <p:cBhvr>
                                        <p:cTn id="117" dur="400"/>
                                        <p:tgtEl>
                                          <p:spTgt spid="41"/>
                                        </p:tgtEl>
                                      </p:cBhvr>
                                    </p:animEffect>
                                  </p:childTnLst>
                                </p:cTn>
                              </p:par>
                              <p:par>
                                <p:cTn id="118" presetID="10" presetClass="entr" presetSubtype="0" fill="hold" nodeType="withEffect">
                                  <p:stCondLst>
                                    <p:cond delay="0"/>
                                  </p:stCondLst>
                                  <p:childTnLst>
                                    <p:set>
                                      <p:cBhvr>
                                        <p:cTn id="119" dur="1" fill="hold">
                                          <p:stCondLst>
                                            <p:cond delay="0"/>
                                          </p:stCondLst>
                                        </p:cTn>
                                        <p:tgtEl>
                                          <p:spTgt spid="42"/>
                                        </p:tgtEl>
                                        <p:attrNameLst>
                                          <p:attrName>style.visibility</p:attrName>
                                        </p:attrNameLst>
                                      </p:cBhvr>
                                      <p:to>
                                        <p:strVal val="visible"/>
                                      </p:to>
                                    </p:set>
                                    <p:animEffect transition="in" filter="fade">
                                      <p:cBhvr>
                                        <p:cTn id="120" dur="400"/>
                                        <p:tgtEl>
                                          <p:spTgt spid="42"/>
                                        </p:tgtEl>
                                      </p:cBhvr>
                                    </p:animEffect>
                                  </p:childTnLst>
                                </p:cTn>
                              </p:par>
                              <p:par>
                                <p:cTn id="121" presetID="10" presetClass="entr" presetSubtype="0" fill="hold" nodeType="withEffect">
                                  <p:stCondLst>
                                    <p:cond delay="0"/>
                                  </p:stCondLst>
                                  <p:childTnLst>
                                    <p:set>
                                      <p:cBhvr>
                                        <p:cTn id="122" dur="1" fill="hold">
                                          <p:stCondLst>
                                            <p:cond delay="0"/>
                                          </p:stCondLst>
                                        </p:cTn>
                                        <p:tgtEl>
                                          <p:spTgt spid="43"/>
                                        </p:tgtEl>
                                        <p:attrNameLst>
                                          <p:attrName>style.visibility</p:attrName>
                                        </p:attrNameLst>
                                      </p:cBhvr>
                                      <p:to>
                                        <p:strVal val="visible"/>
                                      </p:to>
                                    </p:set>
                                    <p:animEffect transition="in" filter="fade">
                                      <p:cBhvr>
                                        <p:cTn id="123" dur="400"/>
                                        <p:tgtEl>
                                          <p:spTgt spid="43"/>
                                        </p:tgtEl>
                                      </p:cBhvr>
                                    </p:animEffect>
                                  </p:childTnLst>
                                </p:cTn>
                              </p:par>
                              <p:par>
                                <p:cTn id="124" presetID="10" presetClass="entr" presetSubtype="0" fill="hold" nodeType="withEffect">
                                  <p:stCondLst>
                                    <p:cond delay="0"/>
                                  </p:stCondLst>
                                  <p:childTnLst>
                                    <p:set>
                                      <p:cBhvr>
                                        <p:cTn id="125" dur="1" fill="hold">
                                          <p:stCondLst>
                                            <p:cond delay="0"/>
                                          </p:stCondLst>
                                        </p:cTn>
                                        <p:tgtEl>
                                          <p:spTgt spid="44"/>
                                        </p:tgtEl>
                                        <p:attrNameLst>
                                          <p:attrName>style.visibility</p:attrName>
                                        </p:attrNameLst>
                                      </p:cBhvr>
                                      <p:to>
                                        <p:strVal val="visible"/>
                                      </p:to>
                                    </p:set>
                                    <p:animEffect transition="in" filter="fade">
                                      <p:cBhvr>
                                        <p:cTn id="126" dur="400"/>
                                        <p:tgtEl>
                                          <p:spTgt spid="44"/>
                                        </p:tgtEl>
                                      </p:cBhvr>
                                    </p:animEffect>
                                  </p:childTnLst>
                                </p:cTn>
                              </p:par>
                              <p:par>
                                <p:cTn id="127" presetID="10" presetClass="entr" presetSubtype="0" fill="hold" nodeType="withEffect">
                                  <p:stCondLst>
                                    <p:cond delay="0"/>
                                  </p:stCondLst>
                                  <p:childTnLst>
                                    <p:set>
                                      <p:cBhvr>
                                        <p:cTn id="128" dur="1" fill="hold">
                                          <p:stCondLst>
                                            <p:cond delay="0"/>
                                          </p:stCondLst>
                                        </p:cTn>
                                        <p:tgtEl>
                                          <p:spTgt spid="45"/>
                                        </p:tgtEl>
                                        <p:attrNameLst>
                                          <p:attrName>style.visibility</p:attrName>
                                        </p:attrNameLst>
                                      </p:cBhvr>
                                      <p:to>
                                        <p:strVal val="visible"/>
                                      </p:to>
                                    </p:set>
                                    <p:animEffect transition="in" filter="fade">
                                      <p:cBhvr>
                                        <p:cTn id="129" dur="400"/>
                                        <p:tgtEl>
                                          <p:spTgt spid="45"/>
                                        </p:tgtEl>
                                      </p:cBhvr>
                                    </p:animEffect>
                                  </p:childTnLst>
                                </p:cTn>
                              </p:par>
                            </p:childTnLst>
                          </p:cTn>
                        </p:par>
                      </p:childTnLst>
                    </p:cTn>
                  </p:par>
                  <p:par>
                    <p:cTn id="130" fill="hold">
                      <p:stCondLst>
                        <p:cond delay="indefinite"/>
                      </p:stCondLst>
                      <p:childTnLst>
                        <p:par>
                          <p:cTn id="131" fill="hold">
                            <p:stCondLst>
                              <p:cond delay="0"/>
                            </p:stCondLst>
                            <p:childTnLst>
                              <p:par>
                                <p:cTn id="132" presetID="10" presetClass="entr" presetSubtype="0" fill="hold" nodeType="clickEffect">
                                  <p:stCondLst>
                                    <p:cond delay="0"/>
                                  </p:stCondLst>
                                  <p:childTnLst>
                                    <p:set>
                                      <p:cBhvr>
                                        <p:cTn id="133" dur="1" fill="hold">
                                          <p:stCondLst>
                                            <p:cond delay="0"/>
                                          </p:stCondLst>
                                        </p:cTn>
                                        <p:tgtEl>
                                          <p:spTgt spid="46"/>
                                        </p:tgtEl>
                                        <p:attrNameLst>
                                          <p:attrName>style.visibility</p:attrName>
                                        </p:attrNameLst>
                                      </p:cBhvr>
                                      <p:to>
                                        <p:strVal val="visible"/>
                                      </p:to>
                                    </p:set>
                                    <p:animEffect transition="in" filter="fade">
                                      <p:cBhvr>
                                        <p:cTn id="134" dur="400"/>
                                        <p:tgtEl>
                                          <p:spTgt spid="46"/>
                                        </p:tgtEl>
                                      </p:cBhvr>
                                    </p:animEffect>
                                  </p:childTnLst>
                                </p:cTn>
                              </p:par>
                              <p:par>
                                <p:cTn id="135" presetID="10" presetClass="entr" presetSubtype="0" fill="hold" nodeType="withEffect">
                                  <p:stCondLst>
                                    <p:cond delay="0"/>
                                  </p:stCondLst>
                                  <p:childTnLst>
                                    <p:set>
                                      <p:cBhvr>
                                        <p:cTn id="136" dur="1" fill="hold">
                                          <p:stCondLst>
                                            <p:cond delay="0"/>
                                          </p:stCondLst>
                                        </p:cTn>
                                        <p:tgtEl>
                                          <p:spTgt spid="47"/>
                                        </p:tgtEl>
                                        <p:attrNameLst>
                                          <p:attrName>style.visibility</p:attrName>
                                        </p:attrNameLst>
                                      </p:cBhvr>
                                      <p:to>
                                        <p:strVal val="visible"/>
                                      </p:to>
                                    </p:set>
                                    <p:animEffect transition="in" filter="fade">
                                      <p:cBhvr>
                                        <p:cTn id="137" dur="4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56032"/>
            <a:ext cx="11064240" cy="292608"/>
          </a:xfrm>
          <a:prstGeom prst="rect">
            <a:avLst/>
          </a:prstGeom>
          <a:noFill/>
          <a:ln/>
        </p:spPr>
        <p:txBody>
          <a:bodyPr wrap="square" lIns="0" tIns="0" rIns="0" bIns="0" rtlCol="0" anchor="ctr"/>
          <a:lstStyle/>
          <a:p>
            <a:pPr marL="0" indent="0">
              <a:buNone/>
            </a:pPr>
            <a:r>
              <a:rPr lang="en-US" sz="1300" b="1" dirty="0">
                <a:solidFill>
                  <a:schemeClr val="accent4"/>
                </a:solidFill>
                <a:latin typeface="Times New Roman" pitchFamily="34" charset="0"/>
                <a:ea typeface="Times New Roman" pitchFamily="34" charset="-122"/>
                <a:cs typeface="Times New Roman" pitchFamily="34" charset="-120"/>
              </a:rPr>
              <a:t>3-mavzu · Modul arifmetika</a:t>
            </a:r>
            <a:endParaRPr lang="en-US" sz="1300" dirty="0"/>
          </a:p>
        </p:txBody>
      </p:sp>
      <p:sp>
        <p:nvSpPr>
          <p:cNvPr id="3" name="Text 1"/>
          <p:cNvSpPr>
            <a:spLocks noGrp="1"/>
          </p:cNvSpPr>
          <p:nvPr>
            <p:ph type="title" idx="102" hasCustomPrompt="1"/>
          </p:nvPr>
        </p:nvSpPr>
        <p:spPr>
          <a:xfrm>
            <a:off x="548640" y="530352"/>
            <a:ext cx="1106424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Modul arifmetika: aylana ustidagi hisob</a:t>
            </a:r>
            <a:endParaRPr lang="en-US" sz="3200" dirty="0"/>
          </a:p>
        </p:txBody>
      </p:sp>
      <p:sp>
        <p:nvSpPr>
          <p:cNvPr id="5" name="o_134"/>
          <p:cNvSpPr/>
          <p:nvPr/>
        </p:nvSpPr>
        <p:spPr>
          <a:xfrm>
            <a:off x="411480" y="1554480"/>
            <a:ext cx="4206240" cy="4206240"/>
          </a:xfrm>
          <a:prstGeom prst="ellipse">
            <a:avLst/>
          </a:prstGeom>
          <a:solidFill>
            <a:schemeClr val="bg2"/>
          </a:solidFill>
          <a:ln w="12700">
            <a:solidFill>
              <a:srgbClr val="C9D1DE"/>
            </a:solidFill>
            <a:prstDash val="solid"/>
          </a:ln>
        </p:spPr>
      </p:sp>
      <p:sp>
        <p:nvSpPr>
          <p:cNvPr id="6" name="o_135"/>
          <p:cNvSpPr/>
          <p:nvPr/>
        </p:nvSpPr>
        <p:spPr>
          <a:xfrm>
            <a:off x="1234440" y="2377440"/>
            <a:ext cx="2560320" cy="2560320"/>
          </a:xfrm>
          <a:prstGeom prst="ellipse">
            <a:avLst/>
          </a:prstGeom>
          <a:solidFill>
            <a:srgbClr val="FFFFFF"/>
          </a:solidFill>
          <a:ln w="12700">
            <a:solidFill>
              <a:srgbClr val="C9D1DE"/>
            </a:solidFill>
            <a:prstDash val="solid"/>
          </a:ln>
        </p:spPr>
      </p:sp>
      <p:sp>
        <p:nvSpPr>
          <p:cNvPr id="7" name="o_136"/>
          <p:cNvSpPr txBox="1"/>
          <p:nvPr/>
        </p:nvSpPr>
        <p:spPr>
          <a:xfrm>
            <a:off x="2359152" y="1719072"/>
            <a:ext cx="310896" cy="310896"/>
          </a:xfrm>
          <a:prstGeom prst="rect">
            <a:avLst/>
          </a:prstGeom>
          <a:noFill/>
          <a:ln/>
        </p:spPr>
        <p:txBody>
          <a:bodyPr wrap="square" lIns="0" tIns="0" rIns="0" bIns="0" rtlCol="0" anchor="ctr"/>
          <a:lstStyle/>
          <a:p>
            <a:pPr marL="0" indent="0" algn="ctr">
              <a:buNone/>
            </a:pPr>
            <a:r>
              <a:rPr lang="en-US" sz="1300" b="1" dirty="0">
                <a:solidFill>
                  <a:schemeClr val="accent3"/>
                </a:solidFill>
                <a:latin typeface="Courier New" pitchFamily="34" charset="0"/>
                <a:ea typeface="Courier New" pitchFamily="34" charset="-122"/>
                <a:cs typeface="Courier New" pitchFamily="34" charset="-120"/>
              </a:rPr>
              <a:t>A</a:t>
            </a:r>
            <a:endParaRPr lang="en-US" sz="1300" dirty="0"/>
          </a:p>
        </p:txBody>
      </p:sp>
      <p:sp>
        <p:nvSpPr>
          <p:cNvPr id="8" name="o_137"/>
          <p:cNvSpPr txBox="1"/>
          <p:nvPr/>
        </p:nvSpPr>
        <p:spPr>
          <a:xfrm>
            <a:off x="2359152" y="2084832"/>
            <a:ext cx="310896" cy="219456"/>
          </a:xfrm>
          <a:prstGeom prst="rect">
            <a:avLst/>
          </a:prstGeom>
          <a:noFill/>
          <a:ln/>
        </p:spPr>
        <p:txBody>
          <a:bodyPr wrap="square" lIns="0" tIns="0" rIns="0" bIns="0" rtlCol="0" anchor="ctr"/>
          <a:lstStyle/>
          <a:p>
            <a:pPr marL="0" indent="0" algn="ctr">
              <a:buNone/>
            </a:pPr>
            <a:r>
              <a:rPr lang="en-US" sz="900" dirty="0">
                <a:solidFill>
                  <a:schemeClr val="accent3"/>
                </a:solidFill>
              </a:rPr>
              <a:t>0</a:t>
            </a:r>
            <a:endParaRPr lang="en-US" sz="900" dirty="0"/>
          </a:p>
        </p:txBody>
      </p:sp>
      <p:sp>
        <p:nvSpPr>
          <p:cNvPr id="9" name="o_138"/>
          <p:cNvSpPr txBox="1"/>
          <p:nvPr/>
        </p:nvSpPr>
        <p:spPr>
          <a:xfrm>
            <a:off x="2785871" y="1770885"/>
            <a:ext cx="310896" cy="310896"/>
          </a:xfrm>
          <a:prstGeom prst="rect">
            <a:avLst/>
          </a:prstGeom>
          <a:noFill/>
          <a:ln/>
        </p:spPr>
        <p:txBody>
          <a:bodyPr wrap="square" lIns="0" tIns="0" rIns="0" bIns="0" rtlCol="0" anchor="ctr"/>
          <a:lstStyle/>
          <a:p>
            <a:pPr marL="0" indent="0" algn="ctr">
              <a:buNone/>
            </a:pPr>
            <a:r>
              <a:rPr lang="en-US" sz="1300" b="1" dirty="0">
                <a:solidFill>
                  <a:schemeClr val="tx2"/>
                </a:solidFill>
                <a:latin typeface="Courier New" pitchFamily="34" charset="0"/>
                <a:ea typeface="Courier New" pitchFamily="34" charset="-122"/>
                <a:cs typeface="Courier New" pitchFamily="34" charset="-120"/>
              </a:rPr>
              <a:t>B</a:t>
            </a:r>
            <a:endParaRPr lang="en-US" sz="1300" dirty="0"/>
          </a:p>
        </p:txBody>
      </p:sp>
      <p:sp>
        <p:nvSpPr>
          <p:cNvPr id="10" name="o_139"/>
          <p:cNvSpPr txBox="1"/>
          <p:nvPr/>
        </p:nvSpPr>
        <p:spPr>
          <a:xfrm>
            <a:off x="2709280" y="2127345"/>
            <a:ext cx="310896" cy="219456"/>
          </a:xfrm>
          <a:prstGeom prst="rect">
            <a:avLst/>
          </a:prstGeom>
          <a:noFill/>
          <a:ln/>
        </p:spPr>
        <p:txBody>
          <a:bodyPr wrap="square" lIns="0" tIns="0" rIns="0" bIns="0" rtlCol="0" anchor="ctr"/>
          <a:lstStyle/>
          <a:p>
            <a:pPr marL="0" indent="0" algn="ctr">
              <a:buNone/>
            </a:pPr>
            <a:r>
              <a:rPr lang="en-US" sz="900" dirty="0">
                <a:solidFill>
                  <a:srgbClr val="7A8394"/>
                </a:solidFill>
              </a:rPr>
              <a:t>1</a:t>
            </a:r>
            <a:endParaRPr lang="en-US" sz="900" dirty="0"/>
          </a:p>
        </p:txBody>
      </p:sp>
      <p:sp>
        <p:nvSpPr>
          <p:cNvPr id="11" name="o_140"/>
          <p:cNvSpPr txBox="1"/>
          <p:nvPr/>
        </p:nvSpPr>
        <p:spPr>
          <a:xfrm>
            <a:off x="3187791" y="1923313"/>
            <a:ext cx="310896" cy="310896"/>
          </a:xfrm>
          <a:prstGeom prst="rect">
            <a:avLst/>
          </a:prstGeom>
          <a:noFill/>
          <a:ln/>
        </p:spPr>
        <p:txBody>
          <a:bodyPr wrap="square" lIns="0" tIns="0" rIns="0" bIns="0" rtlCol="0" anchor="ctr"/>
          <a:lstStyle/>
          <a:p>
            <a:pPr marL="0" indent="0" algn="ctr">
              <a:buNone/>
            </a:pPr>
            <a:r>
              <a:rPr lang="en-US" sz="1300" b="1" dirty="0">
                <a:solidFill>
                  <a:schemeClr val="tx2"/>
                </a:solidFill>
                <a:latin typeface="Courier New" pitchFamily="34" charset="0"/>
                <a:ea typeface="Courier New" pitchFamily="34" charset="-122"/>
                <a:cs typeface="Courier New" pitchFamily="34" charset="-120"/>
              </a:rPr>
              <a:t>C</a:t>
            </a:r>
            <a:endParaRPr lang="en-US" sz="1300" dirty="0"/>
          </a:p>
        </p:txBody>
      </p:sp>
      <p:sp>
        <p:nvSpPr>
          <p:cNvPr id="12" name="o_141"/>
          <p:cNvSpPr txBox="1"/>
          <p:nvPr/>
        </p:nvSpPr>
        <p:spPr>
          <a:xfrm>
            <a:off x="3039061" y="2252414"/>
            <a:ext cx="310896" cy="219456"/>
          </a:xfrm>
          <a:prstGeom prst="rect">
            <a:avLst/>
          </a:prstGeom>
          <a:noFill/>
          <a:ln/>
        </p:spPr>
        <p:txBody>
          <a:bodyPr wrap="square" lIns="0" tIns="0" rIns="0" bIns="0" rtlCol="0" anchor="ctr"/>
          <a:lstStyle/>
          <a:p>
            <a:pPr marL="0" indent="0" algn="ctr">
              <a:buNone/>
            </a:pPr>
            <a:r>
              <a:rPr lang="en-US" sz="900" dirty="0">
                <a:solidFill>
                  <a:srgbClr val="7A8394"/>
                </a:solidFill>
              </a:rPr>
              <a:t>2</a:t>
            </a:r>
            <a:endParaRPr lang="en-US" sz="900" dirty="0"/>
          </a:p>
        </p:txBody>
      </p:sp>
      <p:sp>
        <p:nvSpPr>
          <p:cNvPr id="13" name="o_142"/>
          <p:cNvSpPr txBox="1"/>
          <p:nvPr/>
        </p:nvSpPr>
        <p:spPr>
          <a:xfrm>
            <a:off x="3541553" y="2167497"/>
            <a:ext cx="310896" cy="310896"/>
          </a:xfrm>
          <a:prstGeom prst="rect">
            <a:avLst/>
          </a:prstGeom>
          <a:noFill/>
          <a:ln/>
        </p:spPr>
        <p:txBody>
          <a:bodyPr wrap="square" lIns="0" tIns="0" rIns="0" bIns="0" rtlCol="0" anchor="ctr"/>
          <a:lstStyle/>
          <a:p>
            <a:pPr marL="0" indent="0" algn="ctr">
              <a:buNone/>
            </a:pPr>
            <a:r>
              <a:rPr lang="en-US" sz="1300" b="1" dirty="0">
                <a:solidFill>
                  <a:schemeClr val="tx2"/>
                </a:solidFill>
                <a:latin typeface="Courier New" pitchFamily="34" charset="0"/>
                <a:ea typeface="Courier New" pitchFamily="34" charset="-122"/>
                <a:cs typeface="Courier New" pitchFamily="34" charset="-120"/>
              </a:rPr>
              <a:t>D</a:t>
            </a:r>
            <a:endParaRPr lang="en-US" sz="1300" dirty="0"/>
          </a:p>
        </p:txBody>
      </p:sp>
      <p:sp>
        <p:nvSpPr>
          <p:cNvPr id="14" name="o_143"/>
          <p:cNvSpPr txBox="1"/>
          <p:nvPr/>
        </p:nvSpPr>
        <p:spPr>
          <a:xfrm>
            <a:off x="3329327" y="2452771"/>
            <a:ext cx="310896" cy="219456"/>
          </a:xfrm>
          <a:prstGeom prst="rect">
            <a:avLst/>
          </a:prstGeom>
          <a:noFill/>
          <a:ln/>
        </p:spPr>
        <p:txBody>
          <a:bodyPr wrap="square" lIns="0" tIns="0" rIns="0" bIns="0" rtlCol="0" anchor="ctr"/>
          <a:lstStyle/>
          <a:p>
            <a:pPr marL="0" indent="0" algn="ctr">
              <a:buNone/>
            </a:pPr>
            <a:r>
              <a:rPr lang="en-US" sz="900" dirty="0">
                <a:solidFill>
                  <a:srgbClr val="7A8394"/>
                </a:solidFill>
              </a:rPr>
              <a:t>3</a:t>
            </a:r>
            <a:endParaRPr lang="en-US" sz="900" dirty="0"/>
          </a:p>
        </p:txBody>
      </p:sp>
      <p:sp>
        <p:nvSpPr>
          <p:cNvPr id="15" name="o_144"/>
          <p:cNvSpPr txBox="1"/>
          <p:nvPr/>
        </p:nvSpPr>
        <p:spPr>
          <a:xfrm>
            <a:off x="3826598" y="2489247"/>
            <a:ext cx="310896" cy="310896"/>
          </a:xfrm>
          <a:prstGeom prst="rect">
            <a:avLst/>
          </a:prstGeom>
          <a:noFill/>
          <a:ln/>
        </p:spPr>
        <p:txBody>
          <a:bodyPr wrap="square" lIns="0" tIns="0" rIns="0" bIns="0" rtlCol="0" anchor="ctr"/>
          <a:lstStyle/>
          <a:p>
            <a:pPr marL="0" indent="0" algn="ctr">
              <a:buNone/>
            </a:pPr>
            <a:r>
              <a:rPr lang="en-US" sz="1300" b="1" dirty="0">
                <a:solidFill>
                  <a:schemeClr val="tx2"/>
                </a:solidFill>
                <a:latin typeface="Courier New" pitchFamily="34" charset="0"/>
                <a:ea typeface="Courier New" pitchFamily="34" charset="-122"/>
                <a:cs typeface="Courier New" pitchFamily="34" charset="-120"/>
              </a:rPr>
              <a:t>E</a:t>
            </a:r>
            <a:endParaRPr lang="en-US" sz="1300" dirty="0"/>
          </a:p>
        </p:txBody>
      </p:sp>
      <p:sp>
        <p:nvSpPr>
          <p:cNvPr id="16" name="o_145"/>
          <p:cNvSpPr txBox="1"/>
          <p:nvPr/>
        </p:nvSpPr>
        <p:spPr>
          <a:xfrm>
            <a:off x="3563210" y="2716771"/>
            <a:ext cx="310896" cy="219456"/>
          </a:xfrm>
          <a:prstGeom prst="rect">
            <a:avLst/>
          </a:prstGeom>
          <a:noFill/>
          <a:ln/>
        </p:spPr>
        <p:txBody>
          <a:bodyPr wrap="square" lIns="0" tIns="0" rIns="0" bIns="0" rtlCol="0" anchor="ctr"/>
          <a:lstStyle/>
          <a:p>
            <a:pPr marL="0" indent="0" algn="ctr">
              <a:buNone/>
            </a:pPr>
            <a:r>
              <a:rPr lang="en-US" sz="900" dirty="0">
                <a:solidFill>
                  <a:srgbClr val="7A8394"/>
                </a:solidFill>
              </a:rPr>
              <a:t>4</a:t>
            </a:r>
            <a:endParaRPr lang="en-US" sz="900" dirty="0"/>
          </a:p>
        </p:txBody>
      </p:sp>
      <p:sp>
        <p:nvSpPr>
          <p:cNvPr id="17" name="o_146"/>
          <p:cNvSpPr txBox="1"/>
          <p:nvPr/>
        </p:nvSpPr>
        <p:spPr>
          <a:xfrm>
            <a:off x="4026361" y="2869863"/>
            <a:ext cx="310896" cy="310896"/>
          </a:xfrm>
          <a:prstGeom prst="rect">
            <a:avLst/>
          </a:prstGeom>
          <a:noFill/>
          <a:ln/>
        </p:spPr>
        <p:txBody>
          <a:bodyPr wrap="square" lIns="0" tIns="0" rIns="0" bIns="0" rtlCol="0" anchor="ctr"/>
          <a:lstStyle/>
          <a:p>
            <a:pPr marL="0" indent="0" algn="ctr">
              <a:buNone/>
            </a:pPr>
            <a:r>
              <a:rPr lang="en-US" sz="1300" b="1" dirty="0">
                <a:solidFill>
                  <a:schemeClr val="tx2"/>
                </a:solidFill>
                <a:latin typeface="Courier New" pitchFamily="34" charset="0"/>
                <a:ea typeface="Courier New" pitchFamily="34" charset="-122"/>
                <a:cs typeface="Courier New" pitchFamily="34" charset="-120"/>
              </a:rPr>
              <a:t>F</a:t>
            </a:r>
            <a:endParaRPr lang="en-US" sz="1300" dirty="0"/>
          </a:p>
        </p:txBody>
      </p:sp>
      <p:sp>
        <p:nvSpPr>
          <p:cNvPr id="18" name="o_147"/>
          <p:cNvSpPr txBox="1"/>
          <p:nvPr/>
        </p:nvSpPr>
        <p:spPr>
          <a:xfrm>
            <a:off x="3727118" y="3029071"/>
            <a:ext cx="310896" cy="219456"/>
          </a:xfrm>
          <a:prstGeom prst="rect">
            <a:avLst/>
          </a:prstGeom>
          <a:noFill/>
          <a:ln/>
        </p:spPr>
        <p:txBody>
          <a:bodyPr wrap="square" lIns="0" tIns="0" rIns="0" bIns="0" rtlCol="0" anchor="ctr"/>
          <a:lstStyle/>
          <a:p>
            <a:pPr marL="0" indent="0" algn="ctr">
              <a:buNone/>
            </a:pPr>
            <a:r>
              <a:rPr lang="en-US" sz="900" dirty="0">
                <a:solidFill>
                  <a:srgbClr val="7A8394"/>
                </a:solidFill>
              </a:rPr>
              <a:t>5</a:t>
            </a:r>
            <a:endParaRPr lang="en-US" sz="900" dirty="0"/>
          </a:p>
        </p:txBody>
      </p:sp>
      <p:sp>
        <p:nvSpPr>
          <p:cNvPr id="19" name="o_148"/>
          <p:cNvSpPr txBox="1"/>
          <p:nvPr/>
        </p:nvSpPr>
        <p:spPr>
          <a:xfrm>
            <a:off x="4129231" y="3287225"/>
            <a:ext cx="310896" cy="310896"/>
          </a:xfrm>
          <a:prstGeom prst="rect">
            <a:avLst/>
          </a:prstGeom>
          <a:noFill/>
          <a:ln/>
        </p:spPr>
        <p:txBody>
          <a:bodyPr wrap="square" lIns="0" tIns="0" rIns="0" bIns="0" rtlCol="0" anchor="ctr"/>
          <a:lstStyle/>
          <a:p>
            <a:pPr marL="0" indent="0" algn="ctr">
              <a:buNone/>
            </a:pPr>
            <a:r>
              <a:rPr lang="en-US" sz="1300" b="1" dirty="0">
                <a:solidFill>
                  <a:schemeClr val="tx2"/>
                </a:solidFill>
                <a:latin typeface="Courier New" pitchFamily="34" charset="0"/>
                <a:ea typeface="Courier New" pitchFamily="34" charset="-122"/>
                <a:cs typeface="Courier New" pitchFamily="34" charset="-120"/>
              </a:rPr>
              <a:t>G</a:t>
            </a:r>
            <a:endParaRPr lang="en-US" sz="1300" dirty="0"/>
          </a:p>
        </p:txBody>
      </p:sp>
      <p:sp>
        <p:nvSpPr>
          <p:cNvPr id="20" name="o_149"/>
          <p:cNvSpPr txBox="1"/>
          <p:nvPr/>
        </p:nvSpPr>
        <p:spPr>
          <a:xfrm>
            <a:off x="3811525" y="3371522"/>
            <a:ext cx="310896" cy="219456"/>
          </a:xfrm>
          <a:prstGeom prst="rect">
            <a:avLst/>
          </a:prstGeom>
          <a:noFill/>
          <a:ln/>
        </p:spPr>
        <p:txBody>
          <a:bodyPr wrap="square" lIns="0" tIns="0" rIns="0" bIns="0" rtlCol="0" anchor="ctr"/>
          <a:lstStyle/>
          <a:p>
            <a:pPr marL="0" indent="0" algn="ctr">
              <a:buNone/>
            </a:pPr>
            <a:r>
              <a:rPr lang="en-US" sz="900" dirty="0">
                <a:solidFill>
                  <a:srgbClr val="7A8394"/>
                </a:solidFill>
              </a:rPr>
              <a:t>6</a:t>
            </a:r>
            <a:endParaRPr lang="en-US" sz="900" dirty="0"/>
          </a:p>
        </p:txBody>
      </p:sp>
      <p:sp>
        <p:nvSpPr>
          <p:cNvPr id="21" name="o_150"/>
          <p:cNvSpPr txBox="1"/>
          <p:nvPr/>
        </p:nvSpPr>
        <p:spPr>
          <a:xfrm>
            <a:off x="4129231" y="3717079"/>
            <a:ext cx="310896" cy="310896"/>
          </a:xfrm>
          <a:prstGeom prst="rect">
            <a:avLst/>
          </a:prstGeom>
          <a:noFill/>
          <a:ln/>
        </p:spPr>
        <p:txBody>
          <a:bodyPr wrap="square" lIns="0" tIns="0" rIns="0" bIns="0" rtlCol="0" anchor="ctr"/>
          <a:lstStyle/>
          <a:p>
            <a:pPr marL="0" indent="0" algn="ctr">
              <a:buNone/>
            </a:pPr>
            <a:r>
              <a:rPr lang="en-US" sz="1300" b="1" dirty="0">
                <a:solidFill>
                  <a:schemeClr val="tx2"/>
                </a:solidFill>
                <a:latin typeface="Courier New" pitchFamily="34" charset="0"/>
                <a:ea typeface="Courier New" pitchFamily="34" charset="-122"/>
                <a:cs typeface="Courier New" pitchFamily="34" charset="-120"/>
              </a:rPr>
              <a:t>H</a:t>
            </a:r>
            <a:endParaRPr lang="en-US" sz="1300" dirty="0"/>
          </a:p>
        </p:txBody>
      </p:sp>
      <p:sp>
        <p:nvSpPr>
          <p:cNvPr id="22" name="o_151"/>
          <p:cNvSpPr txBox="1"/>
          <p:nvPr/>
        </p:nvSpPr>
        <p:spPr>
          <a:xfrm>
            <a:off x="3811525" y="3724222"/>
            <a:ext cx="310896" cy="219456"/>
          </a:xfrm>
          <a:prstGeom prst="rect">
            <a:avLst/>
          </a:prstGeom>
          <a:noFill/>
          <a:ln/>
        </p:spPr>
        <p:txBody>
          <a:bodyPr wrap="square" lIns="0" tIns="0" rIns="0" bIns="0" rtlCol="0" anchor="ctr"/>
          <a:lstStyle/>
          <a:p>
            <a:pPr marL="0" indent="0" algn="ctr">
              <a:buNone/>
            </a:pPr>
            <a:r>
              <a:rPr lang="en-US" sz="900" dirty="0">
                <a:solidFill>
                  <a:srgbClr val="7A8394"/>
                </a:solidFill>
              </a:rPr>
              <a:t>7</a:t>
            </a:r>
            <a:endParaRPr lang="en-US" sz="900" dirty="0"/>
          </a:p>
        </p:txBody>
      </p:sp>
      <p:sp>
        <p:nvSpPr>
          <p:cNvPr id="23" name="o_152"/>
          <p:cNvSpPr txBox="1"/>
          <p:nvPr/>
        </p:nvSpPr>
        <p:spPr>
          <a:xfrm>
            <a:off x="4026361" y="4134441"/>
            <a:ext cx="310896" cy="310896"/>
          </a:xfrm>
          <a:prstGeom prst="rect">
            <a:avLst/>
          </a:prstGeom>
          <a:noFill/>
          <a:ln/>
        </p:spPr>
        <p:txBody>
          <a:bodyPr wrap="square" lIns="0" tIns="0" rIns="0" bIns="0" rtlCol="0" anchor="ctr"/>
          <a:lstStyle/>
          <a:p>
            <a:pPr marL="0" indent="0" algn="ctr">
              <a:buNone/>
            </a:pPr>
            <a:r>
              <a:rPr lang="en-US" sz="1300" b="1" dirty="0">
                <a:solidFill>
                  <a:schemeClr val="tx2"/>
                </a:solidFill>
                <a:latin typeface="Courier New" pitchFamily="34" charset="0"/>
                <a:ea typeface="Courier New" pitchFamily="34" charset="-122"/>
                <a:cs typeface="Courier New" pitchFamily="34" charset="-120"/>
              </a:rPr>
              <a:t>I</a:t>
            </a:r>
            <a:endParaRPr lang="en-US" sz="1300" dirty="0"/>
          </a:p>
        </p:txBody>
      </p:sp>
      <p:sp>
        <p:nvSpPr>
          <p:cNvPr id="24" name="o_153"/>
          <p:cNvSpPr txBox="1"/>
          <p:nvPr/>
        </p:nvSpPr>
        <p:spPr>
          <a:xfrm>
            <a:off x="3727118" y="4066673"/>
            <a:ext cx="310896" cy="219456"/>
          </a:xfrm>
          <a:prstGeom prst="rect">
            <a:avLst/>
          </a:prstGeom>
          <a:noFill/>
          <a:ln/>
        </p:spPr>
        <p:txBody>
          <a:bodyPr wrap="square" lIns="0" tIns="0" rIns="0" bIns="0" rtlCol="0" anchor="ctr"/>
          <a:lstStyle/>
          <a:p>
            <a:pPr marL="0" indent="0" algn="ctr">
              <a:buNone/>
            </a:pPr>
            <a:r>
              <a:rPr lang="en-US" sz="900" dirty="0">
                <a:solidFill>
                  <a:srgbClr val="7A8394"/>
                </a:solidFill>
              </a:rPr>
              <a:t>8</a:t>
            </a:r>
            <a:endParaRPr lang="en-US" sz="900" dirty="0"/>
          </a:p>
        </p:txBody>
      </p:sp>
      <p:sp>
        <p:nvSpPr>
          <p:cNvPr id="25" name="o_154"/>
          <p:cNvSpPr txBox="1"/>
          <p:nvPr/>
        </p:nvSpPr>
        <p:spPr>
          <a:xfrm>
            <a:off x="3826598" y="4515057"/>
            <a:ext cx="310896" cy="310896"/>
          </a:xfrm>
          <a:prstGeom prst="rect">
            <a:avLst/>
          </a:prstGeom>
          <a:noFill/>
          <a:ln/>
        </p:spPr>
        <p:txBody>
          <a:bodyPr wrap="square" lIns="0" tIns="0" rIns="0" bIns="0" rtlCol="0" anchor="ctr"/>
          <a:lstStyle/>
          <a:p>
            <a:pPr marL="0" indent="0" algn="ctr">
              <a:buNone/>
            </a:pPr>
            <a:r>
              <a:rPr lang="en-US" sz="1300" b="1" dirty="0">
                <a:solidFill>
                  <a:schemeClr val="tx2"/>
                </a:solidFill>
                <a:latin typeface="Courier New" pitchFamily="34" charset="0"/>
                <a:ea typeface="Courier New" pitchFamily="34" charset="-122"/>
                <a:cs typeface="Courier New" pitchFamily="34" charset="-120"/>
              </a:rPr>
              <a:t>J</a:t>
            </a:r>
            <a:endParaRPr lang="en-US" sz="1300" dirty="0"/>
          </a:p>
        </p:txBody>
      </p:sp>
      <p:sp>
        <p:nvSpPr>
          <p:cNvPr id="26" name="o_155"/>
          <p:cNvSpPr txBox="1"/>
          <p:nvPr/>
        </p:nvSpPr>
        <p:spPr>
          <a:xfrm>
            <a:off x="3563210" y="4378973"/>
            <a:ext cx="310896" cy="219456"/>
          </a:xfrm>
          <a:prstGeom prst="rect">
            <a:avLst/>
          </a:prstGeom>
          <a:noFill/>
          <a:ln/>
        </p:spPr>
        <p:txBody>
          <a:bodyPr wrap="square" lIns="0" tIns="0" rIns="0" bIns="0" rtlCol="0" anchor="ctr"/>
          <a:lstStyle/>
          <a:p>
            <a:pPr marL="0" indent="0" algn="ctr">
              <a:buNone/>
            </a:pPr>
            <a:r>
              <a:rPr lang="en-US" sz="900" dirty="0">
                <a:solidFill>
                  <a:srgbClr val="7A8394"/>
                </a:solidFill>
              </a:rPr>
              <a:t>9</a:t>
            </a:r>
            <a:endParaRPr lang="en-US" sz="900" dirty="0"/>
          </a:p>
        </p:txBody>
      </p:sp>
      <p:sp>
        <p:nvSpPr>
          <p:cNvPr id="27" name="o_156"/>
          <p:cNvSpPr txBox="1"/>
          <p:nvPr/>
        </p:nvSpPr>
        <p:spPr>
          <a:xfrm>
            <a:off x="3541553" y="4836807"/>
            <a:ext cx="310896" cy="310896"/>
          </a:xfrm>
          <a:prstGeom prst="rect">
            <a:avLst/>
          </a:prstGeom>
          <a:noFill/>
          <a:ln/>
        </p:spPr>
        <p:txBody>
          <a:bodyPr wrap="square" lIns="0" tIns="0" rIns="0" bIns="0" rtlCol="0" anchor="ctr"/>
          <a:lstStyle/>
          <a:p>
            <a:pPr marL="0" indent="0" algn="ctr">
              <a:buNone/>
            </a:pPr>
            <a:r>
              <a:rPr lang="en-US" sz="1300" b="1" dirty="0">
                <a:solidFill>
                  <a:schemeClr val="tx2"/>
                </a:solidFill>
                <a:latin typeface="Courier New" pitchFamily="34" charset="0"/>
                <a:ea typeface="Courier New" pitchFamily="34" charset="-122"/>
                <a:cs typeface="Courier New" pitchFamily="34" charset="-120"/>
              </a:rPr>
              <a:t>K</a:t>
            </a:r>
            <a:endParaRPr lang="en-US" sz="1300" dirty="0"/>
          </a:p>
        </p:txBody>
      </p:sp>
      <p:sp>
        <p:nvSpPr>
          <p:cNvPr id="28" name="o_157"/>
          <p:cNvSpPr txBox="1"/>
          <p:nvPr/>
        </p:nvSpPr>
        <p:spPr>
          <a:xfrm>
            <a:off x="3329327" y="4642973"/>
            <a:ext cx="310896" cy="219456"/>
          </a:xfrm>
          <a:prstGeom prst="rect">
            <a:avLst/>
          </a:prstGeom>
          <a:noFill/>
          <a:ln/>
        </p:spPr>
        <p:txBody>
          <a:bodyPr wrap="square" lIns="0" tIns="0" rIns="0" bIns="0" rtlCol="0" anchor="ctr"/>
          <a:lstStyle/>
          <a:p>
            <a:pPr marL="0" indent="0" algn="ctr">
              <a:buNone/>
            </a:pPr>
            <a:r>
              <a:rPr lang="en-US" sz="900" dirty="0">
                <a:solidFill>
                  <a:srgbClr val="7A8394"/>
                </a:solidFill>
              </a:rPr>
              <a:t>10</a:t>
            </a:r>
            <a:endParaRPr lang="en-US" sz="900" dirty="0"/>
          </a:p>
        </p:txBody>
      </p:sp>
      <p:sp>
        <p:nvSpPr>
          <p:cNvPr id="29" name="o_158"/>
          <p:cNvSpPr txBox="1"/>
          <p:nvPr/>
        </p:nvSpPr>
        <p:spPr>
          <a:xfrm>
            <a:off x="3187791" y="5080991"/>
            <a:ext cx="310896" cy="310896"/>
          </a:xfrm>
          <a:prstGeom prst="rect">
            <a:avLst/>
          </a:prstGeom>
          <a:noFill/>
          <a:ln/>
        </p:spPr>
        <p:txBody>
          <a:bodyPr wrap="square" lIns="0" tIns="0" rIns="0" bIns="0" rtlCol="0" anchor="ctr"/>
          <a:lstStyle/>
          <a:p>
            <a:pPr marL="0" indent="0" algn="ctr">
              <a:buNone/>
            </a:pPr>
            <a:r>
              <a:rPr lang="en-US" sz="1300" b="1" dirty="0">
                <a:solidFill>
                  <a:schemeClr val="tx2"/>
                </a:solidFill>
                <a:latin typeface="Courier New" pitchFamily="34" charset="0"/>
                <a:ea typeface="Courier New" pitchFamily="34" charset="-122"/>
                <a:cs typeface="Courier New" pitchFamily="34" charset="-120"/>
              </a:rPr>
              <a:t>L</a:t>
            </a:r>
            <a:endParaRPr lang="en-US" sz="1300" dirty="0"/>
          </a:p>
        </p:txBody>
      </p:sp>
      <p:sp>
        <p:nvSpPr>
          <p:cNvPr id="30" name="o_159"/>
          <p:cNvSpPr txBox="1"/>
          <p:nvPr/>
        </p:nvSpPr>
        <p:spPr>
          <a:xfrm>
            <a:off x="3039061" y="4843330"/>
            <a:ext cx="310896" cy="219456"/>
          </a:xfrm>
          <a:prstGeom prst="rect">
            <a:avLst/>
          </a:prstGeom>
          <a:noFill/>
          <a:ln/>
        </p:spPr>
        <p:txBody>
          <a:bodyPr wrap="square" lIns="0" tIns="0" rIns="0" bIns="0" rtlCol="0" anchor="ctr"/>
          <a:lstStyle/>
          <a:p>
            <a:pPr marL="0" indent="0" algn="ctr">
              <a:buNone/>
            </a:pPr>
            <a:r>
              <a:rPr lang="en-US" sz="900" dirty="0">
                <a:solidFill>
                  <a:srgbClr val="7A8394"/>
                </a:solidFill>
              </a:rPr>
              <a:t>11</a:t>
            </a:r>
            <a:endParaRPr lang="en-US" sz="900" dirty="0"/>
          </a:p>
        </p:txBody>
      </p:sp>
      <p:sp>
        <p:nvSpPr>
          <p:cNvPr id="31" name="o_160"/>
          <p:cNvSpPr txBox="1"/>
          <p:nvPr/>
        </p:nvSpPr>
        <p:spPr>
          <a:xfrm>
            <a:off x="2785871" y="5233419"/>
            <a:ext cx="310896" cy="310896"/>
          </a:xfrm>
          <a:prstGeom prst="rect">
            <a:avLst/>
          </a:prstGeom>
          <a:noFill/>
          <a:ln/>
        </p:spPr>
        <p:txBody>
          <a:bodyPr wrap="square" lIns="0" tIns="0" rIns="0" bIns="0" rtlCol="0" anchor="ctr"/>
          <a:lstStyle/>
          <a:p>
            <a:pPr marL="0" indent="0" algn="ctr">
              <a:buNone/>
            </a:pPr>
            <a:r>
              <a:rPr lang="en-US" sz="1300" b="1" dirty="0">
                <a:solidFill>
                  <a:schemeClr val="tx2"/>
                </a:solidFill>
                <a:latin typeface="Courier New" pitchFamily="34" charset="0"/>
                <a:ea typeface="Courier New" pitchFamily="34" charset="-122"/>
                <a:cs typeface="Courier New" pitchFamily="34" charset="-120"/>
              </a:rPr>
              <a:t>M</a:t>
            </a:r>
            <a:endParaRPr lang="en-US" sz="1300" dirty="0"/>
          </a:p>
        </p:txBody>
      </p:sp>
      <p:sp>
        <p:nvSpPr>
          <p:cNvPr id="32" name="o_161"/>
          <p:cNvSpPr txBox="1"/>
          <p:nvPr/>
        </p:nvSpPr>
        <p:spPr>
          <a:xfrm>
            <a:off x="2709280" y="4968399"/>
            <a:ext cx="310896" cy="219456"/>
          </a:xfrm>
          <a:prstGeom prst="rect">
            <a:avLst/>
          </a:prstGeom>
          <a:noFill/>
          <a:ln/>
        </p:spPr>
        <p:txBody>
          <a:bodyPr wrap="square" lIns="0" tIns="0" rIns="0" bIns="0" rtlCol="0" anchor="ctr"/>
          <a:lstStyle/>
          <a:p>
            <a:pPr marL="0" indent="0" algn="ctr">
              <a:buNone/>
            </a:pPr>
            <a:r>
              <a:rPr lang="en-US" sz="900" dirty="0">
                <a:solidFill>
                  <a:srgbClr val="7A8394"/>
                </a:solidFill>
              </a:rPr>
              <a:t>12</a:t>
            </a:r>
            <a:endParaRPr lang="en-US" sz="900" dirty="0"/>
          </a:p>
        </p:txBody>
      </p:sp>
      <p:sp>
        <p:nvSpPr>
          <p:cNvPr id="33" name="o_162"/>
          <p:cNvSpPr txBox="1"/>
          <p:nvPr/>
        </p:nvSpPr>
        <p:spPr>
          <a:xfrm>
            <a:off x="2359152" y="5285232"/>
            <a:ext cx="310896" cy="310896"/>
          </a:xfrm>
          <a:prstGeom prst="rect">
            <a:avLst/>
          </a:prstGeom>
          <a:noFill/>
          <a:ln/>
        </p:spPr>
        <p:txBody>
          <a:bodyPr wrap="square" lIns="0" tIns="0" rIns="0" bIns="0" rtlCol="0" anchor="ctr"/>
          <a:lstStyle/>
          <a:p>
            <a:pPr marL="0" indent="0" algn="ctr">
              <a:buNone/>
            </a:pPr>
            <a:r>
              <a:rPr lang="en-US" sz="1300" b="1" dirty="0">
                <a:solidFill>
                  <a:schemeClr val="tx2"/>
                </a:solidFill>
                <a:latin typeface="Courier New" pitchFamily="34" charset="0"/>
                <a:ea typeface="Courier New" pitchFamily="34" charset="-122"/>
                <a:cs typeface="Courier New" pitchFamily="34" charset="-120"/>
              </a:rPr>
              <a:t>N</a:t>
            </a:r>
            <a:endParaRPr lang="en-US" sz="1300" dirty="0"/>
          </a:p>
        </p:txBody>
      </p:sp>
      <p:sp>
        <p:nvSpPr>
          <p:cNvPr id="34" name="o_163"/>
          <p:cNvSpPr txBox="1"/>
          <p:nvPr/>
        </p:nvSpPr>
        <p:spPr>
          <a:xfrm>
            <a:off x="2359152" y="5010912"/>
            <a:ext cx="310896" cy="219456"/>
          </a:xfrm>
          <a:prstGeom prst="rect">
            <a:avLst/>
          </a:prstGeom>
          <a:noFill/>
          <a:ln/>
        </p:spPr>
        <p:txBody>
          <a:bodyPr wrap="square" lIns="0" tIns="0" rIns="0" bIns="0" rtlCol="0" anchor="ctr"/>
          <a:lstStyle/>
          <a:p>
            <a:pPr marL="0" indent="0" algn="ctr">
              <a:buNone/>
            </a:pPr>
            <a:r>
              <a:rPr lang="en-US" sz="900" dirty="0">
                <a:solidFill>
                  <a:srgbClr val="7A8394"/>
                </a:solidFill>
              </a:rPr>
              <a:t>13</a:t>
            </a:r>
            <a:endParaRPr lang="en-US" sz="900" dirty="0"/>
          </a:p>
        </p:txBody>
      </p:sp>
      <p:sp>
        <p:nvSpPr>
          <p:cNvPr id="35" name="o_164"/>
          <p:cNvSpPr txBox="1"/>
          <p:nvPr/>
        </p:nvSpPr>
        <p:spPr>
          <a:xfrm>
            <a:off x="1932433" y="5233419"/>
            <a:ext cx="310896" cy="310896"/>
          </a:xfrm>
          <a:prstGeom prst="rect">
            <a:avLst/>
          </a:prstGeom>
          <a:noFill/>
          <a:ln/>
        </p:spPr>
        <p:txBody>
          <a:bodyPr wrap="square" lIns="0" tIns="0" rIns="0" bIns="0" rtlCol="0" anchor="ctr"/>
          <a:lstStyle/>
          <a:p>
            <a:pPr marL="0" indent="0" algn="ctr">
              <a:buNone/>
            </a:pPr>
            <a:r>
              <a:rPr lang="en-US" sz="1300" b="1" dirty="0">
                <a:solidFill>
                  <a:schemeClr val="tx2"/>
                </a:solidFill>
                <a:latin typeface="Courier New" pitchFamily="34" charset="0"/>
                <a:ea typeface="Courier New" pitchFamily="34" charset="-122"/>
                <a:cs typeface="Courier New" pitchFamily="34" charset="-120"/>
              </a:rPr>
              <a:t>O</a:t>
            </a:r>
            <a:endParaRPr lang="en-US" sz="1300" dirty="0"/>
          </a:p>
        </p:txBody>
      </p:sp>
      <p:sp>
        <p:nvSpPr>
          <p:cNvPr id="36" name="o_165"/>
          <p:cNvSpPr txBox="1"/>
          <p:nvPr/>
        </p:nvSpPr>
        <p:spPr>
          <a:xfrm>
            <a:off x="2009024" y="4968399"/>
            <a:ext cx="310896" cy="219456"/>
          </a:xfrm>
          <a:prstGeom prst="rect">
            <a:avLst/>
          </a:prstGeom>
          <a:noFill/>
          <a:ln/>
        </p:spPr>
        <p:txBody>
          <a:bodyPr wrap="square" lIns="0" tIns="0" rIns="0" bIns="0" rtlCol="0" anchor="ctr"/>
          <a:lstStyle/>
          <a:p>
            <a:pPr marL="0" indent="0" algn="ctr">
              <a:buNone/>
            </a:pPr>
            <a:r>
              <a:rPr lang="en-US" sz="900" dirty="0">
                <a:solidFill>
                  <a:srgbClr val="7A8394"/>
                </a:solidFill>
              </a:rPr>
              <a:t>14</a:t>
            </a:r>
            <a:endParaRPr lang="en-US" sz="900" dirty="0"/>
          </a:p>
        </p:txBody>
      </p:sp>
      <p:sp>
        <p:nvSpPr>
          <p:cNvPr id="37" name="o_166"/>
          <p:cNvSpPr txBox="1"/>
          <p:nvPr/>
        </p:nvSpPr>
        <p:spPr>
          <a:xfrm>
            <a:off x="1530513" y="5080991"/>
            <a:ext cx="310896" cy="310896"/>
          </a:xfrm>
          <a:prstGeom prst="rect">
            <a:avLst/>
          </a:prstGeom>
          <a:noFill/>
          <a:ln/>
        </p:spPr>
        <p:txBody>
          <a:bodyPr wrap="square" lIns="0" tIns="0" rIns="0" bIns="0" rtlCol="0" anchor="ctr"/>
          <a:lstStyle/>
          <a:p>
            <a:pPr marL="0" indent="0" algn="ctr">
              <a:buNone/>
            </a:pPr>
            <a:r>
              <a:rPr lang="en-US" sz="1300" b="1" dirty="0">
                <a:solidFill>
                  <a:schemeClr val="tx2"/>
                </a:solidFill>
                <a:latin typeface="Courier New" pitchFamily="34" charset="0"/>
                <a:ea typeface="Courier New" pitchFamily="34" charset="-122"/>
                <a:cs typeface="Courier New" pitchFamily="34" charset="-120"/>
              </a:rPr>
              <a:t>P</a:t>
            </a:r>
            <a:endParaRPr lang="en-US" sz="1300" dirty="0"/>
          </a:p>
        </p:txBody>
      </p:sp>
      <p:sp>
        <p:nvSpPr>
          <p:cNvPr id="38" name="o_167"/>
          <p:cNvSpPr txBox="1"/>
          <p:nvPr/>
        </p:nvSpPr>
        <p:spPr>
          <a:xfrm>
            <a:off x="1679243" y="4843330"/>
            <a:ext cx="310896" cy="219456"/>
          </a:xfrm>
          <a:prstGeom prst="rect">
            <a:avLst/>
          </a:prstGeom>
          <a:noFill/>
          <a:ln/>
        </p:spPr>
        <p:txBody>
          <a:bodyPr wrap="square" lIns="0" tIns="0" rIns="0" bIns="0" rtlCol="0" anchor="ctr"/>
          <a:lstStyle/>
          <a:p>
            <a:pPr marL="0" indent="0" algn="ctr">
              <a:buNone/>
            </a:pPr>
            <a:r>
              <a:rPr lang="en-US" sz="900" dirty="0">
                <a:solidFill>
                  <a:srgbClr val="7A8394"/>
                </a:solidFill>
              </a:rPr>
              <a:t>15</a:t>
            </a:r>
            <a:endParaRPr lang="en-US" sz="900" dirty="0"/>
          </a:p>
        </p:txBody>
      </p:sp>
      <p:sp>
        <p:nvSpPr>
          <p:cNvPr id="39" name="o_168"/>
          <p:cNvSpPr txBox="1"/>
          <p:nvPr/>
        </p:nvSpPr>
        <p:spPr>
          <a:xfrm>
            <a:off x="1176751" y="4836807"/>
            <a:ext cx="310896" cy="310896"/>
          </a:xfrm>
          <a:prstGeom prst="rect">
            <a:avLst/>
          </a:prstGeom>
          <a:noFill/>
          <a:ln/>
        </p:spPr>
        <p:txBody>
          <a:bodyPr wrap="square" lIns="0" tIns="0" rIns="0" bIns="0" rtlCol="0" anchor="ctr"/>
          <a:lstStyle/>
          <a:p>
            <a:pPr marL="0" indent="0" algn="ctr">
              <a:buNone/>
            </a:pPr>
            <a:r>
              <a:rPr lang="en-US" sz="1300" b="1" dirty="0">
                <a:solidFill>
                  <a:schemeClr val="tx2"/>
                </a:solidFill>
                <a:latin typeface="Courier New" pitchFamily="34" charset="0"/>
                <a:ea typeface="Courier New" pitchFamily="34" charset="-122"/>
                <a:cs typeface="Courier New" pitchFamily="34" charset="-120"/>
              </a:rPr>
              <a:t>Q</a:t>
            </a:r>
            <a:endParaRPr lang="en-US" sz="1300" dirty="0"/>
          </a:p>
        </p:txBody>
      </p:sp>
      <p:sp>
        <p:nvSpPr>
          <p:cNvPr id="40" name="o_169"/>
          <p:cNvSpPr txBox="1"/>
          <p:nvPr/>
        </p:nvSpPr>
        <p:spPr>
          <a:xfrm>
            <a:off x="1388977" y="4642973"/>
            <a:ext cx="310896" cy="219456"/>
          </a:xfrm>
          <a:prstGeom prst="rect">
            <a:avLst/>
          </a:prstGeom>
          <a:noFill/>
          <a:ln/>
        </p:spPr>
        <p:txBody>
          <a:bodyPr wrap="square" lIns="0" tIns="0" rIns="0" bIns="0" rtlCol="0" anchor="ctr"/>
          <a:lstStyle/>
          <a:p>
            <a:pPr marL="0" indent="0" algn="ctr">
              <a:buNone/>
            </a:pPr>
            <a:r>
              <a:rPr lang="en-US" sz="900" dirty="0">
                <a:solidFill>
                  <a:srgbClr val="7A8394"/>
                </a:solidFill>
              </a:rPr>
              <a:t>16</a:t>
            </a:r>
            <a:endParaRPr lang="en-US" sz="900" dirty="0"/>
          </a:p>
        </p:txBody>
      </p:sp>
      <p:sp>
        <p:nvSpPr>
          <p:cNvPr id="41" name="o_170"/>
          <p:cNvSpPr txBox="1"/>
          <p:nvPr/>
        </p:nvSpPr>
        <p:spPr>
          <a:xfrm>
            <a:off x="891706" y="4515057"/>
            <a:ext cx="310896" cy="310896"/>
          </a:xfrm>
          <a:prstGeom prst="rect">
            <a:avLst/>
          </a:prstGeom>
          <a:noFill/>
          <a:ln/>
        </p:spPr>
        <p:txBody>
          <a:bodyPr wrap="square" lIns="0" tIns="0" rIns="0" bIns="0" rtlCol="0" anchor="ctr"/>
          <a:lstStyle/>
          <a:p>
            <a:pPr marL="0" indent="0" algn="ctr">
              <a:buNone/>
            </a:pPr>
            <a:r>
              <a:rPr lang="en-US" sz="1300" b="1" dirty="0">
                <a:solidFill>
                  <a:schemeClr val="tx2"/>
                </a:solidFill>
                <a:latin typeface="Courier New" pitchFamily="34" charset="0"/>
                <a:ea typeface="Courier New" pitchFamily="34" charset="-122"/>
                <a:cs typeface="Courier New" pitchFamily="34" charset="-120"/>
              </a:rPr>
              <a:t>R</a:t>
            </a:r>
            <a:endParaRPr lang="en-US" sz="1300" dirty="0"/>
          </a:p>
        </p:txBody>
      </p:sp>
      <p:sp>
        <p:nvSpPr>
          <p:cNvPr id="42" name="o_171"/>
          <p:cNvSpPr txBox="1"/>
          <p:nvPr/>
        </p:nvSpPr>
        <p:spPr>
          <a:xfrm>
            <a:off x="1155094" y="4378973"/>
            <a:ext cx="310896" cy="219456"/>
          </a:xfrm>
          <a:prstGeom prst="rect">
            <a:avLst/>
          </a:prstGeom>
          <a:noFill/>
          <a:ln/>
        </p:spPr>
        <p:txBody>
          <a:bodyPr wrap="square" lIns="0" tIns="0" rIns="0" bIns="0" rtlCol="0" anchor="ctr"/>
          <a:lstStyle/>
          <a:p>
            <a:pPr marL="0" indent="0" algn="ctr">
              <a:buNone/>
            </a:pPr>
            <a:r>
              <a:rPr lang="en-US" sz="900" dirty="0">
                <a:solidFill>
                  <a:srgbClr val="7A8394"/>
                </a:solidFill>
              </a:rPr>
              <a:t>17</a:t>
            </a:r>
            <a:endParaRPr lang="en-US" sz="900" dirty="0"/>
          </a:p>
        </p:txBody>
      </p:sp>
      <p:sp>
        <p:nvSpPr>
          <p:cNvPr id="43" name="o_172"/>
          <p:cNvSpPr txBox="1"/>
          <p:nvPr/>
        </p:nvSpPr>
        <p:spPr>
          <a:xfrm>
            <a:off x="691943" y="4134441"/>
            <a:ext cx="310896" cy="310896"/>
          </a:xfrm>
          <a:prstGeom prst="rect">
            <a:avLst/>
          </a:prstGeom>
          <a:noFill/>
          <a:ln/>
        </p:spPr>
        <p:txBody>
          <a:bodyPr wrap="square" lIns="0" tIns="0" rIns="0" bIns="0" rtlCol="0" anchor="ctr"/>
          <a:lstStyle/>
          <a:p>
            <a:pPr marL="0" indent="0" algn="ctr">
              <a:buNone/>
            </a:pPr>
            <a:r>
              <a:rPr lang="en-US" sz="1300" b="1" dirty="0">
                <a:solidFill>
                  <a:schemeClr val="tx2"/>
                </a:solidFill>
                <a:latin typeface="Courier New" pitchFamily="34" charset="0"/>
                <a:ea typeface="Courier New" pitchFamily="34" charset="-122"/>
                <a:cs typeface="Courier New" pitchFamily="34" charset="-120"/>
              </a:rPr>
              <a:t>S</a:t>
            </a:r>
            <a:endParaRPr lang="en-US" sz="1300" dirty="0"/>
          </a:p>
        </p:txBody>
      </p:sp>
      <p:sp>
        <p:nvSpPr>
          <p:cNvPr id="44" name="o_173"/>
          <p:cNvSpPr txBox="1"/>
          <p:nvPr/>
        </p:nvSpPr>
        <p:spPr>
          <a:xfrm>
            <a:off x="991186" y="4066673"/>
            <a:ext cx="310896" cy="219456"/>
          </a:xfrm>
          <a:prstGeom prst="rect">
            <a:avLst/>
          </a:prstGeom>
          <a:noFill/>
          <a:ln/>
        </p:spPr>
        <p:txBody>
          <a:bodyPr wrap="square" lIns="0" tIns="0" rIns="0" bIns="0" rtlCol="0" anchor="ctr"/>
          <a:lstStyle/>
          <a:p>
            <a:pPr marL="0" indent="0" algn="ctr">
              <a:buNone/>
            </a:pPr>
            <a:r>
              <a:rPr lang="en-US" sz="900" dirty="0">
                <a:solidFill>
                  <a:srgbClr val="7A8394"/>
                </a:solidFill>
              </a:rPr>
              <a:t>18</a:t>
            </a:r>
            <a:endParaRPr lang="en-US" sz="900" dirty="0"/>
          </a:p>
        </p:txBody>
      </p:sp>
      <p:sp>
        <p:nvSpPr>
          <p:cNvPr id="45" name="o_174"/>
          <p:cNvSpPr txBox="1"/>
          <p:nvPr/>
        </p:nvSpPr>
        <p:spPr>
          <a:xfrm>
            <a:off x="589073" y="3717079"/>
            <a:ext cx="310896" cy="310896"/>
          </a:xfrm>
          <a:prstGeom prst="rect">
            <a:avLst/>
          </a:prstGeom>
          <a:noFill/>
          <a:ln/>
        </p:spPr>
        <p:txBody>
          <a:bodyPr wrap="square" lIns="0" tIns="0" rIns="0" bIns="0" rtlCol="0" anchor="ctr"/>
          <a:lstStyle/>
          <a:p>
            <a:pPr marL="0" indent="0" algn="ctr">
              <a:buNone/>
            </a:pPr>
            <a:r>
              <a:rPr lang="en-US" sz="1300" b="1" dirty="0">
                <a:solidFill>
                  <a:schemeClr val="tx2"/>
                </a:solidFill>
                <a:latin typeface="Courier New" pitchFamily="34" charset="0"/>
                <a:ea typeface="Courier New" pitchFamily="34" charset="-122"/>
                <a:cs typeface="Courier New" pitchFamily="34" charset="-120"/>
              </a:rPr>
              <a:t>T</a:t>
            </a:r>
            <a:endParaRPr lang="en-US" sz="1300" dirty="0"/>
          </a:p>
        </p:txBody>
      </p:sp>
      <p:sp>
        <p:nvSpPr>
          <p:cNvPr id="46" name="o_175"/>
          <p:cNvSpPr txBox="1"/>
          <p:nvPr/>
        </p:nvSpPr>
        <p:spPr>
          <a:xfrm>
            <a:off x="906779" y="3724222"/>
            <a:ext cx="310896" cy="219456"/>
          </a:xfrm>
          <a:prstGeom prst="rect">
            <a:avLst/>
          </a:prstGeom>
          <a:noFill/>
          <a:ln/>
        </p:spPr>
        <p:txBody>
          <a:bodyPr wrap="square" lIns="0" tIns="0" rIns="0" bIns="0" rtlCol="0" anchor="ctr"/>
          <a:lstStyle/>
          <a:p>
            <a:pPr marL="0" indent="0" algn="ctr">
              <a:buNone/>
            </a:pPr>
            <a:r>
              <a:rPr lang="en-US" sz="900" dirty="0">
                <a:solidFill>
                  <a:srgbClr val="7A8394"/>
                </a:solidFill>
              </a:rPr>
              <a:t>19</a:t>
            </a:r>
            <a:endParaRPr lang="en-US" sz="900" dirty="0"/>
          </a:p>
        </p:txBody>
      </p:sp>
      <p:sp>
        <p:nvSpPr>
          <p:cNvPr id="47" name="o_176"/>
          <p:cNvSpPr txBox="1"/>
          <p:nvPr/>
        </p:nvSpPr>
        <p:spPr>
          <a:xfrm>
            <a:off x="589073" y="3287225"/>
            <a:ext cx="310896" cy="310896"/>
          </a:xfrm>
          <a:prstGeom prst="rect">
            <a:avLst/>
          </a:prstGeom>
          <a:noFill/>
          <a:ln/>
        </p:spPr>
        <p:txBody>
          <a:bodyPr wrap="square" lIns="0" tIns="0" rIns="0" bIns="0" rtlCol="0" anchor="ctr"/>
          <a:lstStyle/>
          <a:p>
            <a:pPr marL="0" indent="0" algn="ctr">
              <a:buNone/>
            </a:pPr>
            <a:r>
              <a:rPr lang="en-US" sz="1300" b="1" dirty="0">
                <a:solidFill>
                  <a:schemeClr val="tx2"/>
                </a:solidFill>
                <a:latin typeface="Courier New" pitchFamily="34" charset="0"/>
                <a:ea typeface="Courier New" pitchFamily="34" charset="-122"/>
                <a:cs typeface="Courier New" pitchFamily="34" charset="-120"/>
              </a:rPr>
              <a:t>U</a:t>
            </a:r>
            <a:endParaRPr lang="en-US" sz="1300" dirty="0"/>
          </a:p>
        </p:txBody>
      </p:sp>
      <p:sp>
        <p:nvSpPr>
          <p:cNvPr id="48" name="o_177"/>
          <p:cNvSpPr txBox="1"/>
          <p:nvPr/>
        </p:nvSpPr>
        <p:spPr>
          <a:xfrm>
            <a:off x="906779" y="3371522"/>
            <a:ext cx="310896" cy="219456"/>
          </a:xfrm>
          <a:prstGeom prst="rect">
            <a:avLst/>
          </a:prstGeom>
          <a:noFill/>
          <a:ln/>
        </p:spPr>
        <p:txBody>
          <a:bodyPr wrap="square" lIns="0" tIns="0" rIns="0" bIns="0" rtlCol="0" anchor="ctr"/>
          <a:lstStyle/>
          <a:p>
            <a:pPr marL="0" indent="0" algn="ctr">
              <a:buNone/>
            </a:pPr>
            <a:r>
              <a:rPr lang="en-US" sz="900" dirty="0">
                <a:solidFill>
                  <a:srgbClr val="7A8394"/>
                </a:solidFill>
              </a:rPr>
              <a:t>20</a:t>
            </a:r>
            <a:endParaRPr lang="en-US" sz="900" dirty="0"/>
          </a:p>
        </p:txBody>
      </p:sp>
      <p:sp>
        <p:nvSpPr>
          <p:cNvPr id="49" name="o_178"/>
          <p:cNvSpPr txBox="1"/>
          <p:nvPr/>
        </p:nvSpPr>
        <p:spPr>
          <a:xfrm>
            <a:off x="691943" y="2869863"/>
            <a:ext cx="310896" cy="310896"/>
          </a:xfrm>
          <a:prstGeom prst="rect">
            <a:avLst/>
          </a:prstGeom>
          <a:noFill/>
          <a:ln/>
        </p:spPr>
        <p:txBody>
          <a:bodyPr wrap="square" lIns="0" tIns="0" rIns="0" bIns="0" rtlCol="0" anchor="ctr"/>
          <a:lstStyle/>
          <a:p>
            <a:pPr marL="0" indent="0" algn="ctr">
              <a:buNone/>
            </a:pPr>
            <a:r>
              <a:rPr lang="en-US" sz="1300" b="1" dirty="0">
                <a:solidFill>
                  <a:schemeClr val="tx2"/>
                </a:solidFill>
                <a:latin typeface="Courier New" pitchFamily="34" charset="0"/>
                <a:ea typeface="Courier New" pitchFamily="34" charset="-122"/>
                <a:cs typeface="Courier New" pitchFamily="34" charset="-120"/>
              </a:rPr>
              <a:t>V</a:t>
            </a:r>
            <a:endParaRPr lang="en-US" sz="1300" dirty="0"/>
          </a:p>
        </p:txBody>
      </p:sp>
      <p:sp>
        <p:nvSpPr>
          <p:cNvPr id="50" name="o_179"/>
          <p:cNvSpPr txBox="1"/>
          <p:nvPr/>
        </p:nvSpPr>
        <p:spPr>
          <a:xfrm>
            <a:off x="991186" y="3029071"/>
            <a:ext cx="310896" cy="219456"/>
          </a:xfrm>
          <a:prstGeom prst="rect">
            <a:avLst/>
          </a:prstGeom>
          <a:noFill/>
          <a:ln/>
        </p:spPr>
        <p:txBody>
          <a:bodyPr wrap="square" lIns="0" tIns="0" rIns="0" bIns="0" rtlCol="0" anchor="ctr"/>
          <a:lstStyle/>
          <a:p>
            <a:pPr marL="0" indent="0" algn="ctr">
              <a:buNone/>
            </a:pPr>
            <a:r>
              <a:rPr lang="en-US" sz="900" dirty="0">
                <a:solidFill>
                  <a:srgbClr val="7A8394"/>
                </a:solidFill>
              </a:rPr>
              <a:t>21</a:t>
            </a:r>
            <a:endParaRPr lang="en-US" sz="900" dirty="0"/>
          </a:p>
        </p:txBody>
      </p:sp>
      <p:sp>
        <p:nvSpPr>
          <p:cNvPr id="51" name="o_180"/>
          <p:cNvSpPr txBox="1"/>
          <p:nvPr/>
        </p:nvSpPr>
        <p:spPr>
          <a:xfrm>
            <a:off x="891706" y="2489247"/>
            <a:ext cx="310896" cy="310896"/>
          </a:xfrm>
          <a:prstGeom prst="rect">
            <a:avLst/>
          </a:prstGeom>
          <a:noFill/>
          <a:ln/>
        </p:spPr>
        <p:txBody>
          <a:bodyPr wrap="square" lIns="0" tIns="0" rIns="0" bIns="0" rtlCol="0" anchor="ctr"/>
          <a:lstStyle/>
          <a:p>
            <a:pPr marL="0" indent="0" algn="ctr">
              <a:buNone/>
            </a:pPr>
            <a:r>
              <a:rPr lang="en-US" sz="1300" b="1" dirty="0">
                <a:solidFill>
                  <a:schemeClr val="tx2"/>
                </a:solidFill>
                <a:latin typeface="Courier New" pitchFamily="34" charset="0"/>
                <a:ea typeface="Courier New" pitchFamily="34" charset="-122"/>
                <a:cs typeface="Courier New" pitchFamily="34" charset="-120"/>
              </a:rPr>
              <a:t>W</a:t>
            </a:r>
            <a:endParaRPr lang="en-US" sz="1300" dirty="0"/>
          </a:p>
        </p:txBody>
      </p:sp>
      <p:sp>
        <p:nvSpPr>
          <p:cNvPr id="52" name="o_181"/>
          <p:cNvSpPr txBox="1"/>
          <p:nvPr/>
        </p:nvSpPr>
        <p:spPr>
          <a:xfrm>
            <a:off x="1155094" y="2716771"/>
            <a:ext cx="310896" cy="219456"/>
          </a:xfrm>
          <a:prstGeom prst="rect">
            <a:avLst/>
          </a:prstGeom>
          <a:noFill/>
          <a:ln/>
        </p:spPr>
        <p:txBody>
          <a:bodyPr wrap="square" lIns="0" tIns="0" rIns="0" bIns="0" rtlCol="0" anchor="ctr"/>
          <a:lstStyle/>
          <a:p>
            <a:pPr marL="0" indent="0" algn="ctr">
              <a:buNone/>
            </a:pPr>
            <a:r>
              <a:rPr lang="en-US" sz="900" dirty="0">
                <a:solidFill>
                  <a:srgbClr val="7A8394"/>
                </a:solidFill>
              </a:rPr>
              <a:t>22</a:t>
            </a:r>
            <a:endParaRPr lang="en-US" sz="900" dirty="0"/>
          </a:p>
        </p:txBody>
      </p:sp>
      <p:sp>
        <p:nvSpPr>
          <p:cNvPr id="53" name="o_182"/>
          <p:cNvSpPr txBox="1"/>
          <p:nvPr/>
        </p:nvSpPr>
        <p:spPr>
          <a:xfrm>
            <a:off x="1176751" y="2167497"/>
            <a:ext cx="310896" cy="310896"/>
          </a:xfrm>
          <a:prstGeom prst="rect">
            <a:avLst/>
          </a:prstGeom>
          <a:noFill/>
          <a:ln/>
        </p:spPr>
        <p:txBody>
          <a:bodyPr wrap="square" lIns="0" tIns="0" rIns="0" bIns="0" rtlCol="0" anchor="ctr"/>
          <a:lstStyle/>
          <a:p>
            <a:pPr marL="0" indent="0" algn="ctr">
              <a:buNone/>
            </a:pPr>
            <a:r>
              <a:rPr lang="en-US" sz="1300" b="1" dirty="0">
                <a:solidFill>
                  <a:schemeClr val="accent3"/>
                </a:solidFill>
                <a:latin typeface="Courier New" pitchFamily="34" charset="0"/>
                <a:ea typeface="Courier New" pitchFamily="34" charset="-122"/>
                <a:cs typeface="Courier New" pitchFamily="34" charset="-120"/>
              </a:rPr>
              <a:t>X</a:t>
            </a:r>
            <a:endParaRPr lang="en-US" sz="1300" dirty="0"/>
          </a:p>
        </p:txBody>
      </p:sp>
      <p:sp>
        <p:nvSpPr>
          <p:cNvPr id="54" name="o_183"/>
          <p:cNvSpPr txBox="1"/>
          <p:nvPr/>
        </p:nvSpPr>
        <p:spPr>
          <a:xfrm>
            <a:off x="1388977" y="2452771"/>
            <a:ext cx="310896" cy="219456"/>
          </a:xfrm>
          <a:prstGeom prst="rect">
            <a:avLst/>
          </a:prstGeom>
          <a:noFill/>
          <a:ln/>
        </p:spPr>
        <p:txBody>
          <a:bodyPr wrap="square" lIns="0" tIns="0" rIns="0" bIns="0" rtlCol="0" anchor="ctr"/>
          <a:lstStyle/>
          <a:p>
            <a:pPr marL="0" indent="0" algn="ctr">
              <a:buNone/>
            </a:pPr>
            <a:r>
              <a:rPr lang="en-US" sz="900" dirty="0">
                <a:solidFill>
                  <a:schemeClr val="accent3"/>
                </a:solidFill>
              </a:rPr>
              <a:t>23</a:t>
            </a:r>
            <a:endParaRPr lang="en-US" sz="900" dirty="0"/>
          </a:p>
        </p:txBody>
      </p:sp>
      <p:sp>
        <p:nvSpPr>
          <p:cNvPr id="55" name="o_184"/>
          <p:cNvSpPr txBox="1"/>
          <p:nvPr/>
        </p:nvSpPr>
        <p:spPr>
          <a:xfrm>
            <a:off x="1530513" y="1923313"/>
            <a:ext cx="310896" cy="310896"/>
          </a:xfrm>
          <a:prstGeom prst="rect">
            <a:avLst/>
          </a:prstGeom>
          <a:noFill/>
          <a:ln/>
        </p:spPr>
        <p:txBody>
          <a:bodyPr wrap="square" lIns="0" tIns="0" rIns="0" bIns="0" rtlCol="0" anchor="ctr"/>
          <a:lstStyle/>
          <a:p>
            <a:pPr marL="0" indent="0" algn="ctr">
              <a:buNone/>
            </a:pPr>
            <a:r>
              <a:rPr lang="en-US" sz="1300" b="1" dirty="0">
                <a:solidFill>
                  <a:schemeClr val="tx2"/>
                </a:solidFill>
                <a:latin typeface="Courier New" pitchFamily="34" charset="0"/>
                <a:ea typeface="Courier New" pitchFamily="34" charset="-122"/>
                <a:cs typeface="Courier New" pitchFamily="34" charset="-120"/>
              </a:rPr>
              <a:t>Y</a:t>
            </a:r>
            <a:endParaRPr lang="en-US" sz="1300" dirty="0"/>
          </a:p>
        </p:txBody>
      </p:sp>
      <p:sp>
        <p:nvSpPr>
          <p:cNvPr id="56" name="o_185"/>
          <p:cNvSpPr txBox="1"/>
          <p:nvPr/>
        </p:nvSpPr>
        <p:spPr>
          <a:xfrm>
            <a:off x="1679243" y="2252414"/>
            <a:ext cx="310896" cy="219456"/>
          </a:xfrm>
          <a:prstGeom prst="rect">
            <a:avLst/>
          </a:prstGeom>
          <a:noFill/>
          <a:ln/>
        </p:spPr>
        <p:txBody>
          <a:bodyPr wrap="square" lIns="0" tIns="0" rIns="0" bIns="0" rtlCol="0" anchor="ctr"/>
          <a:lstStyle/>
          <a:p>
            <a:pPr marL="0" indent="0" algn="ctr">
              <a:buNone/>
            </a:pPr>
            <a:r>
              <a:rPr lang="en-US" sz="900" dirty="0">
                <a:solidFill>
                  <a:srgbClr val="7A8394"/>
                </a:solidFill>
              </a:rPr>
              <a:t>24</a:t>
            </a:r>
            <a:endParaRPr lang="en-US" sz="900" dirty="0"/>
          </a:p>
        </p:txBody>
      </p:sp>
      <p:sp>
        <p:nvSpPr>
          <p:cNvPr id="57" name="o_186"/>
          <p:cNvSpPr txBox="1"/>
          <p:nvPr/>
        </p:nvSpPr>
        <p:spPr>
          <a:xfrm>
            <a:off x="1932433" y="1770885"/>
            <a:ext cx="310896" cy="310896"/>
          </a:xfrm>
          <a:prstGeom prst="rect">
            <a:avLst/>
          </a:prstGeom>
          <a:noFill/>
          <a:ln/>
        </p:spPr>
        <p:txBody>
          <a:bodyPr wrap="square" lIns="0" tIns="0" rIns="0" bIns="0" rtlCol="0" anchor="ctr"/>
          <a:lstStyle/>
          <a:p>
            <a:pPr marL="0" indent="0" algn="ctr">
              <a:buNone/>
            </a:pPr>
            <a:r>
              <a:rPr lang="en-US" sz="1300" b="1" dirty="0">
                <a:solidFill>
                  <a:schemeClr val="tx2"/>
                </a:solidFill>
                <a:latin typeface="Courier New" pitchFamily="34" charset="0"/>
                <a:ea typeface="Courier New" pitchFamily="34" charset="-122"/>
                <a:cs typeface="Courier New" pitchFamily="34" charset="-120"/>
              </a:rPr>
              <a:t>Z</a:t>
            </a:r>
            <a:endParaRPr lang="en-US" sz="1300" dirty="0"/>
          </a:p>
        </p:txBody>
      </p:sp>
      <p:sp>
        <p:nvSpPr>
          <p:cNvPr id="58" name="o_187"/>
          <p:cNvSpPr txBox="1"/>
          <p:nvPr/>
        </p:nvSpPr>
        <p:spPr>
          <a:xfrm>
            <a:off x="2009024" y="2127345"/>
            <a:ext cx="310896" cy="219456"/>
          </a:xfrm>
          <a:prstGeom prst="rect">
            <a:avLst/>
          </a:prstGeom>
          <a:noFill/>
          <a:ln/>
        </p:spPr>
        <p:txBody>
          <a:bodyPr wrap="square" lIns="0" tIns="0" rIns="0" bIns="0" rtlCol="0" anchor="ctr"/>
          <a:lstStyle/>
          <a:p>
            <a:pPr marL="0" indent="0" algn="ctr">
              <a:buNone/>
            </a:pPr>
            <a:r>
              <a:rPr lang="en-US" sz="900" dirty="0">
                <a:solidFill>
                  <a:srgbClr val="7A8394"/>
                </a:solidFill>
              </a:rPr>
              <a:t>25</a:t>
            </a:r>
            <a:endParaRPr lang="en-US" sz="900" dirty="0"/>
          </a:p>
        </p:txBody>
      </p:sp>
      <p:sp>
        <p:nvSpPr>
          <p:cNvPr id="59" name="o_188"/>
          <p:cNvSpPr txBox="1"/>
          <p:nvPr/>
        </p:nvSpPr>
        <p:spPr>
          <a:xfrm>
            <a:off x="1508760" y="3154680"/>
            <a:ext cx="2011680" cy="1005840"/>
          </a:xfrm>
          <a:prstGeom prst="rect">
            <a:avLst/>
          </a:prstGeom>
          <a:noFill/>
          <a:ln/>
        </p:spPr>
        <p:txBody>
          <a:bodyPr wrap="square" lIns="0" tIns="0" rIns="0" bIns="0" rtlCol="0" anchor="ctr"/>
          <a:lstStyle/>
          <a:p>
            <a:pPr marL="0" indent="0" algn="ctr">
              <a:buNone/>
            </a:pPr>
            <a:r>
              <a:rPr lang="en-US" sz="1600" b="1" dirty="0">
                <a:solidFill>
                  <a:schemeClr val="tx1"/>
                </a:solidFill>
              </a:rPr>
              <a:t>X(23) + 3</a:t>
            </a:r>
            <a:endParaRPr lang="en-US" sz="1600" dirty="0"/>
          </a:p>
          <a:p>
            <a:pPr marL="0" indent="0" algn="ctr">
              <a:buNone/>
            </a:pPr>
            <a:r>
              <a:rPr lang="en-US" sz="1600" b="1" dirty="0">
                <a:solidFill>
                  <a:schemeClr val="tx1"/>
                </a:solidFill>
              </a:rPr>
              <a:t>= 26 ≡ 0</a:t>
            </a:r>
            <a:endParaRPr lang="en-US" sz="1600" dirty="0"/>
          </a:p>
          <a:p>
            <a:pPr marL="0" indent="0" algn="ctr">
              <a:buNone/>
            </a:pPr>
            <a:r>
              <a:rPr lang="en-US" sz="1600" b="1" dirty="0">
                <a:solidFill>
                  <a:schemeClr val="accent3"/>
                </a:solidFill>
              </a:rPr>
              <a:t>→ A</a:t>
            </a:r>
            <a:endParaRPr lang="en-US" sz="1600" dirty="0"/>
          </a:p>
        </p:txBody>
      </p:sp>
      <p:sp>
        <p:nvSpPr>
          <p:cNvPr id="60" name="A1_189"/>
          <p:cNvSpPr txBox="1"/>
          <p:nvPr/>
        </p:nvSpPr>
        <p:spPr>
          <a:xfrm>
            <a:off x="4983480" y="1463040"/>
            <a:ext cx="3246120" cy="2194560"/>
          </a:xfrm>
          <a:prstGeom prst="roundRect">
            <a:avLst>
              <a:gd name="adj" fmla="val 3333"/>
            </a:avLst>
          </a:prstGeom>
          <a:solidFill>
            <a:schemeClr val="accent4">
              <a:alpha val="12000"/>
            </a:schemeClr>
          </a:solidFill>
          <a:ln>
            <a:solidFill>
              <a:schemeClr val="accent4">
                <a:alpha val="0"/>
              </a:schemeClr>
            </a:solidFill>
          </a:ln>
        </p:spPr>
        <p:txBody>
          <a:bodyPr wrap="square" lIns="76200" tIns="127000" rIns="127000" bIns="76200" rtlCol="0" anchor="t"/>
          <a:lstStyle/>
          <a:p>
            <a:pPr marL="0" indent="0" algn="l">
              <a:spcAft>
                <a:spcPts val="300"/>
              </a:spcAft>
              <a:buNone/>
            </a:pPr>
            <a:r>
              <a:rPr lang="en-US" sz="1800" b="1" dirty="0">
                <a:solidFill>
                  <a:schemeClr val="accent4"/>
                </a:solidFill>
              </a:rPr>
              <a:t>Qoldiq</a:t>
            </a:r>
            <a:endParaRPr lang="en-US" sz="1800" dirty="0"/>
          </a:p>
          <a:p>
            <a:pPr marL="0" indent="0" algn="l">
              <a:spcAft>
                <a:spcPts val="300"/>
              </a:spcAft>
              <a:buNone/>
            </a:pPr>
            <a:r>
              <a:rPr lang="en-US" sz="1600" dirty="0">
                <a:solidFill>
                  <a:schemeClr val="tx1"/>
                </a:solidFill>
              </a:rPr>
              <a:t>a mod n — n ga bo‘lgandagi qoldiq: 0, 1, …, n − 1</a:t>
            </a:r>
            <a:endParaRPr lang="en-US" sz="1800" dirty="0"/>
          </a:p>
          <a:p>
            <a:pPr marL="0" indent="0" algn="l">
              <a:spcAft>
                <a:spcPts val="300"/>
              </a:spcAft>
              <a:buNone/>
            </a:pPr>
            <a:r>
              <a:rPr lang="en-US" sz="1600" dirty="0">
                <a:solidFill>
                  <a:schemeClr val="tx1"/>
                </a:solidFill>
              </a:rPr>
              <a:t>Soat: 10 dan 5 soat o‘tsa → 15 mod 12 = 3</a:t>
            </a:r>
            <a:endParaRPr lang="en-US" sz="1800" dirty="0"/>
          </a:p>
        </p:txBody>
      </p:sp>
      <p:sp>
        <p:nvSpPr>
          <p:cNvPr id="61" name="A2_190"/>
          <p:cNvSpPr txBox="1"/>
          <p:nvPr/>
        </p:nvSpPr>
        <p:spPr>
          <a:xfrm>
            <a:off x="8366760" y="1463040"/>
            <a:ext cx="3246120" cy="2194560"/>
          </a:xfrm>
          <a:prstGeom prst="roundRect">
            <a:avLst>
              <a:gd name="adj" fmla="val 3333"/>
            </a:avLst>
          </a:prstGeom>
          <a:solidFill>
            <a:schemeClr val="accent4">
              <a:alpha val="12000"/>
            </a:schemeClr>
          </a:solidFill>
          <a:ln>
            <a:solidFill>
              <a:schemeClr val="accent4">
                <a:alpha val="0"/>
              </a:schemeClr>
            </a:solidFill>
          </a:ln>
        </p:spPr>
        <p:txBody>
          <a:bodyPr wrap="square" lIns="76200" tIns="127000" rIns="127000" bIns="76200" rtlCol="0" anchor="t"/>
          <a:lstStyle/>
          <a:p>
            <a:pPr marL="0" indent="0" algn="l">
              <a:spcAft>
                <a:spcPts val="300"/>
              </a:spcAft>
              <a:buNone/>
            </a:pPr>
            <a:r>
              <a:rPr lang="en-US" sz="1800" b="1" dirty="0">
                <a:solidFill>
                  <a:schemeClr val="accent4"/>
                </a:solidFill>
              </a:rPr>
              <a:t>Taqqoslama</a:t>
            </a:r>
            <a:endParaRPr lang="en-US" sz="1800" dirty="0"/>
          </a:p>
          <a:p>
            <a:pPr marL="0" indent="0" algn="l">
              <a:spcAft>
                <a:spcPts val="300"/>
              </a:spcAft>
              <a:buNone/>
            </a:pPr>
            <a:r>
              <a:rPr lang="en-US" sz="1600" dirty="0">
                <a:solidFill>
                  <a:schemeClr val="tx1"/>
                </a:solidFill>
              </a:rPr>
              <a:t>a ≡ b (mod n) — qoldiqlari bir xil</a:t>
            </a:r>
            <a:endParaRPr lang="en-US" sz="1800" dirty="0"/>
          </a:p>
          <a:p>
            <a:pPr marL="0" indent="0" algn="l">
              <a:spcAft>
                <a:spcPts val="300"/>
              </a:spcAft>
              <a:buNone/>
            </a:pPr>
            <a:r>
              <a:rPr lang="en-US" sz="1600" dirty="0">
                <a:solidFill>
                  <a:schemeClr val="tx1"/>
                </a:solidFill>
              </a:rPr>
              <a:t>29 ≡ 3 (mod 26): 29-“harf” — bu D</a:t>
            </a:r>
            <a:endParaRPr lang="en-US" sz="1800" dirty="0"/>
          </a:p>
        </p:txBody>
      </p:sp>
      <p:sp>
        <p:nvSpPr>
          <p:cNvPr id="62" name="A3_191"/>
          <p:cNvSpPr txBox="1"/>
          <p:nvPr/>
        </p:nvSpPr>
        <p:spPr>
          <a:xfrm>
            <a:off x="4983480" y="3840480"/>
            <a:ext cx="3246120" cy="2331720"/>
          </a:xfrm>
          <a:prstGeom prst="roundRect">
            <a:avLst>
              <a:gd name="adj" fmla="val 3137"/>
            </a:avLst>
          </a:prstGeom>
          <a:solidFill>
            <a:schemeClr val="accent1">
              <a:alpha val="12000"/>
            </a:schemeClr>
          </a:solidFill>
          <a:ln>
            <a:solidFill>
              <a:schemeClr val="accent1">
                <a:alpha val="0"/>
              </a:schemeClr>
            </a:solidFill>
          </a:ln>
        </p:spPr>
        <p:txBody>
          <a:bodyPr wrap="square" lIns="76200" tIns="127000" rIns="127000" bIns="76200" rtlCol="0" anchor="t"/>
          <a:lstStyle/>
          <a:p>
            <a:pPr marL="0" indent="0" algn="l">
              <a:spcAft>
                <a:spcPts val="300"/>
              </a:spcAft>
              <a:buNone/>
            </a:pPr>
            <a:r>
              <a:rPr lang="en-US" sz="1800" b="1" dirty="0">
                <a:solidFill>
                  <a:srgbClr val="9A6A12"/>
                </a:solidFill>
              </a:rPr>
              <a:t>Bo‘lish = teskariga ko‘paytirish</a:t>
            </a:r>
            <a:endParaRPr lang="en-US" sz="1800" dirty="0"/>
          </a:p>
          <a:p>
            <a:pPr marL="0" indent="0" algn="l">
              <a:spcAft>
                <a:spcPts val="300"/>
              </a:spcAft>
              <a:buNone/>
            </a:pPr>
            <a:r>
              <a:rPr lang="en-US" sz="1600" dirty="0">
                <a:solidFill>
                  <a:schemeClr val="tx1"/>
                </a:solidFill>
              </a:rPr>
              <a:t>a⁻¹ mavjud  ⇔  EKUB(a, n) = 1</a:t>
            </a:r>
            <a:endParaRPr lang="en-US" sz="1800" dirty="0"/>
          </a:p>
          <a:p>
            <a:pPr marL="0" indent="0" algn="l">
              <a:spcAft>
                <a:spcPts val="300"/>
              </a:spcAft>
              <a:buNone/>
            </a:pPr>
            <a:r>
              <a:rPr lang="en-US" sz="1600" dirty="0">
                <a:solidFill>
                  <a:schemeClr val="tx1"/>
                </a:solidFill>
              </a:rPr>
              <a:t>mod 26 da 12 ta: 1 3 5 7 9 11 15 17 19 21 23 25</a:t>
            </a:r>
            <a:endParaRPr lang="en-US" sz="1800" dirty="0"/>
          </a:p>
        </p:txBody>
      </p:sp>
      <p:sp>
        <p:nvSpPr>
          <p:cNvPr id="63" name="A4_192"/>
          <p:cNvSpPr txBox="1"/>
          <p:nvPr/>
        </p:nvSpPr>
        <p:spPr>
          <a:xfrm>
            <a:off x="8366760" y="3840480"/>
            <a:ext cx="3246120" cy="2331720"/>
          </a:xfrm>
          <a:prstGeom prst="roundRect">
            <a:avLst>
              <a:gd name="adj" fmla="val 3137"/>
            </a:avLst>
          </a:prstGeom>
          <a:solidFill>
            <a:schemeClr val="accent2">
              <a:alpha val="18000"/>
            </a:schemeClr>
          </a:solidFill>
          <a:ln>
            <a:solidFill>
              <a:schemeClr val="accent2">
                <a:alpha val="0"/>
              </a:schemeClr>
            </a:solidFill>
          </a:ln>
        </p:spPr>
        <p:txBody>
          <a:bodyPr wrap="square" lIns="76200" tIns="127000" rIns="127000" bIns="76200" rtlCol="0" anchor="t"/>
          <a:lstStyle/>
          <a:p>
            <a:pPr marL="0" indent="0" algn="l">
              <a:spcAft>
                <a:spcPts val="300"/>
              </a:spcAft>
              <a:buNone/>
            </a:pPr>
            <a:r>
              <a:rPr lang="en-US" sz="1700" b="1" dirty="0">
                <a:solidFill>
                  <a:srgbClr val="1E7268"/>
                </a:solidFill>
              </a:rPr>
              <a:t>Kriptografiyada qayerda kerak</a:t>
            </a:r>
            <a:endParaRPr lang="en-US" sz="1700" dirty="0"/>
          </a:p>
          <a:p>
            <a:pPr marL="0" indent="0" algn="l">
              <a:spcAft>
                <a:spcPts val="300"/>
              </a:spcAft>
              <a:buNone/>
            </a:pPr>
            <a:r>
              <a:rPr lang="en-US" sz="1500" dirty="0">
                <a:solidFill>
                  <a:schemeClr val="tx1"/>
                </a:solidFill>
              </a:rPr>
              <a:t>▸ mod 26: Sezar, affin, Vijener (7–10)</a:t>
            </a:r>
            <a:endParaRPr lang="en-US" sz="1700" dirty="0"/>
          </a:p>
          <a:p>
            <a:pPr marL="0" indent="0" algn="l">
              <a:spcAft>
                <a:spcPts val="300"/>
              </a:spcAft>
              <a:buNone/>
            </a:pPr>
            <a:r>
              <a:rPr lang="en-US" sz="1500" dirty="0">
                <a:solidFill>
                  <a:schemeClr val="tx1"/>
                </a:solidFill>
              </a:rPr>
              <a:t>▸ mod 2: XOR (2-mavzu)</a:t>
            </a:r>
            <a:endParaRPr lang="en-US" sz="1700" dirty="0"/>
          </a:p>
          <a:p>
            <a:pPr marL="0" indent="0" algn="l">
              <a:spcAft>
                <a:spcPts val="300"/>
              </a:spcAft>
              <a:buNone/>
            </a:pPr>
            <a:r>
              <a:rPr lang="en-US" sz="1500" dirty="0">
                <a:solidFill>
                  <a:schemeClr val="tx1"/>
                </a:solidFill>
              </a:rPr>
              <a:t>▸ katta modul: RSA, Diffi–Xellman (29–30)</a:t>
            </a:r>
            <a:endParaRPr lang="en-US" sz="1700" dirty="0"/>
          </a:p>
          <a:p>
            <a:pPr marL="0" indent="0" algn="l">
              <a:spcAft>
                <a:spcPts val="300"/>
              </a:spcAft>
              <a:buNone/>
            </a:pPr>
            <a:r>
              <a:rPr lang="en-US" sz="1500" dirty="0">
                <a:solidFill>
                  <a:schemeClr val="tx1"/>
                </a:solidFill>
              </a:rPr>
              <a:t>▸ affin kaliti a — faqat chapdagi 12 sondan</a:t>
            </a:r>
            <a:endParaRPr lang="en-US" sz="1700" dirty="0"/>
          </a:p>
        </p:txBody>
      </p:sp>
      <p:sp>
        <p:nvSpPr>
          <p:cNvPr id="4"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D99AE"/>
                </a:solidFill>
                <a:latin typeface="Times New Roman"/>
                <a:ea typeface="Times New Roman"/>
                <a:cs typeface="Times New Roman"/>
              </a:defRPr>
            </a:lvl1pPr>
          </a:lstStyle>
          <a:p>
            <a:pPr algn="r"/>
            <a:fld id="{F7021451-1387-4CA6-816F-3879F97B5CBC}" type="slidenum">
              <a:rPr lang="en-US" b="0"/>
              <a:t>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fade">
                                      <p:cBhvr>
                                        <p:cTn id="7" dur="400"/>
                                        <p:tgtEl>
                                          <p:spTgt spid="6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1"/>
                                        </p:tgtEl>
                                        <p:attrNameLst>
                                          <p:attrName>style.visibility</p:attrName>
                                        </p:attrNameLst>
                                      </p:cBhvr>
                                      <p:to>
                                        <p:strVal val="visible"/>
                                      </p:to>
                                    </p:set>
                                    <p:animEffect transition="in" filter="fade">
                                      <p:cBhvr>
                                        <p:cTn id="12" dur="400"/>
                                        <p:tgtEl>
                                          <p:spTgt spid="6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2"/>
                                        </p:tgtEl>
                                        <p:attrNameLst>
                                          <p:attrName>style.visibility</p:attrName>
                                        </p:attrNameLst>
                                      </p:cBhvr>
                                      <p:to>
                                        <p:strVal val="visible"/>
                                      </p:to>
                                    </p:set>
                                    <p:animEffect transition="in" filter="fade">
                                      <p:cBhvr>
                                        <p:cTn id="17" dur="400"/>
                                        <p:tgtEl>
                                          <p:spTgt spid="6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3"/>
                                        </p:tgtEl>
                                        <p:attrNameLst>
                                          <p:attrName>style.visibility</p:attrName>
                                        </p:attrNameLst>
                                      </p:cBhvr>
                                      <p:to>
                                        <p:strVal val="visible"/>
                                      </p:to>
                                    </p:set>
                                    <p:animEffect transition="in" filter="fade">
                                      <p:cBhvr>
                                        <p:cTn id="22" dur="4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56032"/>
            <a:ext cx="11064240" cy="292608"/>
          </a:xfrm>
          <a:prstGeom prst="rect">
            <a:avLst/>
          </a:prstGeom>
          <a:noFill/>
          <a:ln/>
        </p:spPr>
        <p:txBody>
          <a:bodyPr wrap="square" lIns="0" tIns="0" rIns="0" bIns="0" rtlCol="0" anchor="ctr"/>
          <a:lstStyle/>
          <a:p>
            <a:pPr marL="0" indent="0">
              <a:buNone/>
            </a:pPr>
            <a:r>
              <a:rPr lang="en-US" sz="1300" b="1" dirty="0">
                <a:solidFill>
                  <a:schemeClr val="accent4"/>
                </a:solidFill>
                <a:latin typeface="Times New Roman" pitchFamily="34" charset="0"/>
                <a:ea typeface="Times New Roman" pitchFamily="34" charset="-122"/>
                <a:cs typeface="Times New Roman" pitchFamily="34" charset="-120"/>
              </a:rPr>
              <a:t>4-mavzu · EKUB va teskari element (1/3)</a:t>
            </a:r>
            <a:endParaRPr lang="en-US" sz="1300" dirty="0"/>
          </a:p>
        </p:txBody>
      </p:sp>
      <p:sp>
        <p:nvSpPr>
          <p:cNvPr id="3" name="Text 1"/>
          <p:cNvSpPr>
            <a:spLocks noGrp="1"/>
          </p:cNvSpPr>
          <p:nvPr>
            <p:ph type="title" idx="102" hasCustomPrompt="1"/>
          </p:nvPr>
        </p:nvSpPr>
        <p:spPr>
          <a:xfrm>
            <a:off x="548640" y="530352"/>
            <a:ext cx="1106424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Evklid algoritmi: EKUB(a, b) = EKUB(b, a mod b)</a:t>
            </a:r>
            <a:endParaRPr lang="en-US" sz="3200" dirty="0"/>
          </a:p>
        </p:txBody>
      </p:sp>
      <p:sp>
        <p:nvSpPr>
          <p:cNvPr id="5" name="o_193"/>
          <p:cNvSpPr txBox="1"/>
          <p:nvPr/>
        </p:nvSpPr>
        <p:spPr>
          <a:xfrm>
            <a:off x="548640" y="1417320"/>
            <a:ext cx="5120640" cy="365760"/>
          </a:xfrm>
          <a:prstGeom prst="rect">
            <a:avLst/>
          </a:prstGeom>
          <a:noFill/>
          <a:ln/>
        </p:spPr>
        <p:txBody>
          <a:bodyPr wrap="square" lIns="0" tIns="0" rIns="0" bIns="0" rtlCol="0" anchor="ctr"/>
          <a:lstStyle/>
          <a:p>
            <a:pPr marL="0" indent="0" algn="l">
              <a:buNone/>
            </a:pPr>
            <a:r>
              <a:rPr lang="en-US" sz="1700" b="1" dirty="0">
                <a:solidFill>
                  <a:schemeClr val="accent4"/>
                </a:solidFill>
              </a:rPr>
              <a:t>Misol: EKUB(252, 105)</a:t>
            </a:r>
            <a:endParaRPr lang="en-US" sz="1700" dirty="0"/>
          </a:p>
        </p:txBody>
      </p:sp>
      <p:sp>
        <p:nvSpPr>
          <p:cNvPr id="6" name="o_194"/>
          <p:cNvSpPr txBox="1"/>
          <p:nvPr/>
        </p:nvSpPr>
        <p:spPr>
          <a:xfrm>
            <a:off x="548640" y="1874520"/>
            <a:ext cx="822960" cy="457200"/>
          </a:xfrm>
          <a:prstGeom prst="rect">
            <a:avLst/>
          </a:prstGeom>
          <a:solidFill>
            <a:schemeClr val="tx2"/>
          </a:solidFill>
          <a:ln w="9525">
            <a:solidFill>
              <a:srgbClr val="D5DBE5"/>
            </a:solidFill>
          </a:ln>
        </p:spPr>
        <p:txBody>
          <a:bodyPr wrap="square" lIns="25400" tIns="25400" rIns="25400" bIns="25400" rtlCol="0" anchor="ctr"/>
          <a:lstStyle/>
          <a:p>
            <a:pPr marL="0" indent="0" algn="ctr">
              <a:buNone/>
            </a:pPr>
            <a:r>
              <a:rPr lang="en-US" sz="1500" b="1" dirty="0">
                <a:solidFill>
                  <a:schemeClr val="bg1"/>
                </a:solidFill>
              </a:rPr>
              <a:t>Qadam</a:t>
            </a:r>
            <a:endParaRPr lang="en-US" sz="1500" dirty="0"/>
          </a:p>
        </p:txBody>
      </p:sp>
      <p:sp>
        <p:nvSpPr>
          <p:cNvPr id="7" name="o_195"/>
          <p:cNvSpPr txBox="1"/>
          <p:nvPr/>
        </p:nvSpPr>
        <p:spPr>
          <a:xfrm>
            <a:off x="1371600" y="1874520"/>
            <a:ext cx="3017520" cy="457200"/>
          </a:xfrm>
          <a:prstGeom prst="rect">
            <a:avLst/>
          </a:prstGeom>
          <a:solidFill>
            <a:schemeClr val="tx2"/>
          </a:solidFill>
          <a:ln w="9525">
            <a:solidFill>
              <a:srgbClr val="D5DBE5"/>
            </a:solidFill>
          </a:ln>
        </p:spPr>
        <p:txBody>
          <a:bodyPr wrap="square" lIns="25400" tIns="25400" rIns="25400" bIns="25400" rtlCol="0" anchor="ctr"/>
          <a:lstStyle/>
          <a:p>
            <a:pPr marL="0" indent="0" algn="ctr">
              <a:buNone/>
            </a:pPr>
            <a:r>
              <a:rPr lang="en-US" sz="1500" b="1" dirty="0">
                <a:solidFill>
                  <a:schemeClr val="bg1"/>
                </a:solidFill>
              </a:rPr>
              <a:t>Bo‘lish</a:t>
            </a:r>
            <a:endParaRPr lang="en-US" sz="1500" dirty="0"/>
          </a:p>
        </p:txBody>
      </p:sp>
      <p:sp>
        <p:nvSpPr>
          <p:cNvPr id="8" name="o_196"/>
          <p:cNvSpPr txBox="1"/>
          <p:nvPr/>
        </p:nvSpPr>
        <p:spPr>
          <a:xfrm>
            <a:off x="4389120" y="1874520"/>
            <a:ext cx="1097280" cy="457200"/>
          </a:xfrm>
          <a:prstGeom prst="rect">
            <a:avLst/>
          </a:prstGeom>
          <a:solidFill>
            <a:schemeClr val="tx2"/>
          </a:solidFill>
          <a:ln w="9525">
            <a:solidFill>
              <a:srgbClr val="D5DBE5"/>
            </a:solidFill>
          </a:ln>
        </p:spPr>
        <p:txBody>
          <a:bodyPr wrap="square" lIns="25400" tIns="25400" rIns="25400" bIns="25400" rtlCol="0" anchor="ctr"/>
          <a:lstStyle/>
          <a:p>
            <a:pPr marL="0" indent="0" algn="ctr">
              <a:buNone/>
            </a:pPr>
            <a:r>
              <a:rPr lang="en-US" sz="1500" b="1" dirty="0">
                <a:solidFill>
                  <a:schemeClr val="bg1"/>
                </a:solidFill>
              </a:rPr>
              <a:t>Qoldiq</a:t>
            </a:r>
            <a:endParaRPr lang="en-US" sz="1500" dirty="0"/>
          </a:p>
        </p:txBody>
      </p:sp>
      <p:sp>
        <p:nvSpPr>
          <p:cNvPr id="9" name="A1_197"/>
          <p:cNvSpPr txBox="1"/>
          <p:nvPr/>
        </p:nvSpPr>
        <p:spPr>
          <a:xfrm>
            <a:off x="548640" y="2331720"/>
            <a:ext cx="822960" cy="457200"/>
          </a:xfrm>
          <a:prstGeom prst="rect">
            <a:avLst/>
          </a:prstGeom>
          <a:solidFill>
            <a:srgbClr val="F4F6FA"/>
          </a:solidFill>
          <a:ln w="9525">
            <a:solidFill>
              <a:srgbClr val="D5DBE5"/>
            </a:solidFill>
          </a:ln>
        </p:spPr>
        <p:txBody>
          <a:bodyPr wrap="square" lIns="25400" tIns="25400" rIns="25400" bIns="25400" rtlCol="0" anchor="ctr"/>
          <a:lstStyle/>
          <a:p>
            <a:pPr marL="0" indent="0" algn="ctr">
              <a:buNone/>
            </a:pPr>
            <a:r>
              <a:rPr lang="en-US" sz="1500" dirty="0">
                <a:solidFill>
                  <a:schemeClr val="tx1"/>
                </a:solidFill>
              </a:rPr>
              <a:t>1</a:t>
            </a:r>
            <a:endParaRPr lang="en-US" sz="1500" dirty="0"/>
          </a:p>
        </p:txBody>
      </p:sp>
      <p:sp>
        <p:nvSpPr>
          <p:cNvPr id="10" name="A1_198"/>
          <p:cNvSpPr txBox="1"/>
          <p:nvPr/>
        </p:nvSpPr>
        <p:spPr>
          <a:xfrm>
            <a:off x="1371600" y="2331720"/>
            <a:ext cx="3017520" cy="457200"/>
          </a:xfrm>
          <a:prstGeom prst="rect">
            <a:avLst/>
          </a:prstGeom>
          <a:solidFill>
            <a:srgbClr val="F4F6FA"/>
          </a:solidFill>
          <a:ln w="9525">
            <a:solidFill>
              <a:srgbClr val="D5DBE5"/>
            </a:solidFill>
          </a:ln>
        </p:spPr>
        <p:txBody>
          <a:bodyPr wrap="square" lIns="25400" tIns="25400" rIns="25400" bIns="25400" rtlCol="0" anchor="ctr"/>
          <a:lstStyle/>
          <a:p>
            <a:pPr marL="0" indent="0" algn="ctr">
              <a:buNone/>
            </a:pPr>
            <a:r>
              <a:rPr lang="en-US" sz="1500" dirty="0">
                <a:solidFill>
                  <a:schemeClr val="tx1"/>
                </a:solidFill>
              </a:rPr>
              <a:t>252 = 2 · 105 + 42</a:t>
            </a:r>
            <a:endParaRPr lang="en-US" sz="1500" dirty="0"/>
          </a:p>
        </p:txBody>
      </p:sp>
      <p:sp>
        <p:nvSpPr>
          <p:cNvPr id="11" name="A1_199"/>
          <p:cNvSpPr txBox="1"/>
          <p:nvPr/>
        </p:nvSpPr>
        <p:spPr>
          <a:xfrm>
            <a:off x="4389120" y="2331720"/>
            <a:ext cx="1097280" cy="457200"/>
          </a:xfrm>
          <a:prstGeom prst="rect">
            <a:avLst/>
          </a:prstGeom>
          <a:solidFill>
            <a:srgbClr val="F4F6FA"/>
          </a:solidFill>
          <a:ln w="9525">
            <a:solidFill>
              <a:srgbClr val="D5DBE5"/>
            </a:solidFill>
          </a:ln>
        </p:spPr>
        <p:txBody>
          <a:bodyPr wrap="square" lIns="25400" tIns="25400" rIns="25400" bIns="25400" rtlCol="0" anchor="ctr"/>
          <a:lstStyle/>
          <a:p>
            <a:pPr marL="0" indent="0" algn="ctr">
              <a:buNone/>
            </a:pPr>
            <a:r>
              <a:rPr lang="en-US" sz="1500" dirty="0">
                <a:solidFill>
                  <a:schemeClr val="tx1"/>
                </a:solidFill>
              </a:rPr>
              <a:t>42</a:t>
            </a:r>
            <a:endParaRPr lang="en-US" sz="1500" dirty="0"/>
          </a:p>
        </p:txBody>
      </p:sp>
      <p:sp>
        <p:nvSpPr>
          <p:cNvPr id="12" name="A2_200"/>
          <p:cNvSpPr txBox="1"/>
          <p:nvPr/>
        </p:nvSpPr>
        <p:spPr>
          <a:xfrm>
            <a:off x="548640" y="2788920"/>
            <a:ext cx="822960" cy="457200"/>
          </a:xfrm>
          <a:prstGeom prst="rect">
            <a:avLst/>
          </a:prstGeom>
          <a:solidFill>
            <a:srgbClr val="FFFFFF"/>
          </a:solidFill>
          <a:ln w="9525">
            <a:solidFill>
              <a:srgbClr val="D5DBE5"/>
            </a:solidFill>
          </a:ln>
        </p:spPr>
        <p:txBody>
          <a:bodyPr wrap="square" lIns="25400" tIns="25400" rIns="25400" bIns="25400" rtlCol="0" anchor="ctr"/>
          <a:lstStyle/>
          <a:p>
            <a:pPr marL="0" indent="0" algn="ctr">
              <a:buNone/>
            </a:pPr>
            <a:r>
              <a:rPr lang="en-US" sz="1500" dirty="0">
                <a:solidFill>
                  <a:schemeClr val="tx1"/>
                </a:solidFill>
              </a:rPr>
              <a:t>2</a:t>
            </a:r>
            <a:endParaRPr lang="en-US" sz="1500" dirty="0"/>
          </a:p>
        </p:txBody>
      </p:sp>
      <p:sp>
        <p:nvSpPr>
          <p:cNvPr id="13" name="A2_201"/>
          <p:cNvSpPr txBox="1"/>
          <p:nvPr/>
        </p:nvSpPr>
        <p:spPr>
          <a:xfrm>
            <a:off x="1371600" y="2788920"/>
            <a:ext cx="3017520" cy="457200"/>
          </a:xfrm>
          <a:prstGeom prst="rect">
            <a:avLst/>
          </a:prstGeom>
          <a:solidFill>
            <a:srgbClr val="FFFFFF"/>
          </a:solidFill>
          <a:ln w="9525">
            <a:solidFill>
              <a:srgbClr val="D5DBE5"/>
            </a:solidFill>
          </a:ln>
        </p:spPr>
        <p:txBody>
          <a:bodyPr wrap="square" lIns="25400" tIns="25400" rIns="25400" bIns="25400" rtlCol="0" anchor="ctr"/>
          <a:lstStyle/>
          <a:p>
            <a:pPr marL="0" indent="0" algn="ctr">
              <a:buNone/>
            </a:pPr>
            <a:r>
              <a:rPr lang="en-US" sz="1500" dirty="0">
                <a:solidFill>
                  <a:schemeClr val="tx1"/>
                </a:solidFill>
              </a:rPr>
              <a:t>105 = 2 · 42 + 21</a:t>
            </a:r>
            <a:endParaRPr lang="en-US" sz="1500" dirty="0"/>
          </a:p>
        </p:txBody>
      </p:sp>
      <p:sp>
        <p:nvSpPr>
          <p:cNvPr id="14" name="A2_202"/>
          <p:cNvSpPr txBox="1"/>
          <p:nvPr/>
        </p:nvSpPr>
        <p:spPr>
          <a:xfrm>
            <a:off x="4389120" y="2788920"/>
            <a:ext cx="1097280" cy="457200"/>
          </a:xfrm>
          <a:prstGeom prst="rect">
            <a:avLst/>
          </a:prstGeom>
          <a:solidFill>
            <a:schemeClr val="accent1">
              <a:alpha val="45000"/>
            </a:schemeClr>
          </a:solidFill>
          <a:ln w="9525">
            <a:solidFill>
              <a:srgbClr val="D5DBE5"/>
            </a:solidFill>
          </a:ln>
        </p:spPr>
        <p:txBody>
          <a:bodyPr wrap="square" lIns="25400" tIns="25400" rIns="25400" bIns="25400" rtlCol="0" anchor="ctr"/>
          <a:lstStyle/>
          <a:p>
            <a:pPr marL="0" indent="0" algn="ctr">
              <a:buNone/>
            </a:pPr>
            <a:r>
              <a:rPr lang="en-US" sz="1500" b="1" dirty="0">
                <a:solidFill>
                  <a:schemeClr val="tx1"/>
                </a:solidFill>
              </a:rPr>
              <a:t>21</a:t>
            </a:r>
            <a:endParaRPr lang="en-US" sz="1500" dirty="0"/>
          </a:p>
        </p:txBody>
      </p:sp>
      <p:sp>
        <p:nvSpPr>
          <p:cNvPr id="15" name="A3_203"/>
          <p:cNvSpPr txBox="1"/>
          <p:nvPr/>
        </p:nvSpPr>
        <p:spPr>
          <a:xfrm>
            <a:off x="548640" y="3246120"/>
            <a:ext cx="822960" cy="457200"/>
          </a:xfrm>
          <a:prstGeom prst="rect">
            <a:avLst/>
          </a:prstGeom>
          <a:solidFill>
            <a:srgbClr val="F4F6FA"/>
          </a:solidFill>
          <a:ln w="9525">
            <a:solidFill>
              <a:srgbClr val="D5DBE5"/>
            </a:solidFill>
          </a:ln>
        </p:spPr>
        <p:txBody>
          <a:bodyPr wrap="square" lIns="25400" tIns="25400" rIns="25400" bIns="25400" rtlCol="0" anchor="ctr"/>
          <a:lstStyle/>
          <a:p>
            <a:pPr marL="0" indent="0" algn="ctr">
              <a:buNone/>
            </a:pPr>
            <a:r>
              <a:rPr lang="en-US" sz="1500" dirty="0">
                <a:solidFill>
                  <a:schemeClr val="tx1"/>
                </a:solidFill>
              </a:rPr>
              <a:t>3</a:t>
            </a:r>
            <a:endParaRPr lang="en-US" sz="1500" dirty="0"/>
          </a:p>
        </p:txBody>
      </p:sp>
      <p:sp>
        <p:nvSpPr>
          <p:cNvPr id="16" name="A3_204"/>
          <p:cNvSpPr txBox="1"/>
          <p:nvPr/>
        </p:nvSpPr>
        <p:spPr>
          <a:xfrm>
            <a:off x="1371600" y="3246120"/>
            <a:ext cx="3017520" cy="457200"/>
          </a:xfrm>
          <a:prstGeom prst="rect">
            <a:avLst/>
          </a:prstGeom>
          <a:solidFill>
            <a:srgbClr val="F4F6FA"/>
          </a:solidFill>
          <a:ln w="9525">
            <a:solidFill>
              <a:srgbClr val="D5DBE5"/>
            </a:solidFill>
          </a:ln>
        </p:spPr>
        <p:txBody>
          <a:bodyPr wrap="square" lIns="25400" tIns="25400" rIns="25400" bIns="25400" rtlCol="0" anchor="ctr"/>
          <a:lstStyle/>
          <a:p>
            <a:pPr marL="0" indent="0" algn="ctr">
              <a:buNone/>
            </a:pPr>
            <a:r>
              <a:rPr lang="en-US" sz="1500" dirty="0">
                <a:solidFill>
                  <a:schemeClr val="tx1"/>
                </a:solidFill>
              </a:rPr>
              <a:t>42 = 2 · 21 + 0</a:t>
            </a:r>
            <a:endParaRPr lang="en-US" sz="1500" dirty="0"/>
          </a:p>
        </p:txBody>
      </p:sp>
      <p:sp>
        <p:nvSpPr>
          <p:cNvPr id="17" name="A3_205"/>
          <p:cNvSpPr txBox="1"/>
          <p:nvPr/>
        </p:nvSpPr>
        <p:spPr>
          <a:xfrm>
            <a:off x="4389120" y="3246120"/>
            <a:ext cx="1097280" cy="457200"/>
          </a:xfrm>
          <a:prstGeom prst="rect">
            <a:avLst/>
          </a:prstGeom>
          <a:solidFill>
            <a:srgbClr val="F4F6FA"/>
          </a:solidFill>
          <a:ln w="9525">
            <a:solidFill>
              <a:srgbClr val="D5DBE5"/>
            </a:solidFill>
          </a:ln>
        </p:spPr>
        <p:txBody>
          <a:bodyPr wrap="square" lIns="25400" tIns="25400" rIns="25400" bIns="25400" rtlCol="0" anchor="ctr"/>
          <a:lstStyle/>
          <a:p>
            <a:pPr marL="0" indent="0" algn="ctr">
              <a:buNone/>
            </a:pPr>
            <a:r>
              <a:rPr lang="en-US" sz="1500" dirty="0">
                <a:solidFill>
                  <a:schemeClr val="tx1"/>
                </a:solidFill>
              </a:rPr>
              <a:t>0</a:t>
            </a:r>
            <a:endParaRPr lang="en-US" sz="1500" dirty="0"/>
          </a:p>
        </p:txBody>
      </p:sp>
      <p:sp>
        <p:nvSpPr>
          <p:cNvPr id="18" name="A4_206"/>
          <p:cNvSpPr txBox="1"/>
          <p:nvPr/>
        </p:nvSpPr>
        <p:spPr>
          <a:xfrm>
            <a:off x="548640" y="3886200"/>
            <a:ext cx="4937760" cy="914400"/>
          </a:xfrm>
          <a:prstGeom prst="roundRect">
            <a:avLst>
              <a:gd name="adj" fmla="val 8000"/>
            </a:avLst>
          </a:prstGeom>
          <a:solidFill>
            <a:schemeClr val="accent1">
              <a:alpha val="12000"/>
            </a:schemeClr>
          </a:solidFill>
          <a:ln>
            <a:solidFill>
              <a:schemeClr val="accent1">
                <a:alpha val="0"/>
              </a:schemeClr>
            </a:solidFill>
          </a:ln>
        </p:spPr>
        <p:txBody>
          <a:bodyPr wrap="square" lIns="76200" tIns="127000" rIns="127000" bIns="76200" rtlCol="0" anchor="ctr"/>
          <a:lstStyle/>
          <a:p>
            <a:pPr marL="0" indent="0" algn="l">
              <a:spcAft>
                <a:spcPts val="300"/>
              </a:spcAft>
              <a:buNone/>
            </a:pPr>
            <a:r>
              <a:rPr lang="en-US" sz="2000" b="1" dirty="0">
                <a:solidFill>
                  <a:schemeClr val="tx2"/>
                </a:solidFill>
              </a:rPr>
              <a:t>EKUB(252, 105) = 21</a:t>
            </a:r>
            <a:endParaRPr lang="en-US" sz="2000" dirty="0"/>
          </a:p>
          <a:p>
            <a:pPr marL="0" indent="0" algn="l">
              <a:spcAft>
                <a:spcPts val="300"/>
              </a:spcAft>
              <a:buNone/>
            </a:pPr>
            <a:r>
              <a:rPr lang="en-US" sz="1600" dirty="0">
                <a:solidFill>
                  <a:schemeClr val="tx1"/>
                </a:solidFill>
              </a:rPr>
              <a:t>oxirgi noldan farqli qoldiq</a:t>
            </a:r>
            <a:endParaRPr lang="en-US" sz="2000" dirty="0"/>
          </a:p>
        </p:txBody>
      </p:sp>
      <p:sp>
        <p:nvSpPr>
          <p:cNvPr id="19" name="A5_207"/>
          <p:cNvSpPr txBox="1"/>
          <p:nvPr/>
        </p:nvSpPr>
        <p:spPr>
          <a:xfrm>
            <a:off x="548640" y="4937760"/>
            <a:ext cx="4937760" cy="1234440"/>
          </a:xfrm>
          <a:prstGeom prst="roundRect">
            <a:avLst>
              <a:gd name="adj" fmla="val 5926"/>
            </a:avLst>
          </a:prstGeom>
          <a:solidFill>
            <a:schemeClr val="accent4">
              <a:alpha val="12000"/>
            </a:schemeClr>
          </a:solidFill>
          <a:ln>
            <a:solidFill>
              <a:schemeClr val="accent4">
                <a:alpha val="0"/>
              </a:schemeClr>
            </a:solidFill>
          </a:ln>
        </p:spPr>
        <p:txBody>
          <a:bodyPr wrap="square" lIns="76200" tIns="127000" rIns="127000" bIns="76200" rtlCol="0" anchor="t"/>
          <a:lstStyle/>
          <a:p>
            <a:pPr marL="0" indent="0" algn="l">
              <a:spcAft>
                <a:spcPts val="300"/>
              </a:spcAft>
              <a:buNone/>
            </a:pPr>
            <a:r>
              <a:rPr lang="en-US" sz="1800" b="1" dirty="0">
                <a:solidFill>
                  <a:schemeClr val="accent4"/>
                </a:solidFill>
              </a:rPr>
              <a:t>Qoida</a:t>
            </a:r>
            <a:endParaRPr lang="en-US" sz="1800" dirty="0"/>
          </a:p>
          <a:p>
            <a:pPr marL="0" indent="0" algn="l">
              <a:spcAft>
                <a:spcPts val="300"/>
              </a:spcAft>
              <a:buNone/>
            </a:pPr>
            <a:r>
              <a:rPr lang="en-US" sz="1500" dirty="0">
                <a:solidFill>
                  <a:schemeClr val="tx1"/>
                </a:solidFill>
              </a:rPr>
              <a:t>Kattasini kichigiga bo‘lamiz, so‘ng bo‘luvchi va qoldiq bilan takrorlaymiz. Qoldiq 0 bo‘lsa — to‘xtaymiz.</a:t>
            </a:r>
            <a:endParaRPr lang="en-US" sz="1800" dirty="0"/>
          </a:p>
        </p:txBody>
      </p:sp>
      <p:sp>
        <p:nvSpPr>
          <p:cNvPr id="20" name="A6_208"/>
          <p:cNvSpPr txBox="1"/>
          <p:nvPr/>
        </p:nvSpPr>
        <p:spPr>
          <a:xfrm>
            <a:off x="5852160" y="1417320"/>
            <a:ext cx="3017520" cy="365760"/>
          </a:xfrm>
          <a:prstGeom prst="rect">
            <a:avLst/>
          </a:prstGeom>
          <a:noFill/>
          <a:ln/>
        </p:spPr>
        <p:txBody>
          <a:bodyPr wrap="square" lIns="0" tIns="0" rIns="0" bIns="0" rtlCol="0" anchor="ctr"/>
          <a:lstStyle/>
          <a:p>
            <a:pPr marL="0" indent="0" algn="l">
              <a:buNone/>
            </a:pPr>
            <a:r>
              <a:rPr lang="en-US" sz="1700" b="1" dirty="0">
                <a:solidFill>
                  <a:schemeClr val="accent4"/>
                </a:solidFill>
              </a:rPr>
              <a:t>Geometrik ma’no</a:t>
            </a:r>
            <a:endParaRPr lang="en-US" sz="1700" dirty="0"/>
          </a:p>
        </p:txBody>
      </p:sp>
      <p:sp>
        <p:nvSpPr>
          <p:cNvPr id="21" name="A6_209"/>
          <p:cNvSpPr txBox="1"/>
          <p:nvPr/>
        </p:nvSpPr>
        <p:spPr>
          <a:xfrm>
            <a:off x="5897880" y="1920240"/>
            <a:ext cx="1152144" cy="1152144"/>
          </a:xfrm>
          <a:prstGeom prst="roundRect">
            <a:avLst>
              <a:gd name="adj" fmla="val 4762"/>
            </a:avLst>
          </a:prstGeom>
          <a:solidFill>
            <a:schemeClr val="accent4">
              <a:alpha val="15000"/>
            </a:schemeClr>
          </a:solidFill>
          <a:ln w="12700">
            <a:solidFill>
              <a:schemeClr val="accent4"/>
            </a:solidFill>
          </a:ln>
        </p:spPr>
        <p:txBody>
          <a:bodyPr wrap="square" lIns="25400" tIns="25400" rIns="25400" bIns="25400" rtlCol="0" anchor="ctr"/>
          <a:lstStyle/>
          <a:p>
            <a:pPr marL="0" indent="0" algn="ctr">
              <a:buNone/>
            </a:pPr>
            <a:r>
              <a:rPr lang="en-US" sz="1100" dirty="0">
                <a:solidFill>
                  <a:schemeClr val="tx1"/>
                </a:solidFill>
              </a:rPr>
              <a:t>12×12</a:t>
            </a:r>
            <a:endParaRPr lang="en-US" sz="1100" dirty="0"/>
          </a:p>
        </p:txBody>
      </p:sp>
      <p:sp>
        <p:nvSpPr>
          <p:cNvPr id="22" name="A6_210"/>
          <p:cNvSpPr txBox="1"/>
          <p:nvPr/>
        </p:nvSpPr>
        <p:spPr>
          <a:xfrm>
            <a:off x="7050024" y="1920240"/>
            <a:ext cx="1152144" cy="1152144"/>
          </a:xfrm>
          <a:prstGeom prst="roundRect">
            <a:avLst>
              <a:gd name="adj" fmla="val 4762"/>
            </a:avLst>
          </a:prstGeom>
          <a:solidFill>
            <a:schemeClr val="accent4">
              <a:alpha val="15000"/>
            </a:schemeClr>
          </a:solidFill>
          <a:ln w="12700">
            <a:solidFill>
              <a:schemeClr val="accent4"/>
            </a:solidFill>
          </a:ln>
        </p:spPr>
        <p:txBody>
          <a:bodyPr wrap="square" lIns="25400" tIns="25400" rIns="25400" bIns="25400" rtlCol="0" anchor="ctr"/>
          <a:lstStyle/>
          <a:p>
            <a:pPr marL="0" indent="0" algn="ctr">
              <a:buNone/>
            </a:pPr>
            <a:r>
              <a:rPr lang="en-US" sz="1100" dirty="0">
                <a:solidFill>
                  <a:schemeClr val="tx1"/>
                </a:solidFill>
              </a:rPr>
              <a:t>12×12</a:t>
            </a:r>
            <a:endParaRPr lang="en-US" sz="1100" dirty="0"/>
          </a:p>
        </p:txBody>
      </p:sp>
      <p:sp>
        <p:nvSpPr>
          <p:cNvPr id="23" name="A6_211"/>
          <p:cNvSpPr txBox="1"/>
          <p:nvPr/>
        </p:nvSpPr>
        <p:spPr>
          <a:xfrm>
            <a:off x="8202168" y="1920240"/>
            <a:ext cx="576072" cy="576072"/>
          </a:xfrm>
          <a:prstGeom prst="roundRect">
            <a:avLst>
              <a:gd name="adj" fmla="val 9524"/>
            </a:avLst>
          </a:prstGeom>
          <a:solidFill>
            <a:schemeClr val="accent3">
              <a:alpha val="15000"/>
            </a:schemeClr>
          </a:solidFill>
          <a:ln w="12700">
            <a:solidFill>
              <a:schemeClr val="accent3"/>
            </a:solidFill>
          </a:ln>
        </p:spPr>
        <p:txBody>
          <a:bodyPr wrap="square" lIns="25400" tIns="25400" rIns="25400" bIns="25400" rtlCol="0" anchor="ctr"/>
          <a:lstStyle/>
          <a:p>
            <a:pPr marL="0" indent="0" algn="ctr">
              <a:buNone/>
            </a:pPr>
            <a:r>
              <a:rPr lang="en-US" sz="1000" dirty="0">
                <a:solidFill>
                  <a:schemeClr val="tx1"/>
                </a:solidFill>
              </a:rPr>
              <a:t>6×6</a:t>
            </a:r>
            <a:endParaRPr lang="en-US" sz="1000" dirty="0"/>
          </a:p>
        </p:txBody>
      </p:sp>
      <p:sp>
        <p:nvSpPr>
          <p:cNvPr id="24" name="A6_212"/>
          <p:cNvSpPr txBox="1"/>
          <p:nvPr/>
        </p:nvSpPr>
        <p:spPr>
          <a:xfrm>
            <a:off x="8202168" y="2496312"/>
            <a:ext cx="576072" cy="576072"/>
          </a:xfrm>
          <a:prstGeom prst="roundRect">
            <a:avLst>
              <a:gd name="adj" fmla="val 9524"/>
            </a:avLst>
          </a:prstGeom>
          <a:solidFill>
            <a:schemeClr val="accent3">
              <a:alpha val="15000"/>
            </a:schemeClr>
          </a:solidFill>
          <a:ln w="12700">
            <a:solidFill>
              <a:schemeClr val="accent3"/>
            </a:solidFill>
          </a:ln>
        </p:spPr>
        <p:txBody>
          <a:bodyPr wrap="square" lIns="25400" tIns="25400" rIns="25400" bIns="25400" rtlCol="0" anchor="ctr"/>
          <a:lstStyle/>
          <a:p>
            <a:pPr marL="0" indent="0" algn="ctr">
              <a:buNone/>
            </a:pPr>
            <a:r>
              <a:rPr lang="en-US" sz="1000" dirty="0">
                <a:solidFill>
                  <a:schemeClr val="tx1"/>
                </a:solidFill>
              </a:rPr>
              <a:t>6×6</a:t>
            </a:r>
            <a:endParaRPr lang="en-US" sz="1000" dirty="0"/>
          </a:p>
        </p:txBody>
      </p:sp>
      <p:sp>
        <p:nvSpPr>
          <p:cNvPr id="25" name="A6_213"/>
          <p:cNvSpPr txBox="1"/>
          <p:nvPr/>
        </p:nvSpPr>
        <p:spPr>
          <a:xfrm>
            <a:off x="5852160" y="3154680"/>
            <a:ext cx="3017520" cy="640080"/>
          </a:xfrm>
          <a:prstGeom prst="rect">
            <a:avLst/>
          </a:prstGeom>
          <a:noFill/>
          <a:ln/>
        </p:spPr>
        <p:txBody>
          <a:bodyPr wrap="square" lIns="0" tIns="0" rIns="0" bIns="0" rtlCol="0" anchor="t"/>
          <a:lstStyle/>
          <a:p>
            <a:pPr marL="0" indent="0" algn="l">
              <a:buNone/>
            </a:pPr>
            <a:r>
              <a:rPr lang="en-US" sz="1400" dirty="0">
                <a:solidFill>
                  <a:srgbClr val="52514E"/>
                </a:solidFill>
              </a:rPr>
              <a:t>30 × 12: ikki kvadrat 12×12, qolgan 12×6 dan ikki 6×6 ⇒ EKUB = 6</a:t>
            </a:r>
            <a:endParaRPr lang="en-US" sz="1400" dirty="0"/>
          </a:p>
        </p:txBody>
      </p:sp>
      <p:sp>
        <p:nvSpPr>
          <p:cNvPr id="26" name="A7_214"/>
          <p:cNvSpPr txBox="1"/>
          <p:nvPr/>
        </p:nvSpPr>
        <p:spPr>
          <a:xfrm>
            <a:off x="9006840" y="1417320"/>
            <a:ext cx="2651760" cy="2468880"/>
          </a:xfrm>
          <a:prstGeom prst="roundRect">
            <a:avLst>
              <a:gd name="adj" fmla="val 2963"/>
            </a:avLst>
          </a:prstGeom>
          <a:solidFill>
            <a:schemeClr val="accent2">
              <a:alpha val="18000"/>
            </a:schemeClr>
          </a:solidFill>
          <a:ln>
            <a:solidFill>
              <a:schemeClr val="accent2">
                <a:alpha val="0"/>
              </a:schemeClr>
            </a:solidFill>
          </a:ln>
        </p:spPr>
        <p:txBody>
          <a:bodyPr wrap="square" lIns="76200" tIns="127000" rIns="127000" bIns="76200" rtlCol="0" anchor="t"/>
          <a:lstStyle/>
          <a:p>
            <a:pPr marL="0" indent="0" algn="l">
              <a:spcAft>
                <a:spcPts val="300"/>
              </a:spcAft>
              <a:buNone/>
            </a:pPr>
            <a:r>
              <a:rPr lang="en-US" sz="1600" b="1" dirty="0">
                <a:solidFill>
                  <a:srgbClr val="1E7268"/>
                </a:solidFill>
              </a:rPr>
              <a:t>Kriptografiyada qayerda kerak</a:t>
            </a:r>
            <a:endParaRPr lang="en-US" sz="1600" dirty="0"/>
          </a:p>
          <a:p>
            <a:pPr marL="0" indent="0" algn="l">
              <a:spcAft>
                <a:spcPts val="300"/>
              </a:spcAft>
              <a:buNone/>
            </a:pPr>
            <a:r>
              <a:rPr lang="en-US" sz="1400" dirty="0">
                <a:solidFill>
                  <a:schemeClr val="tx1"/>
                </a:solidFill>
              </a:rPr>
              <a:t>▸ EKUB = 1 → affin kaliti yaroqli (7)</a:t>
            </a:r>
            <a:endParaRPr lang="en-US" sz="1600" dirty="0"/>
          </a:p>
          <a:p>
            <a:pPr marL="0" indent="0" algn="l">
              <a:spcAft>
                <a:spcPts val="300"/>
              </a:spcAft>
              <a:buNone/>
            </a:pPr>
            <a:r>
              <a:rPr lang="en-US" sz="1400" dirty="0">
                <a:solidFill>
                  <a:schemeClr val="tx1"/>
                </a:solidFill>
              </a:rPr>
              <a:t>▸ teskari element topish (keyingi slayd)</a:t>
            </a:r>
            <a:endParaRPr lang="en-US" sz="1600" dirty="0"/>
          </a:p>
          <a:p>
            <a:pPr marL="0" indent="0" algn="l">
              <a:spcAft>
                <a:spcPts val="300"/>
              </a:spcAft>
              <a:buNone/>
            </a:pPr>
            <a:r>
              <a:rPr lang="en-US" sz="1400" dirty="0">
                <a:solidFill>
                  <a:schemeClr val="tx1"/>
                </a:solidFill>
              </a:rPr>
              <a:t>▸ RSA kalitini tekshirish (29)</a:t>
            </a:r>
            <a:endParaRPr lang="en-US" sz="1600" dirty="0"/>
          </a:p>
        </p:txBody>
      </p:sp>
      <p:sp>
        <p:nvSpPr>
          <p:cNvPr id="27" name="A8_215"/>
          <p:cNvSpPr txBox="1"/>
          <p:nvPr/>
        </p:nvSpPr>
        <p:spPr>
          <a:xfrm>
            <a:off x="5852160" y="4023360"/>
            <a:ext cx="5806440" cy="2148840"/>
          </a:xfrm>
          <a:prstGeom prst="roundRect">
            <a:avLst>
              <a:gd name="adj" fmla="val 3404"/>
            </a:avLst>
          </a:prstGeom>
          <a:solidFill>
            <a:schemeClr val="accent2">
              <a:alpha val="12000"/>
            </a:schemeClr>
          </a:solidFill>
          <a:ln>
            <a:solidFill>
              <a:schemeClr val="accent2">
                <a:alpha val="0"/>
              </a:schemeClr>
            </a:solidFill>
          </a:ln>
        </p:spPr>
        <p:txBody>
          <a:bodyPr wrap="square" lIns="76200" tIns="127000" rIns="127000" bIns="76200" rtlCol="0" anchor="t"/>
          <a:lstStyle/>
          <a:p>
            <a:pPr marL="0" indent="0" algn="l">
              <a:spcAft>
                <a:spcPts val="300"/>
              </a:spcAft>
              <a:buNone/>
            </a:pPr>
            <a:r>
              <a:rPr lang="en-US" sz="1800" b="1" dirty="0">
                <a:solidFill>
                  <a:schemeClr val="accent2"/>
                </a:solidFill>
              </a:rPr>
              <a:t>Asosiy kontrast</a:t>
            </a:r>
            <a:endParaRPr lang="en-US" sz="1800" dirty="0"/>
          </a:p>
          <a:p>
            <a:pPr marL="0" indent="0" algn="l">
              <a:spcAft>
                <a:spcPts val="300"/>
              </a:spcAft>
              <a:buNone/>
            </a:pPr>
            <a:r>
              <a:rPr lang="en-US" sz="1600" dirty="0">
                <a:solidFill>
                  <a:schemeClr val="tx1"/>
                </a:solidFill>
              </a:rPr>
              <a:t>EKUB topish — juda oson (Evklid, ~2300 yillik algoritm).</a:t>
            </a:r>
            <a:endParaRPr lang="en-US" sz="1800" dirty="0"/>
          </a:p>
          <a:p>
            <a:pPr marL="0" indent="0" algn="l">
              <a:spcAft>
                <a:spcPts val="300"/>
              </a:spcAft>
              <a:buNone/>
            </a:pPr>
            <a:r>
              <a:rPr lang="en-US" sz="1600" dirty="0">
                <a:solidFill>
                  <a:schemeClr val="tx1"/>
                </a:solidFill>
              </a:rPr>
              <a:t>Katta sonni tub ko‘paytuvchilarga yoyish — amalda imkonsiz (600 xonali son).</a:t>
            </a:r>
            <a:endParaRPr lang="en-US" sz="1800" dirty="0"/>
          </a:p>
          <a:p>
            <a:pPr marL="0" indent="0" algn="l">
              <a:spcAft>
                <a:spcPts val="300"/>
              </a:spcAft>
              <a:buNone/>
            </a:pPr>
            <a:r>
              <a:rPr lang="en-US" sz="1600" i="1" dirty="0">
                <a:solidFill>
                  <a:srgbClr val="52514E"/>
                </a:solidFill>
              </a:rPr>
              <a:t>“Bir tomonga oson, teskari tomonga qiyin” — RSA va ochiq kalitli kriptografiyaning asosi (18, 28–29-mavzular).</a:t>
            </a:r>
            <a:endParaRPr lang="en-US" sz="1800" dirty="0"/>
          </a:p>
        </p:txBody>
      </p:sp>
      <p:sp>
        <p:nvSpPr>
          <p:cNvPr id="4"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D99AE"/>
                </a:solidFill>
                <a:latin typeface="Times New Roman"/>
                <a:ea typeface="Times New Roman"/>
                <a:cs typeface="Times New Roman"/>
              </a:defRPr>
            </a:lvl1pPr>
          </a:lstStyle>
          <a:p>
            <a:pPr algn="r"/>
            <a:fld id="{F7021451-1387-4CA6-816F-3879F97B5CBC}" type="slidenum">
              <a:rPr lang="en-US" b="0"/>
              <a:t>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400"/>
                                        <p:tgtEl>
                                          <p:spTgt spid="12"/>
                                        </p:tgtEl>
                                      </p:cBhvr>
                                    </p:animEffect>
                                  </p:childTnLst>
                                </p:cTn>
                              </p:par>
                              <p:par>
                                <p:cTn id="19" presetID="10"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400"/>
                                        <p:tgtEl>
                                          <p:spTgt spid="13"/>
                                        </p:tgtEl>
                                      </p:cBhvr>
                                    </p:animEffect>
                                  </p:childTnLst>
                                </p:cTn>
                              </p:par>
                              <p:par>
                                <p:cTn id="22" presetID="10" presetClass="entr" presetSubtype="0" fill="hold"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400"/>
                                        <p:tgtEl>
                                          <p:spTgt spid="14"/>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400"/>
                                        <p:tgtEl>
                                          <p:spTgt spid="15"/>
                                        </p:tgtEl>
                                      </p:cBhvr>
                                    </p:animEffect>
                                  </p:childTnLst>
                                </p:cTn>
                              </p:par>
                              <p:par>
                                <p:cTn id="30" presetID="10" presetClass="entr" presetSubtype="0" fill="hold" nodeType="with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400"/>
                                        <p:tgtEl>
                                          <p:spTgt spid="16"/>
                                        </p:tgtEl>
                                      </p:cBhvr>
                                    </p:animEffect>
                                  </p:childTnLst>
                                </p:cTn>
                              </p:par>
                              <p:par>
                                <p:cTn id="33" presetID="10" presetClass="entr" presetSubtype="0" fill="hold" nodeType="with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400"/>
                                        <p:tgtEl>
                                          <p:spTgt spid="17"/>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fade">
                                      <p:cBhvr>
                                        <p:cTn id="40" dur="400"/>
                                        <p:tgtEl>
                                          <p:spTgt spid="18"/>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9"/>
                                        </p:tgtEl>
                                        <p:attrNameLst>
                                          <p:attrName>style.visibility</p:attrName>
                                        </p:attrNameLst>
                                      </p:cBhvr>
                                      <p:to>
                                        <p:strVal val="visible"/>
                                      </p:to>
                                    </p:set>
                                    <p:animEffect transition="in" filter="fade">
                                      <p:cBhvr>
                                        <p:cTn id="45" dur="400"/>
                                        <p:tgtEl>
                                          <p:spTgt spid="19"/>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400"/>
                                        <p:tgtEl>
                                          <p:spTgt spid="20"/>
                                        </p:tgtEl>
                                      </p:cBhvr>
                                    </p:animEffect>
                                  </p:childTnLst>
                                </p:cTn>
                              </p:par>
                              <p:par>
                                <p:cTn id="51" presetID="10" presetClass="entr" presetSubtype="0" fill="hold" nodeType="with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400"/>
                                        <p:tgtEl>
                                          <p:spTgt spid="21"/>
                                        </p:tgtEl>
                                      </p:cBhvr>
                                    </p:animEffect>
                                  </p:childTnLst>
                                </p:cTn>
                              </p:par>
                              <p:par>
                                <p:cTn id="54" presetID="10" presetClass="entr" presetSubtype="0" fill="hold" nodeType="withEffect">
                                  <p:stCondLst>
                                    <p:cond delay="0"/>
                                  </p:stCondLst>
                                  <p:childTnLst>
                                    <p:set>
                                      <p:cBhvr>
                                        <p:cTn id="55" dur="1" fill="hold">
                                          <p:stCondLst>
                                            <p:cond delay="0"/>
                                          </p:stCondLst>
                                        </p:cTn>
                                        <p:tgtEl>
                                          <p:spTgt spid="22"/>
                                        </p:tgtEl>
                                        <p:attrNameLst>
                                          <p:attrName>style.visibility</p:attrName>
                                        </p:attrNameLst>
                                      </p:cBhvr>
                                      <p:to>
                                        <p:strVal val="visible"/>
                                      </p:to>
                                    </p:set>
                                    <p:animEffect transition="in" filter="fade">
                                      <p:cBhvr>
                                        <p:cTn id="56" dur="400"/>
                                        <p:tgtEl>
                                          <p:spTgt spid="22"/>
                                        </p:tgtEl>
                                      </p:cBhvr>
                                    </p:animEffect>
                                  </p:childTnLst>
                                </p:cTn>
                              </p:par>
                              <p:par>
                                <p:cTn id="57" presetID="10" presetClass="entr" presetSubtype="0" fill="hold" nodeType="withEffect">
                                  <p:stCondLst>
                                    <p:cond delay="0"/>
                                  </p:stCondLst>
                                  <p:childTnLst>
                                    <p:set>
                                      <p:cBhvr>
                                        <p:cTn id="58" dur="1" fill="hold">
                                          <p:stCondLst>
                                            <p:cond delay="0"/>
                                          </p:stCondLst>
                                        </p:cTn>
                                        <p:tgtEl>
                                          <p:spTgt spid="23"/>
                                        </p:tgtEl>
                                        <p:attrNameLst>
                                          <p:attrName>style.visibility</p:attrName>
                                        </p:attrNameLst>
                                      </p:cBhvr>
                                      <p:to>
                                        <p:strVal val="visible"/>
                                      </p:to>
                                    </p:set>
                                    <p:animEffect transition="in" filter="fade">
                                      <p:cBhvr>
                                        <p:cTn id="59" dur="400"/>
                                        <p:tgtEl>
                                          <p:spTgt spid="23"/>
                                        </p:tgtEl>
                                      </p:cBhvr>
                                    </p:animEffect>
                                  </p:childTnLst>
                                </p:cTn>
                              </p:par>
                              <p:par>
                                <p:cTn id="60" presetID="10" presetClass="entr" presetSubtype="0" fill="hold" nodeType="withEffect">
                                  <p:stCondLst>
                                    <p:cond delay="0"/>
                                  </p:stCondLst>
                                  <p:childTnLst>
                                    <p:set>
                                      <p:cBhvr>
                                        <p:cTn id="61" dur="1" fill="hold">
                                          <p:stCondLst>
                                            <p:cond delay="0"/>
                                          </p:stCondLst>
                                        </p:cTn>
                                        <p:tgtEl>
                                          <p:spTgt spid="24"/>
                                        </p:tgtEl>
                                        <p:attrNameLst>
                                          <p:attrName>style.visibility</p:attrName>
                                        </p:attrNameLst>
                                      </p:cBhvr>
                                      <p:to>
                                        <p:strVal val="visible"/>
                                      </p:to>
                                    </p:set>
                                    <p:animEffect transition="in" filter="fade">
                                      <p:cBhvr>
                                        <p:cTn id="62" dur="400"/>
                                        <p:tgtEl>
                                          <p:spTgt spid="24"/>
                                        </p:tgtEl>
                                      </p:cBhvr>
                                    </p:animEffect>
                                  </p:childTnLst>
                                </p:cTn>
                              </p:par>
                              <p:par>
                                <p:cTn id="63" presetID="10" presetClass="entr" presetSubtype="0" fill="hold" nodeType="withEffect">
                                  <p:stCondLst>
                                    <p:cond delay="0"/>
                                  </p:stCondLst>
                                  <p:childTnLst>
                                    <p:set>
                                      <p:cBhvr>
                                        <p:cTn id="64" dur="1" fill="hold">
                                          <p:stCondLst>
                                            <p:cond delay="0"/>
                                          </p:stCondLst>
                                        </p:cTn>
                                        <p:tgtEl>
                                          <p:spTgt spid="25"/>
                                        </p:tgtEl>
                                        <p:attrNameLst>
                                          <p:attrName>style.visibility</p:attrName>
                                        </p:attrNameLst>
                                      </p:cBhvr>
                                      <p:to>
                                        <p:strVal val="visible"/>
                                      </p:to>
                                    </p:set>
                                    <p:animEffect transition="in" filter="fade">
                                      <p:cBhvr>
                                        <p:cTn id="65" dur="400"/>
                                        <p:tgtEl>
                                          <p:spTgt spid="25"/>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400"/>
                                        <p:tgtEl>
                                          <p:spTgt spid="26"/>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27"/>
                                        </p:tgtEl>
                                        <p:attrNameLst>
                                          <p:attrName>style.visibility</p:attrName>
                                        </p:attrNameLst>
                                      </p:cBhvr>
                                      <p:to>
                                        <p:strVal val="visible"/>
                                      </p:to>
                                    </p:set>
                                    <p:animEffect transition="in" filter="fade">
                                      <p:cBhvr>
                                        <p:cTn id="75"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56032"/>
            <a:ext cx="11064240" cy="292608"/>
          </a:xfrm>
          <a:prstGeom prst="rect">
            <a:avLst/>
          </a:prstGeom>
          <a:noFill/>
          <a:ln/>
        </p:spPr>
        <p:txBody>
          <a:bodyPr wrap="square" lIns="0" tIns="0" rIns="0" bIns="0" rtlCol="0" anchor="ctr"/>
          <a:lstStyle/>
          <a:p>
            <a:pPr marL="0" indent="0">
              <a:buNone/>
            </a:pPr>
            <a:r>
              <a:rPr lang="en-US" sz="1300" b="1" dirty="0">
                <a:solidFill>
                  <a:schemeClr val="accent4"/>
                </a:solidFill>
                <a:latin typeface="Times New Roman" pitchFamily="34" charset="0"/>
                <a:ea typeface="Times New Roman" pitchFamily="34" charset="-122"/>
                <a:cs typeface="Times New Roman" pitchFamily="34" charset="-120"/>
              </a:rPr>
              <a:t>4-mavzu · EKUB va teskari element (2/3)</a:t>
            </a:r>
            <a:endParaRPr lang="en-US" sz="1300" dirty="0"/>
          </a:p>
        </p:txBody>
      </p:sp>
      <p:sp>
        <p:nvSpPr>
          <p:cNvPr id="3" name="Text 1"/>
          <p:cNvSpPr>
            <a:spLocks noGrp="1"/>
          </p:cNvSpPr>
          <p:nvPr>
            <p:ph type="title" idx="102" hasCustomPrompt="1"/>
          </p:nvPr>
        </p:nvSpPr>
        <p:spPr>
          <a:xfrm>
            <a:off x="548640" y="530352"/>
            <a:ext cx="1106424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7⁻¹ mod 26 ni topamiz: Evklidni orqaga yuramiz</a:t>
            </a:r>
            <a:endParaRPr lang="en-US" sz="3200" dirty="0"/>
          </a:p>
        </p:txBody>
      </p:sp>
      <p:sp>
        <p:nvSpPr>
          <p:cNvPr id="5" name="A1_216"/>
          <p:cNvSpPr txBox="1"/>
          <p:nvPr/>
        </p:nvSpPr>
        <p:spPr>
          <a:xfrm>
            <a:off x="548640" y="1371600"/>
            <a:ext cx="6675120" cy="365760"/>
          </a:xfrm>
          <a:prstGeom prst="rect">
            <a:avLst/>
          </a:prstGeom>
          <a:noFill/>
          <a:ln/>
        </p:spPr>
        <p:txBody>
          <a:bodyPr wrap="square" lIns="0" tIns="0" rIns="0" bIns="0" rtlCol="0" anchor="ctr"/>
          <a:lstStyle/>
          <a:p>
            <a:pPr marL="0" indent="0" algn="l">
              <a:buNone/>
            </a:pPr>
            <a:r>
              <a:rPr lang="en-US" sz="1700" b="1" dirty="0">
                <a:solidFill>
                  <a:schemeClr val="accent4"/>
                </a:solidFill>
              </a:rPr>
              <a:t>1. Oldinga: oddiy Evklid</a:t>
            </a:r>
            <a:endParaRPr lang="en-US" sz="1700" dirty="0"/>
          </a:p>
        </p:txBody>
      </p:sp>
      <p:sp>
        <p:nvSpPr>
          <p:cNvPr id="6" name="A1_217"/>
          <p:cNvSpPr txBox="1"/>
          <p:nvPr/>
        </p:nvSpPr>
        <p:spPr>
          <a:xfrm>
            <a:off x="548640" y="1783080"/>
            <a:ext cx="3291840" cy="411480"/>
          </a:xfrm>
          <a:prstGeom prst="rect">
            <a:avLst/>
          </a:prstGeom>
          <a:solidFill>
            <a:schemeClr val="tx2"/>
          </a:solidFill>
          <a:ln w="9525">
            <a:solidFill>
              <a:srgbClr val="D5DBE5"/>
            </a:solidFill>
          </a:ln>
        </p:spPr>
        <p:txBody>
          <a:bodyPr wrap="square" lIns="25400" tIns="25400" rIns="25400" bIns="25400" rtlCol="0" anchor="ctr"/>
          <a:lstStyle/>
          <a:p>
            <a:pPr marL="0" indent="0" algn="ctr">
              <a:buNone/>
            </a:pPr>
            <a:r>
              <a:rPr lang="en-US" sz="1500" b="1" dirty="0">
                <a:solidFill>
                  <a:schemeClr val="bg1"/>
                </a:solidFill>
              </a:rPr>
              <a:t>Bo‘lish</a:t>
            </a:r>
            <a:endParaRPr lang="en-US" sz="1500" dirty="0"/>
          </a:p>
        </p:txBody>
      </p:sp>
      <p:sp>
        <p:nvSpPr>
          <p:cNvPr id="7" name="A1_218"/>
          <p:cNvSpPr txBox="1"/>
          <p:nvPr/>
        </p:nvSpPr>
        <p:spPr>
          <a:xfrm>
            <a:off x="3840480" y="1783080"/>
            <a:ext cx="3337560" cy="411480"/>
          </a:xfrm>
          <a:prstGeom prst="rect">
            <a:avLst/>
          </a:prstGeom>
          <a:solidFill>
            <a:schemeClr val="tx2"/>
          </a:solidFill>
          <a:ln w="9525">
            <a:solidFill>
              <a:srgbClr val="D5DBE5"/>
            </a:solidFill>
          </a:ln>
        </p:spPr>
        <p:txBody>
          <a:bodyPr wrap="square" lIns="25400" tIns="25400" rIns="25400" bIns="25400" rtlCol="0" anchor="ctr"/>
          <a:lstStyle/>
          <a:p>
            <a:pPr marL="0" indent="0" algn="ctr">
              <a:buNone/>
            </a:pPr>
            <a:r>
              <a:rPr lang="en-US" sz="1500" b="1" dirty="0">
                <a:solidFill>
                  <a:schemeClr val="bg1"/>
                </a:solidFill>
              </a:rPr>
              <a:t>Qoldiqni ifodalaymiz</a:t>
            </a:r>
            <a:endParaRPr lang="en-US" sz="1500" dirty="0"/>
          </a:p>
        </p:txBody>
      </p:sp>
      <p:sp>
        <p:nvSpPr>
          <p:cNvPr id="8" name="A1_219"/>
          <p:cNvSpPr txBox="1"/>
          <p:nvPr/>
        </p:nvSpPr>
        <p:spPr>
          <a:xfrm>
            <a:off x="548640" y="2194560"/>
            <a:ext cx="3291840" cy="411480"/>
          </a:xfrm>
          <a:prstGeom prst="rect">
            <a:avLst/>
          </a:prstGeom>
          <a:solidFill>
            <a:srgbClr val="F4F6FA"/>
          </a:solidFill>
          <a:ln w="9525">
            <a:solidFill>
              <a:srgbClr val="D5DBE5"/>
            </a:solidFill>
          </a:ln>
        </p:spPr>
        <p:txBody>
          <a:bodyPr wrap="square" lIns="25400" tIns="25400" rIns="25400" bIns="25400" rtlCol="0" anchor="ctr"/>
          <a:lstStyle/>
          <a:p>
            <a:pPr marL="0" indent="0" algn="ctr">
              <a:buNone/>
            </a:pPr>
            <a:r>
              <a:rPr lang="en-US" sz="1500" dirty="0">
                <a:solidFill>
                  <a:schemeClr val="tx1"/>
                </a:solidFill>
              </a:rPr>
              <a:t>26 = 3 · 7 + 5</a:t>
            </a:r>
            <a:endParaRPr lang="en-US" sz="1500" dirty="0"/>
          </a:p>
        </p:txBody>
      </p:sp>
      <p:sp>
        <p:nvSpPr>
          <p:cNvPr id="9" name="A1_220"/>
          <p:cNvSpPr txBox="1"/>
          <p:nvPr/>
        </p:nvSpPr>
        <p:spPr>
          <a:xfrm>
            <a:off x="3840480" y="2194560"/>
            <a:ext cx="3337560" cy="411480"/>
          </a:xfrm>
          <a:prstGeom prst="rect">
            <a:avLst/>
          </a:prstGeom>
          <a:solidFill>
            <a:srgbClr val="F4F6FA"/>
          </a:solidFill>
          <a:ln w="9525">
            <a:solidFill>
              <a:srgbClr val="D5DBE5"/>
            </a:solidFill>
          </a:ln>
        </p:spPr>
        <p:txBody>
          <a:bodyPr wrap="square" lIns="25400" tIns="25400" rIns="25400" bIns="25400" rtlCol="0" anchor="ctr"/>
          <a:lstStyle/>
          <a:p>
            <a:pPr marL="0" indent="0" algn="ctr">
              <a:buNone/>
            </a:pPr>
            <a:r>
              <a:rPr lang="en-US" sz="1500" dirty="0">
                <a:solidFill>
                  <a:schemeClr val="tx1"/>
                </a:solidFill>
              </a:rPr>
              <a:t>5 = 26 − 3 · 7</a:t>
            </a:r>
            <a:endParaRPr lang="en-US" sz="1500" dirty="0"/>
          </a:p>
        </p:txBody>
      </p:sp>
      <p:sp>
        <p:nvSpPr>
          <p:cNvPr id="10" name="A1_221"/>
          <p:cNvSpPr txBox="1"/>
          <p:nvPr/>
        </p:nvSpPr>
        <p:spPr>
          <a:xfrm>
            <a:off x="548640" y="2606040"/>
            <a:ext cx="3291840" cy="411480"/>
          </a:xfrm>
          <a:prstGeom prst="rect">
            <a:avLst/>
          </a:prstGeom>
          <a:solidFill>
            <a:srgbClr val="FFFFFF"/>
          </a:solidFill>
          <a:ln w="9525">
            <a:solidFill>
              <a:srgbClr val="D5DBE5"/>
            </a:solidFill>
          </a:ln>
        </p:spPr>
        <p:txBody>
          <a:bodyPr wrap="square" lIns="25400" tIns="25400" rIns="25400" bIns="25400" rtlCol="0" anchor="ctr"/>
          <a:lstStyle/>
          <a:p>
            <a:pPr marL="0" indent="0" algn="ctr">
              <a:buNone/>
            </a:pPr>
            <a:r>
              <a:rPr lang="en-US" sz="1500" dirty="0">
                <a:solidFill>
                  <a:schemeClr val="tx1"/>
                </a:solidFill>
              </a:rPr>
              <a:t>7 = 1 · 5 + 2</a:t>
            </a:r>
            <a:endParaRPr lang="en-US" sz="1500" dirty="0"/>
          </a:p>
        </p:txBody>
      </p:sp>
      <p:sp>
        <p:nvSpPr>
          <p:cNvPr id="11" name="A1_222"/>
          <p:cNvSpPr txBox="1"/>
          <p:nvPr/>
        </p:nvSpPr>
        <p:spPr>
          <a:xfrm>
            <a:off x="3840480" y="2606040"/>
            <a:ext cx="3337560" cy="411480"/>
          </a:xfrm>
          <a:prstGeom prst="rect">
            <a:avLst/>
          </a:prstGeom>
          <a:solidFill>
            <a:srgbClr val="FFFFFF"/>
          </a:solidFill>
          <a:ln w="9525">
            <a:solidFill>
              <a:srgbClr val="D5DBE5"/>
            </a:solidFill>
          </a:ln>
        </p:spPr>
        <p:txBody>
          <a:bodyPr wrap="square" lIns="25400" tIns="25400" rIns="25400" bIns="25400" rtlCol="0" anchor="ctr"/>
          <a:lstStyle/>
          <a:p>
            <a:pPr marL="0" indent="0" algn="ctr">
              <a:buNone/>
            </a:pPr>
            <a:r>
              <a:rPr lang="en-US" sz="1500" dirty="0">
                <a:solidFill>
                  <a:schemeClr val="tx1"/>
                </a:solidFill>
              </a:rPr>
              <a:t>2 = 7 − 5</a:t>
            </a:r>
            <a:endParaRPr lang="en-US" sz="1500" dirty="0"/>
          </a:p>
        </p:txBody>
      </p:sp>
      <p:sp>
        <p:nvSpPr>
          <p:cNvPr id="12" name="A1_223"/>
          <p:cNvSpPr txBox="1"/>
          <p:nvPr/>
        </p:nvSpPr>
        <p:spPr>
          <a:xfrm>
            <a:off x="548640" y="3017520"/>
            <a:ext cx="3291840" cy="411480"/>
          </a:xfrm>
          <a:prstGeom prst="rect">
            <a:avLst/>
          </a:prstGeom>
          <a:solidFill>
            <a:srgbClr val="F4F6FA"/>
          </a:solidFill>
          <a:ln w="9525">
            <a:solidFill>
              <a:srgbClr val="D5DBE5"/>
            </a:solidFill>
          </a:ln>
        </p:spPr>
        <p:txBody>
          <a:bodyPr wrap="square" lIns="25400" tIns="25400" rIns="25400" bIns="25400" rtlCol="0" anchor="ctr"/>
          <a:lstStyle/>
          <a:p>
            <a:pPr marL="0" indent="0" algn="ctr">
              <a:buNone/>
            </a:pPr>
            <a:r>
              <a:rPr lang="en-US" sz="1500" dirty="0">
                <a:solidFill>
                  <a:schemeClr val="tx1"/>
                </a:solidFill>
              </a:rPr>
              <a:t>5 = 2 · 2 + 1</a:t>
            </a:r>
            <a:endParaRPr lang="en-US" sz="1500" dirty="0"/>
          </a:p>
        </p:txBody>
      </p:sp>
      <p:sp>
        <p:nvSpPr>
          <p:cNvPr id="13" name="A1_224"/>
          <p:cNvSpPr txBox="1"/>
          <p:nvPr/>
        </p:nvSpPr>
        <p:spPr>
          <a:xfrm>
            <a:off x="3840480" y="3017520"/>
            <a:ext cx="3337560" cy="411480"/>
          </a:xfrm>
          <a:prstGeom prst="rect">
            <a:avLst/>
          </a:prstGeom>
          <a:solidFill>
            <a:schemeClr val="accent1">
              <a:alpha val="45000"/>
            </a:schemeClr>
          </a:solidFill>
          <a:ln w="9525">
            <a:solidFill>
              <a:srgbClr val="D5DBE5"/>
            </a:solidFill>
          </a:ln>
        </p:spPr>
        <p:txBody>
          <a:bodyPr wrap="square" lIns="25400" tIns="25400" rIns="25400" bIns="25400" rtlCol="0" anchor="ctr"/>
          <a:lstStyle/>
          <a:p>
            <a:pPr marL="0" indent="0" algn="ctr">
              <a:buNone/>
            </a:pPr>
            <a:r>
              <a:rPr lang="en-US" sz="1500" b="1" dirty="0">
                <a:solidFill>
                  <a:schemeClr val="tx1"/>
                </a:solidFill>
              </a:rPr>
              <a:t>1 = 5 − 2 · 2</a:t>
            </a:r>
            <a:endParaRPr lang="en-US" sz="1500" dirty="0"/>
          </a:p>
        </p:txBody>
      </p:sp>
      <p:sp>
        <p:nvSpPr>
          <p:cNvPr id="14" name="A2_225"/>
          <p:cNvSpPr txBox="1"/>
          <p:nvPr/>
        </p:nvSpPr>
        <p:spPr>
          <a:xfrm>
            <a:off x="548640" y="3566160"/>
            <a:ext cx="6675120" cy="365760"/>
          </a:xfrm>
          <a:prstGeom prst="rect">
            <a:avLst/>
          </a:prstGeom>
          <a:noFill/>
          <a:ln/>
        </p:spPr>
        <p:txBody>
          <a:bodyPr wrap="square" lIns="0" tIns="0" rIns="0" bIns="0" rtlCol="0" anchor="ctr"/>
          <a:lstStyle/>
          <a:p>
            <a:pPr marL="0" indent="0" algn="l">
              <a:buNone/>
            </a:pPr>
            <a:r>
              <a:rPr lang="en-US" sz="1700" b="1" dirty="0">
                <a:solidFill>
                  <a:schemeClr val="accent2"/>
                </a:solidFill>
              </a:rPr>
              <a:t>2. Orqaga: 1 ni faqat 26 va 7 orqali yozamiz</a:t>
            </a:r>
            <a:endParaRPr lang="en-US" sz="1700" dirty="0"/>
          </a:p>
        </p:txBody>
      </p:sp>
      <p:sp>
        <p:nvSpPr>
          <p:cNvPr id="15" name="A2_226"/>
          <p:cNvSpPr txBox="1"/>
          <p:nvPr/>
        </p:nvSpPr>
        <p:spPr>
          <a:xfrm>
            <a:off x="685800" y="3977640"/>
            <a:ext cx="4937760" cy="365760"/>
          </a:xfrm>
          <a:prstGeom prst="rect">
            <a:avLst/>
          </a:prstGeom>
          <a:noFill/>
          <a:ln/>
        </p:spPr>
        <p:txBody>
          <a:bodyPr wrap="square" lIns="0" tIns="0" rIns="0" bIns="0" rtlCol="0" anchor="ctr"/>
          <a:lstStyle/>
          <a:p>
            <a:pPr marL="0" indent="0" algn="l">
              <a:buNone/>
            </a:pPr>
            <a:r>
              <a:rPr lang="en-US" sz="1500" b="1" dirty="0">
                <a:solidFill>
                  <a:schemeClr val="tx1"/>
                </a:solidFill>
              </a:rPr>
              <a:t>1 = 5 − 2 · 2</a:t>
            </a:r>
            <a:endParaRPr lang="en-US" sz="1500" dirty="0"/>
          </a:p>
        </p:txBody>
      </p:sp>
      <p:sp>
        <p:nvSpPr>
          <p:cNvPr id="16" name="A2_227"/>
          <p:cNvSpPr txBox="1"/>
          <p:nvPr/>
        </p:nvSpPr>
        <p:spPr>
          <a:xfrm>
            <a:off x="5623560" y="3977640"/>
            <a:ext cx="1645920" cy="365760"/>
          </a:xfrm>
          <a:prstGeom prst="rect">
            <a:avLst/>
          </a:prstGeom>
          <a:noFill/>
          <a:ln/>
        </p:spPr>
        <p:txBody>
          <a:bodyPr wrap="square" lIns="0" tIns="0" rIns="0" bIns="0" rtlCol="0" anchor="ctr"/>
          <a:lstStyle/>
          <a:p>
            <a:pPr marL="0" indent="0" algn="l">
              <a:buNone/>
            </a:pPr>
            <a:r>
              <a:rPr lang="en-US" sz="1400" i="1" dirty="0">
                <a:solidFill>
                  <a:srgbClr val="52514E"/>
                </a:solidFill>
              </a:rPr>
              <a:t>oxirgi qatordan</a:t>
            </a:r>
            <a:endParaRPr lang="en-US" sz="1400" dirty="0"/>
          </a:p>
        </p:txBody>
      </p:sp>
      <p:sp>
        <p:nvSpPr>
          <p:cNvPr id="17" name="A3_228"/>
          <p:cNvSpPr txBox="1"/>
          <p:nvPr/>
        </p:nvSpPr>
        <p:spPr>
          <a:xfrm>
            <a:off x="685800" y="4361688"/>
            <a:ext cx="4937760" cy="365760"/>
          </a:xfrm>
          <a:prstGeom prst="rect">
            <a:avLst/>
          </a:prstGeom>
          <a:noFill/>
          <a:ln/>
        </p:spPr>
        <p:txBody>
          <a:bodyPr wrap="square" lIns="0" tIns="0" rIns="0" bIns="0" rtlCol="0" anchor="ctr"/>
          <a:lstStyle/>
          <a:p>
            <a:pPr marL="0" indent="0" algn="l">
              <a:buNone/>
            </a:pPr>
            <a:r>
              <a:rPr lang="en-US" sz="1500" b="1" dirty="0">
                <a:solidFill>
                  <a:schemeClr val="tx1"/>
                </a:solidFill>
              </a:rPr>
              <a:t>1 = 5 − 2 · (7 − 5) = 3 · 5 − 2 · 7</a:t>
            </a:r>
            <a:endParaRPr lang="en-US" sz="1500" dirty="0"/>
          </a:p>
        </p:txBody>
      </p:sp>
      <p:sp>
        <p:nvSpPr>
          <p:cNvPr id="18" name="A3_229"/>
          <p:cNvSpPr txBox="1"/>
          <p:nvPr/>
        </p:nvSpPr>
        <p:spPr>
          <a:xfrm>
            <a:off x="5623560" y="4361688"/>
            <a:ext cx="1645920" cy="365760"/>
          </a:xfrm>
          <a:prstGeom prst="rect">
            <a:avLst/>
          </a:prstGeom>
          <a:noFill/>
          <a:ln/>
        </p:spPr>
        <p:txBody>
          <a:bodyPr wrap="square" lIns="0" tIns="0" rIns="0" bIns="0" rtlCol="0" anchor="ctr"/>
          <a:lstStyle/>
          <a:p>
            <a:pPr marL="0" indent="0" algn="l">
              <a:buNone/>
            </a:pPr>
            <a:r>
              <a:rPr lang="en-US" sz="1400" i="1" dirty="0">
                <a:solidFill>
                  <a:srgbClr val="52514E"/>
                </a:solidFill>
              </a:rPr>
              <a:t>2 o‘rniga qo‘ydik</a:t>
            </a:r>
            <a:endParaRPr lang="en-US" sz="1400" dirty="0"/>
          </a:p>
        </p:txBody>
      </p:sp>
      <p:sp>
        <p:nvSpPr>
          <p:cNvPr id="19" name="A4_230"/>
          <p:cNvSpPr txBox="1"/>
          <p:nvPr/>
        </p:nvSpPr>
        <p:spPr>
          <a:xfrm>
            <a:off x="685800" y="4745736"/>
            <a:ext cx="4937760" cy="365760"/>
          </a:xfrm>
          <a:prstGeom prst="rect">
            <a:avLst/>
          </a:prstGeom>
          <a:noFill/>
          <a:ln/>
        </p:spPr>
        <p:txBody>
          <a:bodyPr wrap="square" lIns="0" tIns="0" rIns="0" bIns="0" rtlCol="0" anchor="ctr"/>
          <a:lstStyle/>
          <a:p>
            <a:pPr marL="0" indent="0" algn="l">
              <a:buNone/>
            </a:pPr>
            <a:r>
              <a:rPr lang="en-US" sz="1500" b="1" dirty="0">
                <a:solidFill>
                  <a:schemeClr val="tx1"/>
                </a:solidFill>
              </a:rPr>
              <a:t>1 = 3 · (26 − 3 · 7) − 2 · 7 = 3 · 26 − 11 · 7</a:t>
            </a:r>
            <a:endParaRPr lang="en-US" sz="1500" dirty="0"/>
          </a:p>
        </p:txBody>
      </p:sp>
      <p:sp>
        <p:nvSpPr>
          <p:cNvPr id="20" name="A4_231"/>
          <p:cNvSpPr txBox="1"/>
          <p:nvPr/>
        </p:nvSpPr>
        <p:spPr>
          <a:xfrm>
            <a:off x="5623560" y="4745736"/>
            <a:ext cx="1645920" cy="365760"/>
          </a:xfrm>
          <a:prstGeom prst="rect">
            <a:avLst/>
          </a:prstGeom>
          <a:noFill/>
          <a:ln/>
        </p:spPr>
        <p:txBody>
          <a:bodyPr wrap="square" lIns="0" tIns="0" rIns="0" bIns="0" rtlCol="0" anchor="ctr"/>
          <a:lstStyle/>
          <a:p>
            <a:pPr marL="0" indent="0" algn="l">
              <a:buNone/>
            </a:pPr>
            <a:r>
              <a:rPr lang="en-US" sz="1400" i="1" dirty="0">
                <a:solidFill>
                  <a:srgbClr val="52514E"/>
                </a:solidFill>
              </a:rPr>
              <a:t>5 o‘rniga qo‘ydik</a:t>
            </a:r>
            <a:endParaRPr lang="en-US" sz="1400" dirty="0"/>
          </a:p>
        </p:txBody>
      </p:sp>
      <p:sp>
        <p:nvSpPr>
          <p:cNvPr id="21" name="A5_232"/>
          <p:cNvSpPr txBox="1"/>
          <p:nvPr/>
        </p:nvSpPr>
        <p:spPr>
          <a:xfrm>
            <a:off x="548640" y="5212080"/>
            <a:ext cx="6675120" cy="960120"/>
          </a:xfrm>
          <a:prstGeom prst="roundRect">
            <a:avLst>
              <a:gd name="adj" fmla="val 7619"/>
            </a:avLst>
          </a:prstGeom>
          <a:solidFill>
            <a:schemeClr val="accent1">
              <a:alpha val="12000"/>
            </a:schemeClr>
          </a:solidFill>
          <a:ln>
            <a:solidFill>
              <a:schemeClr val="accent1">
                <a:alpha val="0"/>
              </a:schemeClr>
            </a:solidFill>
          </a:ln>
        </p:spPr>
        <p:txBody>
          <a:bodyPr wrap="square" lIns="76200" tIns="127000" rIns="127000" bIns="76200" rtlCol="0" anchor="ctr"/>
          <a:lstStyle/>
          <a:p>
            <a:pPr marL="0" indent="0" algn="l">
              <a:spcAft>
                <a:spcPts val="300"/>
              </a:spcAft>
              <a:buNone/>
            </a:pPr>
            <a:r>
              <a:rPr lang="en-US" sz="1800" b="1" dirty="0">
                <a:solidFill>
                  <a:schemeClr val="tx1"/>
                </a:solidFill>
              </a:rPr>
              <a:t>7 · (−11) ≡ 1 (mod 26)  ⇒  7⁻¹ ≡ −11 + 26 = 15</a:t>
            </a:r>
            <a:endParaRPr lang="en-US" sz="1800" dirty="0"/>
          </a:p>
          <a:p>
            <a:pPr marL="0" indent="0" algn="l">
              <a:spcAft>
                <a:spcPts val="300"/>
              </a:spcAft>
              <a:buNone/>
            </a:pPr>
            <a:r>
              <a:rPr lang="en-US" sz="1600" dirty="0">
                <a:solidFill>
                  <a:schemeClr val="tx1"/>
                </a:solidFill>
              </a:rPr>
              <a:t>tekshirish: 7 · 15 = 105 = 4 · 26 + 1</a:t>
            </a:r>
            <a:endParaRPr lang="en-US" sz="1800" dirty="0"/>
          </a:p>
        </p:txBody>
      </p:sp>
      <p:sp>
        <p:nvSpPr>
          <p:cNvPr id="22" name="A6_233"/>
          <p:cNvSpPr txBox="1"/>
          <p:nvPr/>
        </p:nvSpPr>
        <p:spPr>
          <a:xfrm>
            <a:off x="7589520" y="1417320"/>
            <a:ext cx="4069080" cy="1325880"/>
          </a:xfrm>
          <a:prstGeom prst="roundRect">
            <a:avLst>
              <a:gd name="adj" fmla="val 5517"/>
            </a:avLst>
          </a:prstGeom>
          <a:solidFill>
            <a:schemeClr val="accent6">
              <a:alpha val="12000"/>
            </a:schemeClr>
          </a:solidFill>
          <a:ln>
            <a:solidFill>
              <a:schemeClr val="accent6">
                <a:alpha val="0"/>
              </a:schemeClr>
            </a:solidFill>
          </a:ln>
        </p:spPr>
        <p:txBody>
          <a:bodyPr wrap="square" lIns="76200" tIns="127000" rIns="127000" bIns="76200" rtlCol="0" anchor="t"/>
          <a:lstStyle/>
          <a:p>
            <a:pPr marL="0" indent="0" algn="l">
              <a:spcAft>
                <a:spcPts val="300"/>
              </a:spcAft>
              <a:buNone/>
            </a:pPr>
            <a:r>
              <a:rPr lang="en-US" sz="1700" b="1" dirty="0">
                <a:solidFill>
                  <a:schemeClr val="accent6"/>
                </a:solidFill>
              </a:rPr>
              <a:t>Bezu ayniyati (aslida teorema)</a:t>
            </a:r>
            <a:endParaRPr lang="en-US" sz="1700" dirty="0"/>
          </a:p>
          <a:p>
            <a:pPr marL="0" indent="0" algn="l">
              <a:spcAft>
                <a:spcPts val="300"/>
              </a:spcAft>
              <a:buNone/>
            </a:pPr>
            <a:r>
              <a:rPr lang="en-US" sz="1500" dirty="0">
                <a:solidFill>
                  <a:schemeClr val="tx1"/>
                </a:solidFill>
              </a:rPr>
              <a:t>ax + by = EKUB(a, b) bo‘ladigan butun x, y mavjud. Evklidni orqaga yurish ularni topadi.</a:t>
            </a:r>
            <a:endParaRPr lang="en-US" sz="1700" dirty="0"/>
          </a:p>
        </p:txBody>
      </p:sp>
      <p:sp>
        <p:nvSpPr>
          <p:cNvPr id="23" name="A7_234"/>
          <p:cNvSpPr txBox="1"/>
          <p:nvPr/>
        </p:nvSpPr>
        <p:spPr>
          <a:xfrm>
            <a:off x="7589520" y="2834640"/>
            <a:ext cx="4069080" cy="1600200"/>
          </a:xfrm>
          <a:prstGeom prst="roundRect">
            <a:avLst>
              <a:gd name="adj" fmla="val 4571"/>
            </a:avLst>
          </a:prstGeom>
          <a:solidFill>
            <a:schemeClr val="accent2">
              <a:alpha val="18000"/>
            </a:schemeClr>
          </a:solidFill>
          <a:ln>
            <a:solidFill>
              <a:schemeClr val="accent2">
                <a:alpha val="0"/>
              </a:schemeClr>
            </a:solidFill>
          </a:ln>
        </p:spPr>
        <p:txBody>
          <a:bodyPr wrap="square" lIns="76200" tIns="127000" rIns="127000" bIns="76200" rtlCol="0" anchor="t"/>
          <a:lstStyle/>
          <a:p>
            <a:pPr marL="0" indent="0" algn="l">
              <a:spcAft>
                <a:spcPts val="300"/>
              </a:spcAft>
              <a:buNone/>
            </a:pPr>
            <a:r>
              <a:rPr lang="en-US" sz="1700" b="1" dirty="0">
                <a:solidFill>
                  <a:srgbClr val="1E7268"/>
                </a:solidFill>
              </a:rPr>
              <a:t>Kriptografiyada qayerda kerak</a:t>
            </a:r>
            <a:endParaRPr lang="en-US" sz="1700" dirty="0"/>
          </a:p>
          <a:p>
            <a:pPr marL="0" indent="0" algn="l">
              <a:spcAft>
                <a:spcPts val="300"/>
              </a:spcAft>
              <a:buNone/>
            </a:pPr>
            <a:r>
              <a:rPr lang="en-US" sz="1500" dirty="0">
                <a:solidFill>
                  <a:schemeClr val="tx1"/>
                </a:solidFill>
              </a:rPr>
              <a:t>▸ affin deshifrlash: x = a⁻¹(y − b) (7)</a:t>
            </a:r>
            <a:endParaRPr lang="en-US" sz="1700" dirty="0"/>
          </a:p>
          <a:p>
            <a:pPr marL="0" indent="0" algn="l">
              <a:spcAft>
                <a:spcPts val="300"/>
              </a:spcAft>
              <a:buNone/>
            </a:pPr>
            <a:r>
              <a:rPr lang="en-US" sz="1500" dirty="0">
                <a:solidFill>
                  <a:schemeClr val="tx1"/>
                </a:solidFill>
              </a:rPr>
              <a:t>▸ Hill: kalit matritsa teskarisi (13)</a:t>
            </a:r>
            <a:endParaRPr lang="en-US" sz="1700" dirty="0"/>
          </a:p>
          <a:p>
            <a:pPr marL="0" indent="0" algn="l">
              <a:spcAft>
                <a:spcPts val="300"/>
              </a:spcAft>
              <a:buNone/>
            </a:pPr>
            <a:r>
              <a:rPr lang="en-US" sz="1500" dirty="0">
                <a:solidFill>
                  <a:schemeClr val="tx1"/>
                </a:solidFill>
              </a:rPr>
              <a:t>▸ RSA: yopiq kalit d = e⁻¹ mod φ(n) (29)</a:t>
            </a:r>
            <a:endParaRPr lang="en-US" sz="1700" dirty="0"/>
          </a:p>
        </p:txBody>
      </p:sp>
      <p:sp>
        <p:nvSpPr>
          <p:cNvPr id="24" name="A8_235"/>
          <p:cNvSpPr txBox="1"/>
          <p:nvPr/>
        </p:nvSpPr>
        <p:spPr>
          <a:xfrm>
            <a:off x="7589520" y="4526280"/>
            <a:ext cx="4069080" cy="868680"/>
          </a:xfrm>
          <a:prstGeom prst="roundRect">
            <a:avLst>
              <a:gd name="adj" fmla="val 8421"/>
            </a:avLst>
          </a:prstGeom>
          <a:solidFill>
            <a:schemeClr val="accent3">
              <a:alpha val="12000"/>
            </a:schemeClr>
          </a:solidFill>
          <a:ln>
            <a:solidFill>
              <a:schemeClr val="accent3">
                <a:alpha val="0"/>
              </a:schemeClr>
            </a:solidFill>
          </a:ln>
        </p:spPr>
        <p:txBody>
          <a:bodyPr wrap="square" lIns="76200" tIns="127000" rIns="127000" bIns="76200" rtlCol="0" anchor="t"/>
          <a:lstStyle/>
          <a:p>
            <a:pPr marL="0" indent="0" algn="l">
              <a:spcAft>
                <a:spcPts val="300"/>
              </a:spcAft>
              <a:buNone/>
            </a:pPr>
            <a:r>
              <a:rPr lang="en-US" sz="1600" b="1" dirty="0">
                <a:solidFill>
                  <a:schemeClr val="accent3"/>
                </a:solidFill>
              </a:rPr>
              <a:t>Teskari yo‘q bo‘lsa</a:t>
            </a:r>
            <a:endParaRPr lang="en-US" sz="1600" dirty="0"/>
          </a:p>
          <a:p>
            <a:pPr marL="0" indent="0" algn="l">
              <a:spcAft>
                <a:spcPts val="300"/>
              </a:spcAft>
              <a:buNone/>
            </a:pPr>
            <a:r>
              <a:rPr lang="en-US" sz="1400" dirty="0">
                <a:solidFill>
                  <a:schemeClr val="tx1"/>
                </a:solidFill>
              </a:rPr>
              <a:t>8⁻¹ mod 26: 8 va 26 ikkalasi juft, EKUB = 2 — teskari yo‘q</a:t>
            </a:r>
            <a:endParaRPr lang="en-US" sz="1600" dirty="0"/>
          </a:p>
        </p:txBody>
      </p:sp>
      <p:sp>
        <p:nvSpPr>
          <p:cNvPr id="25" name="A8_236"/>
          <p:cNvSpPr txBox="1"/>
          <p:nvPr/>
        </p:nvSpPr>
        <p:spPr>
          <a:xfrm>
            <a:off x="7589520" y="5486400"/>
            <a:ext cx="4069080" cy="685800"/>
          </a:xfrm>
          <a:prstGeom prst="roundRect">
            <a:avLst>
              <a:gd name="adj" fmla="val 8000"/>
            </a:avLst>
          </a:prstGeom>
          <a:solidFill>
            <a:schemeClr val="tx2"/>
          </a:solidFill>
          <a:ln w="15875">
            <a:solidFill>
              <a:schemeClr val="tx2"/>
            </a:solidFill>
          </a:ln>
        </p:spPr>
        <p:txBody>
          <a:bodyPr wrap="square" lIns="152400" tIns="152400" rIns="152400" bIns="152400" rtlCol="0" anchor="ctr"/>
          <a:lstStyle/>
          <a:p>
            <a:pPr marL="0" indent="0" algn="l">
              <a:buNone/>
            </a:pPr>
            <a:r>
              <a:rPr lang="en-US" sz="1600" dirty="0">
                <a:solidFill>
                  <a:srgbClr val="E9F1FF"/>
                </a:solidFill>
                <a:latin typeface="Courier New" pitchFamily="34" charset="0"/>
                <a:ea typeface="Courier New" pitchFamily="34" charset="-122"/>
                <a:cs typeface="Courier New" pitchFamily="34" charset="-120"/>
              </a:rPr>
              <a:t>&gt;&gt;&gt; pow(7, -1, 26)   </a:t>
            </a:r>
            <a:r>
              <a:rPr lang="en-US" sz="1600" b="1" dirty="0">
                <a:solidFill>
                  <a:srgbClr val="E9F1FF"/>
                </a:solidFill>
                <a:latin typeface="Courier New" pitchFamily="34" charset="0"/>
                <a:ea typeface="Courier New" pitchFamily="34" charset="-122"/>
                <a:cs typeface="Courier New" pitchFamily="34" charset="-120"/>
              </a:rPr>
              <a:t>15</a:t>
            </a:r>
            <a:endParaRPr lang="en-US" sz="1600" dirty="0"/>
          </a:p>
        </p:txBody>
      </p:sp>
      <p:sp>
        <p:nvSpPr>
          <p:cNvPr id="4"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D99AE"/>
                </a:solidFill>
                <a:latin typeface="Times New Roman"/>
                <a:ea typeface="Times New Roman"/>
                <a:cs typeface="Times New Roman"/>
              </a:defRPr>
            </a:lvl1pPr>
          </a:lstStyle>
          <a:p>
            <a:pPr algn="r"/>
            <a:fld id="{F7021451-1387-4CA6-816F-3879F97B5CBC}" type="slidenum">
              <a:rPr lang="en-US" b="0"/>
              <a:t>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par>
                                <p:cTn id="20" presetID="10" presetClass="entr" presetSubtype="0" fill="hold"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400"/>
                                        <p:tgtEl>
                                          <p:spTgt spid="10"/>
                                        </p:tgtEl>
                                      </p:cBhvr>
                                    </p:animEffect>
                                  </p:childTnLst>
                                </p:cTn>
                              </p:par>
                              <p:par>
                                <p:cTn id="23" presetID="10" presetClass="entr" presetSubtype="0"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400"/>
                                        <p:tgtEl>
                                          <p:spTgt spid="11"/>
                                        </p:tgtEl>
                                      </p:cBhvr>
                                    </p:animEffect>
                                  </p:childTnLst>
                                </p:cTn>
                              </p:par>
                              <p:par>
                                <p:cTn id="26" presetID="10" presetClass="entr" presetSubtype="0" fill="hold"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400"/>
                                        <p:tgtEl>
                                          <p:spTgt spid="12"/>
                                        </p:tgtEl>
                                      </p:cBhvr>
                                    </p:animEffect>
                                  </p:childTnLst>
                                </p:cTn>
                              </p:par>
                              <p:par>
                                <p:cTn id="29" presetID="10" presetClass="entr" presetSubtype="0"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400"/>
                                        <p:tgtEl>
                                          <p:spTgt spid="13"/>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par>
                                <p:cTn id="37" presetID="10" presetClass="entr" presetSubtype="0" fill="hold"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400"/>
                                        <p:tgtEl>
                                          <p:spTgt spid="15"/>
                                        </p:tgtEl>
                                      </p:cBhvr>
                                    </p:animEffect>
                                  </p:childTnLst>
                                </p:cTn>
                              </p:par>
                              <p:par>
                                <p:cTn id="40" presetID="10" presetClass="entr" presetSubtype="0" fill="hold" nodeType="with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400"/>
                                        <p:tgtEl>
                                          <p:spTgt spid="16"/>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400"/>
                                        <p:tgtEl>
                                          <p:spTgt spid="21"/>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nodeType="clickEffect">
                                  <p:stCondLst>
                                    <p:cond delay="0"/>
                                  </p:stCondLst>
                                  <p:childTnLst>
                                    <p:set>
                                      <p:cBhvr>
                                        <p:cTn id="67" dur="1" fill="hold">
                                          <p:stCondLst>
                                            <p:cond delay="0"/>
                                          </p:stCondLst>
                                        </p:cTn>
                                        <p:tgtEl>
                                          <p:spTgt spid="22"/>
                                        </p:tgtEl>
                                        <p:attrNameLst>
                                          <p:attrName>style.visibility</p:attrName>
                                        </p:attrNameLst>
                                      </p:cBhvr>
                                      <p:to>
                                        <p:strVal val="visible"/>
                                      </p:to>
                                    </p:set>
                                    <p:animEffect transition="in" filter="fade">
                                      <p:cBhvr>
                                        <p:cTn id="68" dur="400"/>
                                        <p:tgtEl>
                                          <p:spTgt spid="22"/>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nodeType="clickEffect">
                                  <p:stCondLst>
                                    <p:cond delay="0"/>
                                  </p:stCondLst>
                                  <p:childTnLst>
                                    <p:set>
                                      <p:cBhvr>
                                        <p:cTn id="72" dur="1" fill="hold">
                                          <p:stCondLst>
                                            <p:cond delay="0"/>
                                          </p:stCondLst>
                                        </p:cTn>
                                        <p:tgtEl>
                                          <p:spTgt spid="23"/>
                                        </p:tgtEl>
                                        <p:attrNameLst>
                                          <p:attrName>style.visibility</p:attrName>
                                        </p:attrNameLst>
                                      </p:cBhvr>
                                      <p:to>
                                        <p:strVal val="visible"/>
                                      </p:to>
                                    </p:set>
                                    <p:animEffect transition="in" filter="fade">
                                      <p:cBhvr>
                                        <p:cTn id="73" dur="400"/>
                                        <p:tgtEl>
                                          <p:spTgt spid="23"/>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nodeType="clickEffect">
                                  <p:stCondLst>
                                    <p:cond delay="0"/>
                                  </p:stCondLst>
                                  <p:childTnLst>
                                    <p:set>
                                      <p:cBhvr>
                                        <p:cTn id="77" dur="1" fill="hold">
                                          <p:stCondLst>
                                            <p:cond delay="0"/>
                                          </p:stCondLst>
                                        </p:cTn>
                                        <p:tgtEl>
                                          <p:spTgt spid="24"/>
                                        </p:tgtEl>
                                        <p:attrNameLst>
                                          <p:attrName>style.visibility</p:attrName>
                                        </p:attrNameLst>
                                      </p:cBhvr>
                                      <p:to>
                                        <p:strVal val="visible"/>
                                      </p:to>
                                    </p:set>
                                    <p:animEffect transition="in" filter="fade">
                                      <p:cBhvr>
                                        <p:cTn id="78" dur="400"/>
                                        <p:tgtEl>
                                          <p:spTgt spid="24"/>
                                        </p:tgtEl>
                                      </p:cBhvr>
                                    </p:animEffect>
                                  </p:childTnLst>
                                </p:cTn>
                              </p:par>
                              <p:par>
                                <p:cTn id="79" presetID="10" presetClass="entr" presetSubtype="0" fill="hold" nodeType="withEffect">
                                  <p:stCondLst>
                                    <p:cond delay="0"/>
                                  </p:stCondLst>
                                  <p:childTnLst>
                                    <p:set>
                                      <p:cBhvr>
                                        <p:cTn id="80" dur="1" fill="hold">
                                          <p:stCondLst>
                                            <p:cond delay="0"/>
                                          </p:stCondLst>
                                        </p:cTn>
                                        <p:tgtEl>
                                          <p:spTgt spid="25"/>
                                        </p:tgtEl>
                                        <p:attrNameLst>
                                          <p:attrName>style.visibility</p:attrName>
                                        </p:attrNameLst>
                                      </p:cBhvr>
                                      <p:to>
                                        <p:strVal val="visible"/>
                                      </p:to>
                                    </p:set>
                                    <p:animEffect transition="in" filter="fade">
                                      <p:cBhvr>
                                        <p:cTn id="81"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56032"/>
            <a:ext cx="11064240" cy="292608"/>
          </a:xfrm>
          <a:prstGeom prst="rect">
            <a:avLst/>
          </a:prstGeom>
          <a:noFill/>
          <a:ln/>
        </p:spPr>
        <p:txBody>
          <a:bodyPr wrap="square" lIns="0" tIns="0" rIns="0" bIns="0" rtlCol="0" anchor="ctr"/>
          <a:lstStyle/>
          <a:p>
            <a:pPr marL="0" indent="0">
              <a:buNone/>
            </a:pPr>
            <a:r>
              <a:rPr lang="en-US" sz="1300" b="1" dirty="0">
                <a:solidFill>
                  <a:schemeClr val="accent4"/>
                </a:solidFill>
                <a:latin typeface="Times New Roman" pitchFamily="34" charset="0"/>
                <a:ea typeface="Times New Roman" pitchFamily="34" charset="-122"/>
                <a:cs typeface="Times New Roman" pitchFamily="34" charset="-120"/>
              </a:rPr>
              <a:t>4-mavzu · EKUB va teskari element (3/3)</a:t>
            </a:r>
            <a:endParaRPr lang="en-US" sz="1300" dirty="0"/>
          </a:p>
        </p:txBody>
      </p:sp>
      <p:sp>
        <p:nvSpPr>
          <p:cNvPr id="3" name="Text 1"/>
          <p:cNvSpPr>
            <a:spLocks noGrp="1"/>
          </p:cNvSpPr>
          <p:nvPr>
            <p:ph type="title" idx="102" hasCustomPrompt="1"/>
          </p:nvPr>
        </p:nvSpPr>
        <p:spPr>
          <a:xfrm>
            <a:off x="548640" y="530352"/>
            <a:ext cx="1106424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Teskari element amalda: affin shifr kalitini ochish</a:t>
            </a:r>
            <a:endParaRPr lang="en-US" sz="3200" dirty="0"/>
          </a:p>
        </p:txBody>
      </p:sp>
      <p:sp>
        <p:nvSpPr>
          <p:cNvPr id="5" name="A1_237"/>
          <p:cNvSpPr txBox="1"/>
          <p:nvPr/>
        </p:nvSpPr>
        <p:spPr>
          <a:xfrm>
            <a:off x="548640" y="1417320"/>
            <a:ext cx="7315200" cy="411480"/>
          </a:xfrm>
          <a:prstGeom prst="rect">
            <a:avLst/>
          </a:prstGeom>
          <a:noFill/>
          <a:ln/>
        </p:spPr>
        <p:txBody>
          <a:bodyPr wrap="square" lIns="0" tIns="0" rIns="0" bIns="0" rtlCol="0" anchor="ctr"/>
          <a:lstStyle/>
          <a:p>
            <a:pPr marL="0" indent="0" algn="l">
              <a:buNone/>
            </a:pPr>
            <a:r>
              <a:rPr lang="en-US" sz="1700" dirty="0">
                <a:solidFill>
                  <a:schemeClr val="tx2"/>
                </a:solidFill>
              </a:rPr>
              <a:t>Affin shifr  y = ax + b (mod 26).  Raqib biladi: </a:t>
            </a:r>
            <a:r>
              <a:rPr lang="en-US" sz="1700" b="1" dirty="0">
                <a:solidFill>
                  <a:schemeClr val="tx2"/>
                </a:solidFill>
                <a:latin typeface="Courier New" pitchFamily="34" charset="0"/>
                <a:ea typeface="Courier New" pitchFamily="34" charset="-122"/>
                <a:cs typeface="Courier New" pitchFamily="34" charset="-120"/>
              </a:rPr>
              <a:t>E→C, T→Z</a:t>
            </a:r>
            <a:endParaRPr lang="en-US" sz="1700" dirty="0"/>
          </a:p>
        </p:txBody>
      </p:sp>
      <p:sp>
        <p:nvSpPr>
          <p:cNvPr id="6" name="A2_238"/>
          <p:cNvSpPr txBox="1"/>
          <p:nvPr/>
        </p:nvSpPr>
        <p:spPr>
          <a:xfrm>
            <a:off x="548640" y="2057400"/>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7" name="A2_239"/>
          <p:cNvSpPr txBox="1"/>
          <p:nvPr/>
        </p:nvSpPr>
        <p:spPr>
          <a:xfrm>
            <a:off x="1234440" y="2057400"/>
            <a:ext cx="4023360" cy="502920"/>
          </a:xfrm>
          <a:prstGeom prst="rect">
            <a:avLst/>
          </a:prstGeom>
          <a:noFill/>
          <a:ln/>
        </p:spPr>
        <p:txBody>
          <a:bodyPr wrap="square" lIns="0" tIns="0" rIns="0" bIns="0" rtlCol="0" anchor="ctr"/>
          <a:lstStyle/>
          <a:p>
            <a:pPr marL="0" indent="0" algn="l">
              <a:buNone/>
            </a:pPr>
            <a:r>
              <a:rPr lang="en-US" sz="1700" b="1" dirty="0">
                <a:solidFill>
                  <a:schemeClr val="tx1"/>
                </a:solidFill>
              </a:rPr>
              <a:t>4a + b ≡ 2,   19a + b ≡ 25</a:t>
            </a:r>
            <a:endParaRPr lang="en-US" sz="1700" dirty="0"/>
          </a:p>
        </p:txBody>
      </p:sp>
      <p:sp>
        <p:nvSpPr>
          <p:cNvPr id="8" name="A2_240"/>
          <p:cNvSpPr txBox="1"/>
          <p:nvPr/>
        </p:nvSpPr>
        <p:spPr>
          <a:xfrm>
            <a:off x="5303520" y="2057400"/>
            <a:ext cx="2468880" cy="502920"/>
          </a:xfrm>
          <a:prstGeom prst="rect">
            <a:avLst/>
          </a:prstGeom>
          <a:noFill/>
          <a:ln/>
        </p:spPr>
        <p:txBody>
          <a:bodyPr wrap="square" lIns="0" tIns="0" rIns="0" bIns="0" rtlCol="0" anchor="ctr"/>
          <a:lstStyle/>
          <a:p>
            <a:pPr marL="0" indent="0" algn="l">
              <a:buNone/>
            </a:pPr>
            <a:r>
              <a:rPr lang="en-US" sz="1400" dirty="0">
                <a:solidFill>
                  <a:srgbClr val="52514E"/>
                </a:solidFill>
              </a:rPr>
              <a:t>E = 4 → C = 2;  T = 19 → Z = 25</a:t>
            </a:r>
            <a:endParaRPr lang="en-US" sz="1400" dirty="0"/>
          </a:p>
        </p:txBody>
      </p:sp>
      <p:sp>
        <p:nvSpPr>
          <p:cNvPr id="9" name="A3_241"/>
          <p:cNvSpPr txBox="1"/>
          <p:nvPr/>
        </p:nvSpPr>
        <p:spPr>
          <a:xfrm>
            <a:off x="548640" y="2834640"/>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0" name="A3_242"/>
          <p:cNvSpPr txBox="1"/>
          <p:nvPr/>
        </p:nvSpPr>
        <p:spPr>
          <a:xfrm>
            <a:off x="1234440" y="2834640"/>
            <a:ext cx="4023360" cy="502920"/>
          </a:xfrm>
          <a:prstGeom prst="rect">
            <a:avLst/>
          </a:prstGeom>
          <a:noFill/>
          <a:ln/>
        </p:spPr>
        <p:txBody>
          <a:bodyPr wrap="square" lIns="0" tIns="0" rIns="0" bIns="0" rtlCol="0" anchor="ctr"/>
          <a:lstStyle/>
          <a:p>
            <a:pPr marL="0" indent="0" algn="l">
              <a:buNone/>
            </a:pPr>
            <a:r>
              <a:rPr lang="en-US" sz="1700" b="1" dirty="0">
                <a:solidFill>
                  <a:schemeClr val="tx1"/>
                </a:solidFill>
              </a:rPr>
              <a:t>15a ≡ 23</a:t>
            </a:r>
            <a:endParaRPr lang="en-US" sz="1700" dirty="0"/>
          </a:p>
        </p:txBody>
      </p:sp>
      <p:sp>
        <p:nvSpPr>
          <p:cNvPr id="11" name="A3_243"/>
          <p:cNvSpPr txBox="1"/>
          <p:nvPr/>
        </p:nvSpPr>
        <p:spPr>
          <a:xfrm>
            <a:off x="5303520" y="2834640"/>
            <a:ext cx="2468880" cy="502920"/>
          </a:xfrm>
          <a:prstGeom prst="rect">
            <a:avLst/>
          </a:prstGeom>
          <a:noFill/>
          <a:ln/>
        </p:spPr>
        <p:txBody>
          <a:bodyPr wrap="square" lIns="0" tIns="0" rIns="0" bIns="0" rtlCol="0" anchor="ctr"/>
          <a:lstStyle/>
          <a:p>
            <a:pPr marL="0" indent="0" algn="l">
              <a:buNone/>
            </a:pPr>
            <a:r>
              <a:rPr lang="en-US" sz="1400" dirty="0">
                <a:solidFill>
                  <a:srgbClr val="52514E"/>
                </a:solidFill>
              </a:rPr>
              <a:t>ayiramiz — b yo‘qoladi</a:t>
            </a:r>
            <a:endParaRPr lang="en-US" sz="1400" dirty="0"/>
          </a:p>
        </p:txBody>
      </p:sp>
      <p:sp>
        <p:nvSpPr>
          <p:cNvPr id="12" name="A4_244"/>
          <p:cNvSpPr txBox="1"/>
          <p:nvPr/>
        </p:nvSpPr>
        <p:spPr>
          <a:xfrm>
            <a:off x="548640" y="3611880"/>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3" name="A4_245"/>
          <p:cNvSpPr txBox="1"/>
          <p:nvPr/>
        </p:nvSpPr>
        <p:spPr>
          <a:xfrm>
            <a:off x="1234440" y="3611880"/>
            <a:ext cx="4023360" cy="502920"/>
          </a:xfrm>
          <a:prstGeom prst="rect">
            <a:avLst/>
          </a:prstGeom>
          <a:noFill/>
          <a:ln/>
        </p:spPr>
        <p:txBody>
          <a:bodyPr wrap="square" lIns="0" tIns="0" rIns="0" bIns="0" rtlCol="0" anchor="ctr"/>
          <a:lstStyle/>
          <a:p>
            <a:pPr marL="0" indent="0" algn="l">
              <a:buNone/>
            </a:pPr>
            <a:r>
              <a:rPr lang="en-US" sz="1700" b="1" dirty="0">
                <a:solidFill>
                  <a:schemeClr val="tx1"/>
                </a:solidFill>
              </a:rPr>
              <a:t>a ≡ 15⁻¹ · 23 = 7 · 23 = 161 ≡ 5</a:t>
            </a:r>
            <a:endParaRPr lang="en-US" sz="1700" dirty="0"/>
          </a:p>
        </p:txBody>
      </p:sp>
      <p:sp>
        <p:nvSpPr>
          <p:cNvPr id="14" name="A4_246"/>
          <p:cNvSpPr txBox="1"/>
          <p:nvPr/>
        </p:nvSpPr>
        <p:spPr>
          <a:xfrm>
            <a:off x="5303520" y="3611880"/>
            <a:ext cx="2468880" cy="502920"/>
          </a:xfrm>
          <a:prstGeom prst="rect">
            <a:avLst/>
          </a:prstGeom>
          <a:noFill/>
          <a:ln/>
        </p:spPr>
        <p:txBody>
          <a:bodyPr wrap="square" lIns="0" tIns="0" rIns="0" bIns="0" rtlCol="0" anchor="ctr"/>
          <a:lstStyle/>
          <a:p>
            <a:pPr marL="0" indent="0" algn="l">
              <a:buNone/>
            </a:pPr>
            <a:r>
              <a:rPr lang="en-US" sz="1400" dirty="0">
                <a:solidFill>
                  <a:srgbClr val="52514E"/>
                </a:solidFill>
              </a:rPr>
              <a:t>15⁻¹ = 7 (Evklid, oldingi slayd)</a:t>
            </a:r>
            <a:endParaRPr lang="en-US" sz="1400" dirty="0"/>
          </a:p>
        </p:txBody>
      </p:sp>
      <p:sp>
        <p:nvSpPr>
          <p:cNvPr id="15" name="A5_247"/>
          <p:cNvSpPr txBox="1"/>
          <p:nvPr/>
        </p:nvSpPr>
        <p:spPr>
          <a:xfrm>
            <a:off x="548640" y="4389120"/>
            <a:ext cx="502920" cy="50292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16" name="A5_248"/>
          <p:cNvSpPr txBox="1"/>
          <p:nvPr/>
        </p:nvSpPr>
        <p:spPr>
          <a:xfrm>
            <a:off x="1234440" y="4389120"/>
            <a:ext cx="4023360" cy="502920"/>
          </a:xfrm>
          <a:prstGeom prst="rect">
            <a:avLst/>
          </a:prstGeom>
          <a:noFill/>
          <a:ln/>
        </p:spPr>
        <p:txBody>
          <a:bodyPr wrap="square" lIns="0" tIns="0" rIns="0" bIns="0" rtlCol="0" anchor="ctr"/>
          <a:lstStyle/>
          <a:p>
            <a:pPr marL="0" indent="0" algn="l">
              <a:buNone/>
            </a:pPr>
            <a:r>
              <a:rPr lang="en-US" sz="1700" b="1" dirty="0">
                <a:solidFill>
                  <a:schemeClr val="tx1"/>
                </a:solidFill>
              </a:rPr>
              <a:t>b ≡ 2 − 4 · 5 = −18 ≡ 8</a:t>
            </a:r>
            <a:endParaRPr lang="en-US" sz="1700" dirty="0"/>
          </a:p>
        </p:txBody>
      </p:sp>
      <p:sp>
        <p:nvSpPr>
          <p:cNvPr id="17" name="A5_249"/>
          <p:cNvSpPr txBox="1"/>
          <p:nvPr/>
        </p:nvSpPr>
        <p:spPr>
          <a:xfrm>
            <a:off x="5303520" y="4389120"/>
            <a:ext cx="2468880" cy="502920"/>
          </a:xfrm>
          <a:prstGeom prst="rect">
            <a:avLst/>
          </a:prstGeom>
          <a:noFill/>
          <a:ln/>
        </p:spPr>
        <p:txBody>
          <a:bodyPr wrap="square" lIns="0" tIns="0" rIns="0" bIns="0" rtlCol="0" anchor="ctr"/>
          <a:lstStyle/>
          <a:p>
            <a:pPr marL="0" indent="0" algn="l">
              <a:buNone/>
            </a:pPr>
            <a:r>
              <a:rPr lang="en-US" sz="1400" dirty="0">
                <a:solidFill>
                  <a:srgbClr val="52514E"/>
                </a:solidFill>
              </a:rPr>
              <a:t>kalit (a, b) = (5, 8)</a:t>
            </a:r>
            <a:endParaRPr lang="en-US" sz="1400" dirty="0"/>
          </a:p>
        </p:txBody>
      </p:sp>
      <p:sp>
        <p:nvSpPr>
          <p:cNvPr id="18" name="A6_250"/>
          <p:cNvSpPr txBox="1"/>
          <p:nvPr/>
        </p:nvSpPr>
        <p:spPr>
          <a:xfrm>
            <a:off x="548640" y="5257800"/>
            <a:ext cx="7223760" cy="914400"/>
          </a:xfrm>
          <a:prstGeom prst="roundRect">
            <a:avLst>
              <a:gd name="adj" fmla="val 8000"/>
            </a:avLst>
          </a:prstGeom>
          <a:solidFill>
            <a:schemeClr val="accent3">
              <a:alpha val="12000"/>
            </a:schemeClr>
          </a:solidFill>
          <a:ln>
            <a:solidFill>
              <a:schemeClr val="accent3">
                <a:alpha val="0"/>
              </a:schemeClr>
            </a:solidFill>
          </a:ln>
        </p:spPr>
        <p:txBody>
          <a:bodyPr wrap="square" lIns="76200" tIns="127000" rIns="127000" bIns="76200" rtlCol="0" anchor="t"/>
          <a:lstStyle/>
          <a:p>
            <a:pPr marL="0" indent="0" algn="l">
              <a:spcAft>
                <a:spcPts val="300"/>
              </a:spcAft>
              <a:buNone/>
            </a:pPr>
            <a:r>
              <a:rPr lang="en-US" sz="1700" b="1" dirty="0">
                <a:solidFill>
                  <a:schemeClr val="accent3"/>
                </a:solidFill>
              </a:rPr>
              <a:t>Xulosa</a:t>
            </a:r>
            <a:endParaRPr lang="en-US" sz="1700" dirty="0"/>
          </a:p>
          <a:p>
            <a:pPr marL="0" indent="0" algn="l">
              <a:spcAft>
                <a:spcPts val="300"/>
              </a:spcAft>
              <a:buNone/>
            </a:pPr>
            <a:r>
              <a:rPr lang="en-US" sz="1600" dirty="0">
                <a:solidFill>
                  <a:schemeClr val="tx1"/>
                </a:solidFill>
              </a:rPr>
              <a:t>Ikki juft ma’lum harf affin shifrning butun kalitini ochadi (ma’lum ochiq matn hujumi, 1-mavzu).</a:t>
            </a:r>
            <a:endParaRPr lang="en-US" sz="1700" dirty="0"/>
          </a:p>
        </p:txBody>
      </p:sp>
      <p:sp>
        <p:nvSpPr>
          <p:cNvPr id="19" name="A7_251"/>
          <p:cNvSpPr txBox="1"/>
          <p:nvPr/>
        </p:nvSpPr>
        <p:spPr>
          <a:xfrm>
            <a:off x="8001000" y="1417320"/>
            <a:ext cx="3657600" cy="4754880"/>
          </a:xfrm>
          <a:prstGeom prst="roundRect">
            <a:avLst>
              <a:gd name="adj" fmla="val 2000"/>
            </a:avLst>
          </a:prstGeom>
          <a:solidFill>
            <a:schemeClr val="accent6">
              <a:alpha val="12000"/>
            </a:schemeClr>
          </a:solidFill>
          <a:ln>
            <a:solidFill>
              <a:schemeClr val="accent6">
                <a:alpha val="0"/>
              </a:schemeClr>
            </a:solidFill>
          </a:ln>
        </p:spPr>
        <p:txBody>
          <a:bodyPr wrap="square" lIns="76200" tIns="127000" rIns="127000" bIns="76200" rtlCol="0" anchor="t"/>
          <a:lstStyle/>
          <a:p>
            <a:pPr marL="0" indent="0" algn="l">
              <a:spcAft>
                <a:spcPts val="300"/>
              </a:spcAft>
              <a:buNone/>
            </a:pPr>
            <a:r>
              <a:rPr lang="en-US" sz="1700" b="1" dirty="0">
                <a:solidFill>
                  <a:schemeClr val="accent6"/>
                </a:solidFill>
              </a:rPr>
              <a:t>EKUK va davr: M-209 shifr mashinasi</a:t>
            </a:r>
            <a:endParaRPr lang="en-US" sz="1700" dirty="0"/>
          </a:p>
          <a:p>
            <a:pPr marL="0" indent="0" algn="l">
              <a:spcAft>
                <a:spcPts val="300"/>
              </a:spcAft>
              <a:buNone/>
            </a:pPr>
            <a:r>
              <a:rPr lang="en-US" sz="1500" dirty="0">
                <a:solidFill>
                  <a:schemeClr val="tx1"/>
                </a:solidFill>
              </a:rPr>
              <a:t>Ikki tishli g‘ildirak bir vaqtda boshlang‘ich holatga qachon qaytadi? → EKUK qadamda.</a:t>
            </a:r>
            <a:endParaRPr lang="en-US" sz="1700" dirty="0"/>
          </a:p>
          <a:p>
            <a:pPr marL="0" indent="0" algn="l">
              <a:spcAft>
                <a:spcPts val="300"/>
              </a:spcAft>
              <a:buNone/>
            </a:pPr>
            <a:r>
              <a:rPr lang="en-US" sz="600" dirty="0">
                <a:solidFill>
                  <a:schemeClr val="tx1"/>
                </a:solidFill>
              </a:rPr>
              <a:t> </a:t>
            </a:r>
            <a:endParaRPr lang="en-US" sz="1700" dirty="0"/>
          </a:p>
          <a:p>
            <a:pPr marL="0" indent="0" algn="l">
              <a:spcAft>
                <a:spcPts val="300"/>
              </a:spcAft>
              <a:buNone/>
            </a:pPr>
            <a:r>
              <a:rPr lang="en-US" sz="1500" dirty="0">
                <a:solidFill>
                  <a:schemeClr val="tx1"/>
                </a:solidFill>
              </a:rPr>
              <a:t>4 va 6 tish: EKUK = 12 (ko‘paytma 24 emas)</a:t>
            </a:r>
            <a:endParaRPr lang="en-US" sz="1700" dirty="0"/>
          </a:p>
          <a:p>
            <a:pPr marL="0" indent="0" algn="l">
              <a:spcAft>
                <a:spcPts val="300"/>
              </a:spcAft>
              <a:buNone/>
            </a:pPr>
            <a:r>
              <a:rPr lang="en-US" sz="1500" dirty="0">
                <a:solidFill>
                  <a:schemeClr val="tx1"/>
                </a:solidFill>
              </a:rPr>
              <a:t>3 va 4 tish: EKUK = 12 = 3 · 4 — o‘zaro tub</a:t>
            </a:r>
            <a:endParaRPr lang="en-US" sz="1700" dirty="0"/>
          </a:p>
          <a:p>
            <a:pPr marL="0" indent="0" algn="l">
              <a:spcAft>
                <a:spcPts val="300"/>
              </a:spcAft>
              <a:buNone/>
            </a:pPr>
            <a:r>
              <a:rPr lang="en-US" sz="600" dirty="0">
                <a:solidFill>
                  <a:schemeClr val="tx1"/>
                </a:solidFill>
              </a:rPr>
              <a:t> </a:t>
            </a:r>
            <a:endParaRPr lang="en-US" sz="1700" dirty="0"/>
          </a:p>
          <a:p>
            <a:pPr marL="0" indent="0" algn="l">
              <a:spcAft>
                <a:spcPts val="300"/>
              </a:spcAft>
              <a:buNone/>
            </a:pPr>
            <a:r>
              <a:rPr lang="en-US" sz="1500" dirty="0">
                <a:solidFill>
                  <a:schemeClr val="tx1"/>
                </a:solidFill>
              </a:rPr>
              <a:t>M-209: 6 g‘ildirak — 26, 25, 23, 21, 19, 17 tish, o‘zaro tub ⇒</a:t>
            </a:r>
            <a:endParaRPr lang="en-US" sz="1700" dirty="0"/>
          </a:p>
          <a:p>
            <a:pPr marL="0" indent="0" algn="l">
              <a:spcAft>
                <a:spcPts val="300"/>
              </a:spcAft>
              <a:buNone/>
            </a:pPr>
            <a:r>
              <a:rPr lang="en-US" sz="1700" b="1" dirty="0">
                <a:solidFill>
                  <a:schemeClr val="tx1"/>
                </a:solidFill>
              </a:rPr>
              <a:t>davr = 101 405 850</a:t>
            </a:r>
            <a:endParaRPr lang="en-US" sz="1700" dirty="0"/>
          </a:p>
          <a:p>
            <a:pPr marL="0" indent="0" algn="l">
              <a:spcAft>
                <a:spcPts val="300"/>
              </a:spcAft>
              <a:buNone/>
            </a:pPr>
            <a:r>
              <a:rPr lang="en-US" sz="600" dirty="0">
                <a:solidFill>
                  <a:schemeClr val="tx1"/>
                </a:solidFill>
              </a:rPr>
              <a:t> </a:t>
            </a:r>
            <a:endParaRPr lang="en-US" sz="1700" dirty="0"/>
          </a:p>
          <a:p>
            <a:pPr marL="0" indent="0" algn="l">
              <a:spcAft>
                <a:spcPts val="300"/>
              </a:spcAft>
              <a:buNone/>
            </a:pPr>
            <a:r>
              <a:rPr lang="en-US" sz="1500" i="1" dirty="0">
                <a:solidFill>
                  <a:srgbClr val="52514E"/>
                </a:solidFill>
              </a:rPr>
              <a:t>Davr uzun → kalit takrorlanmaydi → shifrni ochish qiyinlashadi (11, 17-mavzular).</a:t>
            </a:r>
            <a:endParaRPr lang="en-US" sz="17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D99AE"/>
                </a:solidFill>
                <a:latin typeface="Times New Roman"/>
                <a:ea typeface="Times New Roman"/>
                <a:cs typeface="Times New Roman"/>
              </a:defRPr>
            </a:lvl1pPr>
          </a:lstStyle>
          <a:p>
            <a:pPr algn="r"/>
            <a:fld id="{F7021451-1387-4CA6-816F-3879F97B5CBC}" type="slidenum">
              <a:rPr lang="en-US" b="0"/>
              <a:t>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400"/>
                                        <p:tgtEl>
                                          <p:spTgt spid="6"/>
                                        </p:tgtEl>
                                      </p:cBhvr>
                                    </p:animEffect>
                                  </p:childTnLst>
                                </p:cTn>
                              </p:par>
                              <p:par>
                                <p:cTn id="13" presetID="10"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400"/>
                                        <p:tgtEl>
                                          <p:spTgt spid="7"/>
                                        </p:tgtEl>
                                      </p:cBhvr>
                                    </p:animEffect>
                                  </p:childTnLst>
                                </p:cTn>
                              </p:par>
                              <p:par>
                                <p:cTn id="16" presetID="10" presetClass="entr" presetSubtype="0" fill="hold"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4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400"/>
                                        <p:tgtEl>
                                          <p:spTgt spid="9"/>
                                        </p:tgtEl>
                                      </p:cBhvr>
                                    </p:animEffect>
                                  </p:childTnLst>
                                </p:cTn>
                              </p:par>
                              <p:par>
                                <p:cTn id="24" presetID="10" presetClass="entr" presetSubtype="0" fill="hold"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400"/>
                                        <p:tgtEl>
                                          <p:spTgt spid="10"/>
                                        </p:tgtEl>
                                      </p:cBhvr>
                                    </p:animEffect>
                                  </p:childTnLst>
                                </p:cTn>
                              </p:par>
                              <p:par>
                                <p:cTn id="27" presetID="10" presetClass="entr" presetSubtype="0" fill="hold"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400"/>
                                        <p:tgtEl>
                                          <p:spTgt spid="11"/>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400"/>
                                        <p:tgtEl>
                                          <p:spTgt spid="12"/>
                                        </p:tgtEl>
                                      </p:cBhvr>
                                    </p:animEffect>
                                  </p:childTnLst>
                                </p:cTn>
                              </p:par>
                              <p:par>
                                <p:cTn id="35" presetID="10" presetClass="entr" presetSubtype="0" fill="hold"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400"/>
                                        <p:tgtEl>
                                          <p:spTgt spid="13"/>
                                        </p:tgtEl>
                                      </p:cBhvr>
                                    </p:animEffect>
                                  </p:childTnLst>
                                </p:cTn>
                              </p:par>
                              <p:par>
                                <p:cTn id="38" presetID="10" presetClass="entr" presetSubtype="0" fill="hold"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400"/>
                                        <p:tgtEl>
                                          <p:spTgt spid="14"/>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400"/>
                                        <p:tgtEl>
                                          <p:spTgt spid="15"/>
                                        </p:tgtEl>
                                      </p:cBhvr>
                                    </p:animEffect>
                                  </p:childTnLst>
                                </p:cTn>
                              </p:par>
                              <p:par>
                                <p:cTn id="46" presetID="10" presetClass="entr" presetSubtype="0" fill="hold" nodeType="with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400"/>
                                        <p:tgtEl>
                                          <p:spTgt spid="16"/>
                                        </p:tgtEl>
                                      </p:cBhvr>
                                    </p:animEffect>
                                  </p:childTnLst>
                                </p:cTn>
                              </p:par>
                              <p:par>
                                <p:cTn id="49" presetID="10" presetClass="entr" presetSubtype="0" fill="hold" nodeType="with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400"/>
                                        <p:tgtEl>
                                          <p:spTgt spid="17"/>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18"/>
                                        </p:tgtEl>
                                        <p:attrNameLst>
                                          <p:attrName>style.visibility</p:attrName>
                                        </p:attrNameLst>
                                      </p:cBhvr>
                                      <p:to>
                                        <p:strVal val="visible"/>
                                      </p:to>
                                    </p:set>
                                    <p:animEffect transition="in" filter="fade">
                                      <p:cBhvr>
                                        <p:cTn id="56" dur="400"/>
                                        <p:tgtEl>
                                          <p:spTgt spid="18"/>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19"/>
                                        </p:tgtEl>
                                        <p:attrNameLst>
                                          <p:attrName>style.visibility</p:attrName>
                                        </p:attrNameLst>
                                      </p:cBhvr>
                                      <p:to>
                                        <p:strVal val="visible"/>
                                      </p:to>
                                    </p:set>
                                    <p:animEffect transition="in" filter="fade">
                                      <p:cBhvr>
                                        <p:cTn id="61"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56032"/>
            <a:ext cx="11064240" cy="292608"/>
          </a:xfrm>
          <a:prstGeom prst="rect">
            <a:avLst/>
          </a:prstGeom>
          <a:noFill/>
          <a:ln/>
        </p:spPr>
        <p:txBody>
          <a:bodyPr wrap="square" lIns="0" tIns="0" rIns="0" bIns="0" rtlCol="0" anchor="ctr"/>
          <a:lstStyle/>
          <a:p>
            <a:pPr marL="0" indent="0">
              <a:buNone/>
            </a:pPr>
            <a:r>
              <a:rPr lang="en-US" sz="1300" b="1" dirty="0">
                <a:solidFill>
                  <a:schemeClr val="accent4"/>
                </a:solidFill>
                <a:latin typeface="Times New Roman" pitchFamily="34" charset="0"/>
                <a:ea typeface="Times New Roman" pitchFamily="34" charset="-122"/>
                <a:cs typeface="Times New Roman" pitchFamily="34" charset="-120"/>
              </a:rPr>
              <a:t>5-mavzu · Kombinatorika (1/3)</a:t>
            </a:r>
            <a:endParaRPr lang="en-US" sz="1300" dirty="0"/>
          </a:p>
        </p:txBody>
      </p:sp>
      <p:sp>
        <p:nvSpPr>
          <p:cNvPr id="3" name="Text 1"/>
          <p:cNvSpPr>
            <a:spLocks noGrp="1"/>
          </p:cNvSpPr>
          <p:nvPr>
            <p:ph type="title" idx="102" hasCustomPrompt="1"/>
          </p:nvPr>
        </p:nvSpPr>
        <p:spPr>
          <a:xfrm>
            <a:off x="548640" y="530352"/>
            <a:ext cx="1106424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To‘rt formula — to‘rt shifr</a:t>
            </a:r>
            <a:endParaRPr lang="en-US" sz="3200" dirty="0"/>
          </a:p>
        </p:txBody>
      </p:sp>
      <p:sp>
        <p:nvSpPr>
          <p:cNvPr id="5" name="A1_252"/>
          <p:cNvSpPr txBox="1"/>
          <p:nvPr/>
        </p:nvSpPr>
        <p:spPr>
          <a:xfrm>
            <a:off x="548640" y="1463040"/>
            <a:ext cx="3794760" cy="868680"/>
          </a:xfrm>
          <a:prstGeom prst="roundRect">
            <a:avLst>
              <a:gd name="adj" fmla="val 8421"/>
            </a:avLst>
          </a:prstGeom>
          <a:solidFill>
            <a:schemeClr val="accent4"/>
          </a:solidFill>
          <a:ln>
            <a:solidFill>
              <a:schemeClr val="accent4"/>
            </a:solidFill>
          </a:ln>
        </p:spPr>
        <p:txBody>
          <a:bodyPr wrap="square" lIns="0" tIns="0" rIns="0" bIns="0" rtlCol="0" anchor="ctr"/>
          <a:lstStyle/>
          <a:p>
            <a:pPr marL="0" indent="0" algn="ctr">
              <a:buNone/>
            </a:pPr>
            <a:r>
              <a:rPr lang="en-US" sz="2800" b="1" i="1" dirty="0">
                <a:solidFill>
                  <a:schemeClr val="bg1"/>
                </a:solidFill>
                <a:latin typeface="Cambria" pitchFamily="34" charset="0"/>
                <a:ea typeface="Cambria" pitchFamily="34" charset="-122"/>
                <a:cs typeface="Cambria" pitchFamily="34" charset="-120"/>
              </a:rPr>
              <a:t>nᵏ</a:t>
            </a:r>
            <a:endParaRPr lang="en-US" sz="2800" dirty="0"/>
          </a:p>
        </p:txBody>
      </p:sp>
      <p:sp>
        <p:nvSpPr>
          <p:cNvPr id="6" name="A1_253"/>
          <p:cNvSpPr txBox="1"/>
          <p:nvPr/>
        </p:nvSpPr>
        <p:spPr>
          <a:xfrm>
            <a:off x="548640" y="2377440"/>
            <a:ext cx="3794760" cy="1325880"/>
          </a:xfrm>
          <a:prstGeom prst="roundRect">
            <a:avLst>
              <a:gd name="adj" fmla="val 5517"/>
            </a:avLst>
          </a:prstGeom>
          <a:solidFill>
            <a:schemeClr val="accent4">
              <a:alpha val="12000"/>
            </a:schemeClr>
          </a:solidFill>
          <a:ln>
            <a:solidFill>
              <a:schemeClr val="accent4">
                <a:alpha val="0"/>
              </a:schemeClr>
            </a:solidFill>
          </a:ln>
        </p:spPr>
        <p:txBody>
          <a:bodyPr wrap="square" lIns="76200" tIns="127000" rIns="127000" bIns="76200" rtlCol="0" anchor="t"/>
          <a:lstStyle/>
          <a:p>
            <a:pPr marL="0" indent="0" algn="l">
              <a:spcAft>
                <a:spcPts val="300"/>
              </a:spcAft>
              <a:buNone/>
            </a:pPr>
            <a:r>
              <a:rPr lang="en-US" sz="1600" b="1" dirty="0">
                <a:solidFill>
                  <a:schemeClr val="accent4"/>
                </a:solidFill>
              </a:rPr>
              <a:t>takrorli so‘zlar</a:t>
            </a:r>
            <a:endParaRPr lang="en-US" sz="1600" dirty="0"/>
          </a:p>
          <a:p>
            <a:pPr marL="0" indent="0" algn="l">
              <a:spcAft>
                <a:spcPts val="300"/>
              </a:spcAft>
              <a:buNone/>
            </a:pPr>
            <a:r>
              <a:rPr lang="en-US" sz="1500" dirty="0">
                <a:solidFill>
                  <a:schemeClr val="tx1"/>
                </a:solidFill>
              </a:rPr>
              <a:t>Vijener kaliti, 5 harf: 26⁵ ≈ 1,2·10⁷</a:t>
            </a:r>
            <a:endParaRPr lang="en-US" sz="1600" dirty="0"/>
          </a:p>
          <a:p>
            <a:pPr marL="0" indent="0" algn="l">
              <a:spcAft>
                <a:spcPts val="300"/>
              </a:spcAft>
              <a:buNone/>
            </a:pPr>
            <a:r>
              <a:rPr lang="en-US" sz="1500" dirty="0">
                <a:solidFill>
                  <a:schemeClr val="tx1"/>
                </a:solidFill>
              </a:rPr>
              <a:t>n bitli kalit: 2ⁿ — har bir bit ×2</a:t>
            </a:r>
            <a:endParaRPr lang="en-US" sz="1600" dirty="0"/>
          </a:p>
        </p:txBody>
      </p:sp>
      <p:sp>
        <p:nvSpPr>
          <p:cNvPr id="7" name="A2_254"/>
          <p:cNvSpPr txBox="1"/>
          <p:nvPr/>
        </p:nvSpPr>
        <p:spPr>
          <a:xfrm>
            <a:off x="4480560" y="1463040"/>
            <a:ext cx="3794760" cy="868680"/>
          </a:xfrm>
          <a:prstGeom prst="roundRect">
            <a:avLst>
              <a:gd name="adj" fmla="val 8421"/>
            </a:avLst>
          </a:prstGeom>
          <a:solidFill>
            <a:schemeClr val="accent2"/>
          </a:solidFill>
          <a:ln>
            <a:solidFill>
              <a:schemeClr val="accent2"/>
            </a:solidFill>
          </a:ln>
        </p:spPr>
        <p:txBody>
          <a:bodyPr wrap="square" lIns="0" tIns="0" rIns="0" bIns="0" rtlCol="0" anchor="ctr"/>
          <a:lstStyle/>
          <a:p>
            <a:pPr marL="0" indent="0" algn="ctr">
              <a:buNone/>
            </a:pPr>
            <a:r>
              <a:rPr lang="en-US" sz="2800" b="1" i="1" dirty="0">
                <a:solidFill>
                  <a:schemeClr val="bg1"/>
                </a:solidFill>
                <a:latin typeface="Cambria" pitchFamily="34" charset="0"/>
                <a:ea typeface="Cambria" pitchFamily="34" charset="-122"/>
                <a:cs typeface="Cambria" pitchFamily="34" charset="-120"/>
              </a:rPr>
              <a:t>n!</a:t>
            </a:r>
            <a:endParaRPr lang="en-US" sz="2800" dirty="0"/>
          </a:p>
        </p:txBody>
      </p:sp>
      <p:sp>
        <p:nvSpPr>
          <p:cNvPr id="8" name="A2_255"/>
          <p:cNvSpPr txBox="1"/>
          <p:nvPr/>
        </p:nvSpPr>
        <p:spPr>
          <a:xfrm>
            <a:off x="4480560" y="2377440"/>
            <a:ext cx="3794760" cy="1325880"/>
          </a:xfrm>
          <a:prstGeom prst="roundRect">
            <a:avLst>
              <a:gd name="adj" fmla="val 5517"/>
            </a:avLst>
          </a:prstGeom>
          <a:solidFill>
            <a:schemeClr val="accent2">
              <a:alpha val="12000"/>
            </a:schemeClr>
          </a:solidFill>
          <a:ln>
            <a:solidFill>
              <a:schemeClr val="accent2">
                <a:alpha val="0"/>
              </a:schemeClr>
            </a:solidFill>
          </a:ln>
        </p:spPr>
        <p:txBody>
          <a:bodyPr wrap="square" lIns="76200" tIns="127000" rIns="127000" bIns="76200" rtlCol="0" anchor="t"/>
          <a:lstStyle/>
          <a:p>
            <a:pPr marL="0" indent="0" algn="l">
              <a:spcAft>
                <a:spcPts val="300"/>
              </a:spcAft>
              <a:buNone/>
            </a:pPr>
            <a:r>
              <a:rPr lang="en-US" sz="1600" b="1" dirty="0">
                <a:solidFill>
                  <a:schemeClr val="accent2"/>
                </a:solidFill>
              </a:rPr>
              <a:t>o‘rin almashtirish</a:t>
            </a:r>
            <a:endParaRPr lang="en-US" sz="1600" dirty="0"/>
          </a:p>
          <a:p>
            <a:pPr marL="0" indent="0" algn="l">
              <a:spcAft>
                <a:spcPts val="300"/>
              </a:spcAft>
              <a:buNone/>
            </a:pPr>
            <a:r>
              <a:rPr lang="en-US" sz="1500" dirty="0">
                <a:solidFill>
                  <a:schemeClr val="tx1"/>
                </a:solidFill>
              </a:rPr>
              <a:t>monoalfavit kalit: 26! ≈ 4·10²⁶ ≈ 2⁸⁸</a:t>
            </a:r>
            <a:endParaRPr lang="en-US" sz="1600" dirty="0"/>
          </a:p>
          <a:p>
            <a:pPr marL="0" indent="0" algn="l">
              <a:spcAft>
                <a:spcPts val="300"/>
              </a:spcAft>
              <a:buNone/>
            </a:pPr>
            <a:r>
              <a:rPr lang="en-US" sz="1500" dirty="0">
                <a:solidFill>
                  <a:schemeClr val="tx1"/>
                </a:solidFill>
              </a:rPr>
              <a:t>to‘liq tanlab bo‘lmaydi (lekin 8-mavzu!)</a:t>
            </a:r>
            <a:endParaRPr lang="en-US" sz="1600" dirty="0"/>
          </a:p>
        </p:txBody>
      </p:sp>
      <p:sp>
        <p:nvSpPr>
          <p:cNvPr id="9" name="A3_256"/>
          <p:cNvSpPr txBox="1"/>
          <p:nvPr/>
        </p:nvSpPr>
        <p:spPr>
          <a:xfrm>
            <a:off x="548640" y="3840480"/>
            <a:ext cx="3794760" cy="868680"/>
          </a:xfrm>
          <a:prstGeom prst="roundRect">
            <a:avLst>
              <a:gd name="adj" fmla="val 8421"/>
            </a:avLst>
          </a:prstGeom>
          <a:solidFill>
            <a:schemeClr val="accent6"/>
          </a:solidFill>
          <a:ln>
            <a:solidFill>
              <a:schemeClr val="accent6"/>
            </a:solidFill>
          </a:ln>
        </p:spPr>
        <p:txBody>
          <a:bodyPr wrap="square" lIns="0" tIns="0" rIns="0" bIns="0" rtlCol="0" anchor="ctr"/>
          <a:lstStyle/>
          <a:p>
            <a:pPr marL="0" indent="0" algn="ctr">
              <a:buNone/>
            </a:pPr>
            <a:r>
              <a:rPr lang="en-US" sz="2800" b="1" i="1" dirty="0">
                <a:solidFill>
                  <a:schemeClr val="bg1"/>
                </a:solidFill>
                <a:latin typeface="Cambria" pitchFamily="34" charset="0"/>
                <a:ea typeface="Cambria" pitchFamily="34" charset="-122"/>
                <a:cs typeface="Cambria" pitchFamily="34" charset="-120"/>
              </a:rPr>
              <a:t>n!/(n−k)!</a:t>
            </a:r>
            <a:endParaRPr lang="en-US" sz="2800" dirty="0"/>
          </a:p>
        </p:txBody>
      </p:sp>
      <p:sp>
        <p:nvSpPr>
          <p:cNvPr id="10" name="A3_257"/>
          <p:cNvSpPr txBox="1"/>
          <p:nvPr/>
        </p:nvSpPr>
        <p:spPr>
          <a:xfrm>
            <a:off x="548640" y="4754880"/>
            <a:ext cx="3794760" cy="1325880"/>
          </a:xfrm>
          <a:prstGeom prst="roundRect">
            <a:avLst>
              <a:gd name="adj" fmla="val 5517"/>
            </a:avLst>
          </a:prstGeom>
          <a:solidFill>
            <a:schemeClr val="accent6">
              <a:alpha val="12000"/>
            </a:schemeClr>
          </a:solidFill>
          <a:ln>
            <a:solidFill>
              <a:schemeClr val="accent6">
                <a:alpha val="0"/>
              </a:schemeClr>
            </a:solidFill>
          </a:ln>
        </p:spPr>
        <p:txBody>
          <a:bodyPr wrap="square" lIns="76200" tIns="127000" rIns="127000" bIns="76200" rtlCol="0" anchor="t"/>
          <a:lstStyle/>
          <a:p>
            <a:pPr marL="0" indent="0" algn="l">
              <a:spcAft>
                <a:spcPts val="300"/>
              </a:spcAft>
              <a:buNone/>
            </a:pPr>
            <a:r>
              <a:rPr lang="en-US" sz="1600" b="1" dirty="0">
                <a:solidFill>
                  <a:schemeClr val="accent6"/>
                </a:solidFill>
              </a:rPr>
              <a:t>tartib bilan tanlash, A(n, k)</a:t>
            </a:r>
            <a:endParaRPr lang="en-US" sz="1600" dirty="0"/>
          </a:p>
          <a:p>
            <a:pPr marL="0" indent="0" algn="l">
              <a:spcAft>
                <a:spcPts val="300"/>
              </a:spcAft>
              <a:buNone/>
            </a:pPr>
            <a:r>
              <a:rPr lang="en-US" sz="1500" dirty="0">
                <a:solidFill>
                  <a:schemeClr val="tx1"/>
                </a:solidFill>
              </a:rPr>
              <a:t>Enigma: 5 rotordan 3 tasi tartib bilan</a:t>
            </a:r>
            <a:endParaRPr lang="en-US" sz="1600" dirty="0"/>
          </a:p>
          <a:p>
            <a:pPr marL="0" indent="0" algn="l">
              <a:spcAft>
                <a:spcPts val="300"/>
              </a:spcAft>
              <a:buNone/>
            </a:pPr>
            <a:r>
              <a:rPr lang="en-US" sz="1500" dirty="0">
                <a:solidFill>
                  <a:schemeClr val="tx1"/>
                </a:solidFill>
              </a:rPr>
              <a:t>A(5, 3) = 5·4·3 = 60</a:t>
            </a:r>
            <a:endParaRPr lang="en-US" sz="1600" dirty="0"/>
          </a:p>
        </p:txBody>
      </p:sp>
      <p:sp>
        <p:nvSpPr>
          <p:cNvPr id="11" name="A4_258"/>
          <p:cNvSpPr txBox="1"/>
          <p:nvPr/>
        </p:nvSpPr>
        <p:spPr>
          <a:xfrm>
            <a:off x="4480560" y="3840480"/>
            <a:ext cx="3794760" cy="868680"/>
          </a:xfrm>
          <a:prstGeom prst="roundRect">
            <a:avLst>
              <a:gd name="adj" fmla="val 8421"/>
            </a:avLst>
          </a:prstGeom>
          <a:solidFill>
            <a:schemeClr val="accent3"/>
          </a:solidFill>
          <a:ln>
            <a:solidFill>
              <a:schemeClr val="accent3"/>
            </a:solidFill>
          </a:ln>
        </p:spPr>
        <p:txBody>
          <a:bodyPr wrap="square" lIns="0" tIns="0" rIns="0" bIns="0" rtlCol="0" anchor="ctr"/>
          <a:lstStyle/>
          <a:p>
            <a:pPr marL="0" indent="0" algn="ctr">
              <a:buNone/>
            </a:pPr>
            <a:r>
              <a:rPr lang="en-US" sz="2800" b="1" i="1" dirty="0">
                <a:solidFill>
                  <a:schemeClr val="bg1"/>
                </a:solidFill>
                <a:latin typeface="Cambria" pitchFamily="34" charset="0"/>
                <a:ea typeface="Cambria" pitchFamily="34" charset="-122"/>
                <a:cs typeface="Cambria" pitchFamily="34" charset="-120"/>
              </a:rPr>
              <a:t>n!/(k!(n−k)!)</a:t>
            </a:r>
            <a:endParaRPr lang="en-US" sz="2800" dirty="0"/>
          </a:p>
        </p:txBody>
      </p:sp>
      <p:sp>
        <p:nvSpPr>
          <p:cNvPr id="12" name="A4_259"/>
          <p:cNvSpPr txBox="1"/>
          <p:nvPr/>
        </p:nvSpPr>
        <p:spPr>
          <a:xfrm>
            <a:off x="4480560" y="4754880"/>
            <a:ext cx="3794760" cy="1325880"/>
          </a:xfrm>
          <a:prstGeom prst="roundRect">
            <a:avLst>
              <a:gd name="adj" fmla="val 5517"/>
            </a:avLst>
          </a:prstGeom>
          <a:solidFill>
            <a:schemeClr val="accent3">
              <a:alpha val="12000"/>
            </a:schemeClr>
          </a:solidFill>
          <a:ln>
            <a:solidFill>
              <a:schemeClr val="accent3">
                <a:alpha val="0"/>
              </a:schemeClr>
            </a:solidFill>
          </a:ln>
        </p:spPr>
        <p:txBody>
          <a:bodyPr wrap="square" lIns="76200" tIns="127000" rIns="127000" bIns="76200" rtlCol="0" anchor="t"/>
          <a:lstStyle/>
          <a:p>
            <a:pPr marL="0" indent="0" algn="l">
              <a:spcAft>
                <a:spcPts val="300"/>
              </a:spcAft>
              <a:buNone/>
            </a:pPr>
            <a:r>
              <a:rPr lang="en-US" sz="1600" b="1" dirty="0">
                <a:solidFill>
                  <a:schemeClr val="accent3"/>
                </a:solidFill>
              </a:rPr>
              <a:t>tartibsiz tanlash, C(n, k)</a:t>
            </a:r>
            <a:endParaRPr lang="en-US" sz="1600" dirty="0"/>
          </a:p>
          <a:p>
            <a:pPr marL="0" indent="0" algn="l">
              <a:spcAft>
                <a:spcPts val="300"/>
              </a:spcAft>
              <a:buNone/>
            </a:pPr>
            <a:r>
              <a:rPr lang="en-US" sz="1500" dirty="0">
                <a:solidFill>
                  <a:schemeClr val="tx1"/>
                </a:solidFill>
              </a:rPr>
              <a:t>Enigma paneli, bitta sim: C(26, 2) = 325</a:t>
            </a:r>
            <a:endParaRPr lang="en-US" sz="1600" dirty="0"/>
          </a:p>
          <a:p>
            <a:pPr marL="0" indent="0" algn="l">
              <a:spcAft>
                <a:spcPts val="300"/>
              </a:spcAft>
              <a:buNone/>
            </a:pPr>
            <a:r>
              <a:rPr lang="en-US" sz="1500" dirty="0">
                <a:solidFill>
                  <a:schemeClr val="tx1"/>
                </a:solidFill>
              </a:rPr>
              <a:t>A–B va B–A — bitta ulanish</a:t>
            </a:r>
            <a:endParaRPr lang="en-US" sz="1600" dirty="0"/>
          </a:p>
        </p:txBody>
      </p:sp>
      <p:sp>
        <p:nvSpPr>
          <p:cNvPr id="13" name="A5_260"/>
          <p:cNvSpPr txBox="1"/>
          <p:nvPr/>
        </p:nvSpPr>
        <p:spPr>
          <a:xfrm>
            <a:off x="8503920" y="1463040"/>
            <a:ext cx="3154680" cy="4617720"/>
          </a:xfrm>
          <a:prstGeom prst="roundRect">
            <a:avLst>
              <a:gd name="adj" fmla="val 2319"/>
            </a:avLst>
          </a:prstGeom>
          <a:solidFill>
            <a:schemeClr val="accent1">
              <a:alpha val="12000"/>
            </a:schemeClr>
          </a:solidFill>
          <a:ln>
            <a:solidFill>
              <a:schemeClr val="accent1">
                <a:alpha val="0"/>
              </a:schemeClr>
            </a:solidFill>
          </a:ln>
        </p:spPr>
        <p:txBody>
          <a:bodyPr wrap="square" lIns="76200" tIns="127000" rIns="127000" bIns="76200" rtlCol="0" anchor="t"/>
          <a:lstStyle/>
          <a:p>
            <a:pPr marL="0" indent="0" algn="l">
              <a:spcAft>
                <a:spcPts val="300"/>
              </a:spcAft>
              <a:buNone/>
            </a:pPr>
            <a:r>
              <a:rPr lang="en-US" sz="1900" b="1" dirty="0">
                <a:solidFill>
                  <a:srgbClr val="9A6A12"/>
                </a:solidFill>
              </a:rPr>
              <a:t>Dirixle prinsipi</a:t>
            </a:r>
            <a:endParaRPr lang="en-US" sz="1900" dirty="0"/>
          </a:p>
          <a:p>
            <a:pPr marL="0" indent="0" algn="l">
              <a:spcAft>
                <a:spcPts val="300"/>
              </a:spcAft>
              <a:buNone/>
            </a:pPr>
            <a:r>
              <a:rPr lang="en-US" sz="1600" dirty="0">
                <a:solidFill>
                  <a:schemeClr val="tx1"/>
                </a:solidFill>
              </a:rPr>
              <a:t>n qutiga n + 1 narsa ⇒ kamida bitta qutida ikkita.</a:t>
            </a:r>
            <a:endParaRPr lang="en-US" sz="1900" dirty="0"/>
          </a:p>
          <a:p>
            <a:pPr marL="0" indent="0" algn="l">
              <a:spcAft>
                <a:spcPts val="300"/>
              </a:spcAft>
              <a:buNone/>
            </a:pPr>
            <a:r>
              <a:rPr lang="en-US" sz="800" dirty="0">
                <a:solidFill>
                  <a:schemeClr val="tx1"/>
                </a:solidFill>
              </a:rPr>
              <a:t> </a:t>
            </a:r>
            <a:endParaRPr lang="en-US" sz="1900" dirty="0"/>
          </a:p>
          <a:p>
            <a:pPr marL="0" indent="0" algn="l">
              <a:spcAft>
                <a:spcPts val="300"/>
              </a:spcAft>
              <a:buNone/>
            </a:pPr>
            <a:r>
              <a:rPr lang="en-US" sz="1600" dirty="0">
                <a:solidFill>
                  <a:schemeClr val="tx1"/>
                </a:solidFill>
              </a:rPr>
              <a:t>256 bitli xesh: qiymatlar 2²⁵⁶ ta, xabarlar esa cheksiz ⇒ kolliziyalar ALBATTA bor.</a:t>
            </a:r>
            <a:endParaRPr lang="en-US" sz="1900" dirty="0"/>
          </a:p>
          <a:p>
            <a:pPr marL="0" indent="0" algn="l">
              <a:spcAft>
                <a:spcPts val="300"/>
              </a:spcAft>
              <a:buNone/>
            </a:pPr>
            <a:r>
              <a:rPr lang="en-US" sz="800" dirty="0">
                <a:solidFill>
                  <a:schemeClr val="tx1"/>
                </a:solidFill>
              </a:rPr>
              <a:t> </a:t>
            </a:r>
            <a:endParaRPr lang="en-US" sz="1900" dirty="0"/>
          </a:p>
          <a:p>
            <a:pPr marL="0" indent="0" algn="l">
              <a:spcAft>
                <a:spcPts val="300"/>
              </a:spcAft>
              <a:buNone/>
            </a:pPr>
            <a:r>
              <a:rPr lang="en-US" sz="1600" b="1" dirty="0">
                <a:solidFill>
                  <a:schemeClr val="tx1"/>
                </a:solidFill>
              </a:rPr>
              <a:t>Xavfsizlik — ularning yo‘qligi emas, TOPISH qiyinligi (33-mavzu).</a:t>
            </a:r>
            <a:endParaRPr lang="en-US" sz="19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D99AE"/>
                </a:solidFill>
                <a:latin typeface="Times New Roman"/>
                <a:ea typeface="Times New Roman"/>
                <a:cs typeface="Times New Roman"/>
              </a:defRPr>
            </a:lvl1pPr>
          </a:lstStyle>
          <a:p>
            <a:pPr algn="r"/>
            <a:fld id="{F7021451-1387-4CA6-816F-3879F97B5CBC}" type="slidenum">
              <a:rPr lang="en-US" b="0"/>
              <a:t>10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400"/>
                                        <p:tgtEl>
                                          <p:spTgt spid="7"/>
                                        </p:tgtEl>
                                      </p:cBhvr>
                                    </p:animEffect>
                                  </p:childTnLst>
                                </p:cTn>
                              </p:par>
                              <p:par>
                                <p:cTn id="16" presetID="10" presetClass="entr" presetSubtype="0" fill="hold"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4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400"/>
                                        <p:tgtEl>
                                          <p:spTgt spid="9"/>
                                        </p:tgtEl>
                                      </p:cBhvr>
                                    </p:animEffect>
                                  </p:childTnLst>
                                </p:cTn>
                              </p:par>
                              <p:par>
                                <p:cTn id="24" presetID="10" presetClass="entr" presetSubtype="0" fill="hold"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400"/>
                                        <p:tgtEl>
                                          <p:spTgt spid="10"/>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400"/>
                                        <p:tgtEl>
                                          <p:spTgt spid="11"/>
                                        </p:tgtEl>
                                      </p:cBhvr>
                                    </p:animEffect>
                                  </p:childTnLst>
                                </p:cTn>
                              </p:par>
                              <p:par>
                                <p:cTn id="32" presetID="10" presetClass="entr" presetSubtype="0" fill="hold"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400"/>
                                        <p:tgtEl>
                                          <p:spTgt spid="12"/>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56032"/>
            <a:ext cx="11064240" cy="292608"/>
          </a:xfrm>
          <a:prstGeom prst="rect">
            <a:avLst/>
          </a:prstGeom>
          <a:noFill/>
          <a:ln/>
        </p:spPr>
        <p:txBody>
          <a:bodyPr wrap="square" lIns="0" tIns="0" rIns="0" bIns="0" rtlCol="0" anchor="ctr"/>
          <a:lstStyle/>
          <a:p>
            <a:pPr marL="0" indent="0">
              <a:buNone/>
            </a:pPr>
            <a:r>
              <a:rPr lang="en-US" sz="1300" b="1" dirty="0">
                <a:solidFill>
                  <a:schemeClr val="accent4"/>
                </a:solidFill>
                <a:latin typeface="Times New Roman" pitchFamily="34" charset="0"/>
                <a:ea typeface="Times New Roman" pitchFamily="34" charset="-122"/>
                <a:cs typeface="Times New Roman" pitchFamily="34" charset="-120"/>
              </a:rPr>
              <a:t>5-mavzu · Kombinatorika (2/3)</a:t>
            </a:r>
            <a:endParaRPr lang="en-US" sz="1300" dirty="0"/>
          </a:p>
        </p:txBody>
      </p:sp>
      <p:sp>
        <p:nvSpPr>
          <p:cNvPr id="3" name="Text 1"/>
          <p:cNvSpPr>
            <a:spLocks noGrp="1"/>
          </p:cNvSpPr>
          <p:nvPr>
            <p:ph type="title" idx="102" hasCustomPrompt="1"/>
          </p:nvPr>
        </p:nvSpPr>
        <p:spPr>
          <a:xfrm>
            <a:off x="548640" y="530352"/>
            <a:ext cx="1106424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Enigma: 1,6 · 10²⁰ kalit qayerdan keladi</a:t>
            </a:r>
            <a:endParaRPr lang="en-US" sz="3200" dirty="0"/>
          </a:p>
        </p:txBody>
      </p:sp>
      <p:sp>
        <p:nvSpPr>
          <p:cNvPr id="5" name="A1_261"/>
          <p:cNvSpPr txBox="1"/>
          <p:nvPr/>
        </p:nvSpPr>
        <p:spPr>
          <a:xfrm>
            <a:off x="548640" y="1600200"/>
            <a:ext cx="2514600" cy="1325880"/>
          </a:xfrm>
          <a:prstGeom prst="roundRect">
            <a:avLst>
              <a:gd name="adj" fmla="val 5517"/>
            </a:avLst>
          </a:prstGeom>
          <a:solidFill>
            <a:schemeClr val="accent4">
              <a:alpha val="15000"/>
            </a:schemeClr>
          </a:solidFill>
          <a:ln w="19050">
            <a:solidFill>
              <a:schemeClr val="accent4"/>
            </a:solidFill>
          </a:ln>
        </p:spPr>
        <p:txBody>
          <a:bodyPr wrap="square" lIns="50800" tIns="50800" rIns="50800" bIns="50800" rtlCol="0" anchor="ctr"/>
          <a:lstStyle/>
          <a:p>
            <a:pPr marL="0" indent="0" algn="ctr">
              <a:buNone/>
            </a:pPr>
            <a:r>
              <a:rPr lang="en-US" sz="1500" dirty="0">
                <a:solidFill>
                  <a:schemeClr val="tx2"/>
                </a:solidFill>
              </a:rPr>
              <a:t>Rotorlar tartibi</a:t>
            </a:r>
            <a:endParaRPr lang="en-US" sz="1500" dirty="0"/>
          </a:p>
          <a:p>
            <a:pPr marL="0" indent="0" algn="ctr">
              <a:buNone/>
            </a:pPr>
            <a:r>
              <a:rPr lang="en-US" sz="2200" b="1" dirty="0">
                <a:solidFill>
                  <a:schemeClr val="tx2"/>
                </a:solidFill>
                <a:latin typeface="Cambria" pitchFamily="34" charset="0"/>
                <a:ea typeface="Cambria" pitchFamily="34" charset="-122"/>
                <a:cs typeface="Cambria" pitchFamily="34" charset="-120"/>
              </a:rPr>
              <a:t>A(5, 3) = 60</a:t>
            </a:r>
            <a:endParaRPr lang="en-US" sz="1500" dirty="0"/>
          </a:p>
        </p:txBody>
      </p:sp>
      <p:sp>
        <p:nvSpPr>
          <p:cNvPr id="6" name="A2_262"/>
          <p:cNvSpPr txBox="1"/>
          <p:nvPr/>
        </p:nvSpPr>
        <p:spPr>
          <a:xfrm>
            <a:off x="3063240" y="1600200"/>
            <a:ext cx="457200" cy="1325880"/>
          </a:xfrm>
          <a:prstGeom prst="rect">
            <a:avLst/>
          </a:prstGeom>
          <a:noFill/>
          <a:ln/>
        </p:spPr>
        <p:txBody>
          <a:bodyPr wrap="square" lIns="0" tIns="0" rIns="0" bIns="0" rtlCol="0" anchor="ctr"/>
          <a:lstStyle/>
          <a:p>
            <a:pPr marL="0" indent="0" algn="ctr">
              <a:buNone/>
            </a:pPr>
            <a:r>
              <a:rPr lang="en-US" sz="3000" b="1" dirty="0">
                <a:solidFill>
                  <a:schemeClr val="tx2"/>
                </a:solidFill>
              </a:rPr>
              <a:t>×</a:t>
            </a:r>
            <a:endParaRPr lang="en-US" sz="3000" dirty="0"/>
          </a:p>
        </p:txBody>
      </p:sp>
      <p:sp>
        <p:nvSpPr>
          <p:cNvPr id="7" name="A2_263"/>
          <p:cNvSpPr txBox="1"/>
          <p:nvPr/>
        </p:nvSpPr>
        <p:spPr>
          <a:xfrm>
            <a:off x="3520440" y="1600200"/>
            <a:ext cx="2514600" cy="1325880"/>
          </a:xfrm>
          <a:prstGeom prst="roundRect">
            <a:avLst>
              <a:gd name="adj" fmla="val 5517"/>
            </a:avLst>
          </a:prstGeom>
          <a:solidFill>
            <a:schemeClr val="accent4">
              <a:alpha val="15000"/>
            </a:schemeClr>
          </a:solidFill>
          <a:ln w="19050">
            <a:solidFill>
              <a:schemeClr val="accent4"/>
            </a:solidFill>
          </a:ln>
        </p:spPr>
        <p:txBody>
          <a:bodyPr wrap="square" lIns="50800" tIns="50800" rIns="50800" bIns="50800" rtlCol="0" anchor="ctr"/>
          <a:lstStyle/>
          <a:p>
            <a:pPr marL="0" indent="0" algn="ctr">
              <a:buNone/>
            </a:pPr>
            <a:r>
              <a:rPr lang="en-US" sz="1500" dirty="0">
                <a:solidFill>
                  <a:schemeClr val="tx2"/>
                </a:solidFill>
              </a:rPr>
              <a:t>Boshlang‘ich holat</a:t>
            </a:r>
            <a:endParaRPr lang="en-US" sz="1500" dirty="0"/>
          </a:p>
          <a:p>
            <a:pPr marL="0" indent="0" algn="ctr">
              <a:buNone/>
            </a:pPr>
            <a:r>
              <a:rPr lang="en-US" sz="2200" b="1" dirty="0">
                <a:solidFill>
                  <a:schemeClr val="tx2"/>
                </a:solidFill>
                <a:latin typeface="Cambria" pitchFamily="34" charset="0"/>
                <a:ea typeface="Cambria" pitchFamily="34" charset="-122"/>
                <a:cs typeface="Cambria" pitchFamily="34" charset="-120"/>
              </a:rPr>
              <a:t>26³ = 17 576</a:t>
            </a:r>
            <a:endParaRPr lang="en-US" sz="1500" dirty="0"/>
          </a:p>
        </p:txBody>
      </p:sp>
      <p:sp>
        <p:nvSpPr>
          <p:cNvPr id="8" name="A3_264"/>
          <p:cNvSpPr txBox="1"/>
          <p:nvPr/>
        </p:nvSpPr>
        <p:spPr>
          <a:xfrm>
            <a:off x="6035040" y="1600200"/>
            <a:ext cx="457200" cy="1325880"/>
          </a:xfrm>
          <a:prstGeom prst="rect">
            <a:avLst/>
          </a:prstGeom>
          <a:noFill/>
          <a:ln/>
        </p:spPr>
        <p:txBody>
          <a:bodyPr wrap="square" lIns="0" tIns="0" rIns="0" bIns="0" rtlCol="0" anchor="ctr"/>
          <a:lstStyle/>
          <a:p>
            <a:pPr marL="0" indent="0" algn="ctr">
              <a:buNone/>
            </a:pPr>
            <a:r>
              <a:rPr lang="en-US" sz="3000" b="1" dirty="0">
                <a:solidFill>
                  <a:schemeClr val="tx2"/>
                </a:solidFill>
              </a:rPr>
              <a:t>×</a:t>
            </a:r>
            <a:endParaRPr lang="en-US" sz="3000" dirty="0"/>
          </a:p>
        </p:txBody>
      </p:sp>
      <p:sp>
        <p:nvSpPr>
          <p:cNvPr id="9" name="A3_265"/>
          <p:cNvSpPr txBox="1"/>
          <p:nvPr/>
        </p:nvSpPr>
        <p:spPr>
          <a:xfrm>
            <a:off x="6492240" y="1600200"/>
            <a:ext cx="2514600" cy="1325880"/>
          </a:xfrm>
          <a:prstGeom prst="roundRect">
            <a:avLst>
              <a:gd name="adj" fmla="val 5517"/>
            </a:avLst>
          </a:prstGeom>
          <a:solidFill>
            <a:schemeClr val="accent4">
              <a:alpha val="15000"/>
            </a:schemeClr>
          </a:solidFill>
          <a:ln w="19050">
            <a:solidFill>
              <a:schemeClr val="accent4"/>
            </a:solidFill>
          </a:ln>
        </p:spPr>
        <p:txBody>
          <a:bodyPr wrap="square" lIns="50800" tIns="50800" rIns="50800" bIns="50800" rtlCol="0" anchor="ctr"/>
          <a:lstStyle/>
          <a:p>
            <a:pPr marL="0" indent="0" algn="ctr">
              <a:buNone/>
            </a:pPr>
            <a:r>
              <a:rPr lang="en-US" sz="1500" dirty="0">
                <a:solidFill>
                  <a:schemeClr val="tx2"/>
                </a:solidFill>
              </a:rPr>
              <a:t>Panel (10 juft sim)</a:t>
            </a:r>
            <a:endParaRPr lang="en-US" sz="1500" dirty="0"/>
          </a:p>
          <a:p>
            <a:pPr marL="0" indent="0" algn="ctr">
              <a:buNone/>
            </a:pPr>
            <a:r>
              <a:rPr lang="en-US" sz="2200" b="1" dirty="0">
                <a:solidFill>
                  <a:schemeClr val="tx2"/>
                </a:solidFill>
                <a:latin typeface="Cambria" pitchFamily="34" charset="0"/>
                <a:ea typeface="Cambria" pitchFamily="34" charset="-122"/>
                <a:cs typeface="Cambria" pitchFamily="34" charset="-120"/>
              </a:rPr>
              <a:t>≈ 1,5 · 10¹⁴</a:t>
            </a:r>
            <a:endParaRPr lang="en-US" sz="1500" dirty="0"/>
          </a:p>
        </p:txBody>
      </p:sp>
      <p:sp>
        <p:nvSpPr>
          <p:cNvPr id="10" name="A4_266"/>
          <p:cNvSpPr txBox="1"/>
          <p:nvPr/>
        </p:nvSpPr>
        <p:spPr>
          <a:xfrm>
            <a:off x="9006840" y="1600200"/>
            <a:ext cx="457200" cy="1325880"/>
          </a:xfrm>
          <a:prstGeom prst="rect">
            <a:avLst/>
          </a:prstGeom>
          <a:noFill/>
          <a:ln/>
        </p:spPr>
        <p:txBody>
          <a:bodyPr wrap="square" lIns="0" tIns="0" rIns="0" bIns="0" rtlCol="0" anchor="ctr"/>
          <a:lstStyle/>
          <a:p>
            <a:pPr marL="0" indent="0" algn="ctr">
              <a:buNone/>
            </a:pPr>
            <a:r>
              <a:rPr lang="en-US" sz="3000" b="1" dirty="0">
                <a:solidFill>
                  <a:schemeClr val="tx2"/>
                </a:solidFill>
              </a:rPr>
              <a:t>=</a:t>
            </a:r>
            <a:endParaRPr lang="en-US" sz="3000" dirty="0"/>
          </a:p>
        </p:txBody>
      </p:sp>
      <p:sp>
        <p:nvSpPr>
          <p:cNvPr id="11" name="A4_267"/>
          <p:cNvSpPr txBox="1"/>
          <p:nvPr/>
        </p:nvSpPr>
        <p:spPr>
          <a:xfrm>
            <a:off x="9464040" y="1600200"/>
            <a:ext cx="2194560" cy="1325880"/>
          </a:xfrm>
          <a:prstGeom prst="roundRect">
            <a:avLst>
              <a:gd name="adj" fmla="val 5517"/>
            </a:avLst>
          </a:prstGeom>
          <a:solidFill>
            <a:schemeClr val="accent3"/>
          </a:solidFill>
          <a:ln>
            <a:solidFill>
              <a:schemeClr val="accent3"/>
            </a:solidFill>
          </a:ln>
        </p:spPr>
        <p:txBody>
          <a:bodyPr wrap="square" lIns="50800" tIns="50800" rIns="50800" bIns="50800" rtlCol="0" anchor="ctr"/>
          <a:lstStyle/>
          <a:p>
            <a:pPr marL="0" indent="0" algn="ctr">
              <a:buNone/>
            </a:pPr>
            <a:r>
              <a:rPr lang="en-US" sz="1500" dirty="0">
                <a:solidFill>
                  <a:schemeClr val="bg1"/>
                </a:solidFill>
              </a:rPr>
              <a:t>jami</a:t>
            </a:r>
            <a:endParaRPr lang="en-US" sz="1500" dirty="0"/>
          </a:p>
          <a:p>
            <a:pPr marL="0" indent="0" algn="ctr">
              <a:buNone/>
            </a:pPr>
            <a:r>
              <a:rPr lang="en-US" sz="2600" b="1" dirty="0">
                <a:solidFill>
                  <a:schemeClr val="bg1"/>
                </a:solidFill>
                <a:latin typeface="Cambria" pitchFamily="34" charset="0"/>
                <a:ea typeface="Cambria" pitchFamily="34" charset="-122"/>
                <a:cs typeface="Cambria" pitchFamily="34" charset="-120"/>
              </a:rPr>
              <a:t>≈ 1,6 · 10²⁰</a:t>
            </a:r>
            <a:endParaRPr lang="en-US" sz="1500" dirty="0"/>
          </a:p>
        </p:txBody>
      </p:sp>
      <p:sp>
        <p:nvSpPr>
          <p:cNvPr id="12" name="A5_268"/>
          <p:cNvSpPr txBox="1"/>
          <p:nvPr/>
        </p:nvSpPr>
        <p:spPr>
          <a:xfrm>
            <a:off x="548640" y="3154680"/>
            <a:ext cx="6492240" cy="1508760"/>
          </a:xfrm>
          <a:prstGeom prst="roundRect">
            <a:avLst>
              <a:gd name="adj" fmla="val 4848"/>
            </a:avLst>
          </a:prstGeom>
          <a:solidFill>
            <a:schemeClr val="accent4">
              <a:alpha val="12000"/>
            </a:schemeClr>
          </a:solidFill>
          <a:ln>
            <a:solidFill>
              <a:schemeClr val="accent4">
                <a:alpha val="0"/>
              </a:schemeClr>
            </a:solidFill>
          </a:ln>
        </p:spPr>
        <p:txBody>
          <a:bodyPr wrap="square" lIns="76200" tIns="127000" rIns="127000" bIns="76200" rtlCol="0" anchor="t"/>
          <a:lstStyle/>
          <a:p>
            <a:pPr marL="0" indent="0" algn="l">
              <a:spcAft>
                <a:spcPts val="300"/>
              </a:spcAft>
              <a:buNone/>
            </a:pPr>
            <a:r>
              <a:rPr lang="en-US" sz="1800" b="1" dirty="0">
                <a:solidFill>
                  <a:schemeClr val="accent4"/>
                </a:solidFill>
              </a:rPr>
              <a:t>Enigma qanday ishlaydi</a:t>
            </a:r>
            <a:endParaRPr lang="en-US" sz="1800" dirty="0"/>
          </a:p>
          <a:p>
            <a:pPr marL="0" indent="0" algn="l">
              <a:spcAft>
                <a:spcPts val="300"/>
              </a:spcAft>
              <a:buNone/>
            </a:pPr>
            <a:r>
              <a:rPr lang="en-US" sz="1600" b="1" dirty="0">
                <a:solidFill>
                  <a:schemeClr val="tx1"/>
                </a:solidFill>
              </a:rPr>
              <a:t>Tugma → panel → 3 rotor → reflektor → orqaga → lampochka.</a:t>
            </a:r>
            <a:endParaRPr lang="en-US" sz="1800" dirty="0"/>
          </a:p>
          <a:p>
            <a:pPr marL="0" indent="0" algn="l">
              <a:spcAft>
                <a:spcPts val="300"/>
              </a:spcAft>
              <a:buNone/>
            </a:pPr>
            <a:r>
              <a:rPr lang="en-US" sz="1600" dirty="0">
                <a:solidFill>
                  <a:schemeClr val="tx1"/>
                </a:solidFill>
              </a:rPr>
              <a:t>Har tugmadan keyin rotor buriladi: AAAA → har safar boshqa harf. Mazmunan — polialfavit almashtirish (10, 14-mavzular).</a:t>
            </a:r>
            <a:endParaRPr lang="en-US" sz="1800" dirty="0"/>
          </a:p>
        </p:txBody>
      </p:sp>
      <p:sp>
        <p:nvSpPr>
          <p:cNvPr id="13" name="A6_269"/>
          <p:cNvSpPr txBox="1"/>
          <p:nvPr/>
        </p:nvSpPr>
        <p:spPr>
          <a:xfrm>
            <a:off x="7406640" y="3154680"/>
            <a:ext cx="4251960" cy="822960"/>
          </a:xfrm>
          <a:prstGeom prst="rect">
            <a:avLst/>
          </a:prstGeom>
          <a:noFill/>
          <a:ln/>
        </p:spPr>
        <p:txBody>
          <a:bodyPr wrap="square" lIns="0" tIns="0" rIns="0" bIns="0" rtlCol="0" anchor="ctr"/>
          <a:lstStyle/>
          <a:p>
            <a:pPr marL="0" indent="0" algn="ctr">
              <a:buNone/>
            </a:pPr>
            <a:r>
              <a:rPr lang="en-US" sz="4800" b="1" dirty="0">
                <a:solidFill>
                  <a:schemeClr val="accent3"/>
                </a:solidFill>
                <a:latin typeface="Cambria" pitchFamily="34" charset="0"/>
                <a:ea typeface="Cambria" pitchFamily="34" charset="-122"/>
                <a:cs typeface="Cambria" pitchFamily="34" charset="-120"/>
              </a:rPr>
              <a:t>5000+ yil</a:t>
            </a:r>
            <a:endParaRPr lang="en-US" sz="4800" dirty="0"/>
          </a:p>
        </p:txBody>
      </p:sp>
      <p:sp>
        <p:nvSpPr>
          <p:cNvPr id="14" name="A6_270"/>
          <p:cNvSpPr txBox="1"/>
          <p:nvPr/>
        </p:nvSpPr>
        <p:spPr>
          <a:xfrm>
            <a:off x="7406640" y="3977640"/>
            <a:ext cx="4251960" cy="914400"/>
          </a:xfrm>
          <a:prstGeom prst="rect">
            <a:avLst/>
          </a:prstGeom>
          <a:noFill/>
          <a:ln/>
        </p:spPr>
        <p:txBody>
          <a:bodyPr wrap="square" lIns="0" tIns="0" rIns="0" bIns="0" rtlCol="0" anchor="t"/>
          <a:lstStyle/>
          <a:p>
            <a:pPr marL="0" indent="0" algn="ctr">
              <a:buNone/>
            </a:pPr>
            <a:r>
              <a:rPr lang="en-US" sz="1400" dirty="0">
                <a:solidFill>
                  <a:srgbClr val="52514E"/>
                </a:solidFill>
              </a:rPr>
              <a:t>barcha kalitlarni 10⁹ kalit/s tezlikda sinash vaqti</a:t>
            </a:r>
            <a:endParaRPr lang="en-US" sz="1400" dirty="0"/>
          </a:p>
        </p:txBody>
      </p:sp>
      <p:sp>
        <p:nvSpPr>
          <p:cNvPr id="15" name="A7_271"/>
          <p:cNvSpPr txBox="1"/>
          <p:nvPr/>
        </p:nvSpPr>
        <p:spPr>
          <a:xfrm>
            <a:off x="548640" y="4800600"/>
            <a:ext cx="11109960" cy="1371600"/>
          </a:xfrm>
          <a:prstGeom prst="roundRect">
            <a:avLst>
              <a:gd name="adj" fmla="val 5333"/>
            </a:avLst>
          </a:prstGeom>
          <a:solidFill>
            <a:schemeClr val="accent3">
              <a:alpha val="12000"/>
            </a:schemeClr>
          </a:solidFill>
          <a:ln>
            <a:solidFill>
              <a:schemeClr val="accent3">
                <a:alpha val="0"/>
              </a:schemeClr>
            </a:solidFill>
          </a:ln>
        </p:spPr>
        <p:txBody>
          <a:bodyPr wrap="square" lIns="76200" tIns="127000" rIns="127000" bIns="76200" rtlCol="0" anchor="t"/>
          <a:lstStyle/>
          <a:p>
            <a:pPr marL="0" indent="0" algn="l">
              <a:spcAft>
                <a:spcPts val="300"/>
              </a:spcAft>
              <a:buNone/>
            </a:pPr>
            <a:r>
              <a:rPr lang="en-US" sz="1700" b="1" dirty="0">
                <a:solidFill>
                  <a:schemeClr val="accent3"/>
                </a:solidFill>
              </a:rPr>
              <a:t>Lekin Enigma ochilgan — kalitlarni sinab emas</a:t>
            </a:r>
            <a:endParaRPr lang="en-US" sz="1700" dirty="0"/>
          </a:p>
          <a:p>
            <a:pPr marL="0" indent="0" algn="l">
              <a:spcAft>
                <a:spcPts val="300"/>
              </a:spcAft>
              <a:buNone/>
            </a:pPr>
            <a:r>
              <a:rPr lang="en-US" sz="1500" dirty="0">
                <a:solidFill>
                  <a:schemeClr val="tx1"/>
                </a:solidFill>
              </a:rPr>
              <a:t>Zaiflik: harf hech qachon o‘ziga shifrlanmaydi + operator xatolari va standart so‘zlar (“kriblar”, masalan WETTERBERICHT — “ob-havo hisoboti”). Rejevskiy (1932) → Tyuring, “Bombe” (1940). </a:t>
            </a:r>
            <a:endParaRPr lang="en-US" sz="1700" dirty="0"/>
          </a:p>
          <a:p>
            <a:pPr marL="0" indent="0" algn="l">
              <a:spcAft>
                <a:spcPts val="300"/>
              </a:spcAft>
              <a:buNone/>
            </a:pPr>
            <a:r>
              <a:rPr lang="en-US" sz="1500" b="1" dirty="0">
                <a:solidFill>
                  <a:schemeClr val="tx1"/>
                </a:solidFill>
              </a:rPr>
              <a:t>Kalitlar soni ≠ xavfsizlik.</a:t>
            </a:r>
            <a:endParaRPr lang="en-US" sz="17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D99AE"/>
                </a:solidFill>
                <a:latin typeface="Times New Roman"/>
                <a:ea typeface="Times New Roman"/>
                <a:cs typeface="Times New Roman"/>
              </a:defRPr>
            </a:lvl1pPr>
          </a:lstStyle>
          <a:p>
            <a:pPr algn="r"/>
            <a:fld id="{F7021451-1387-4CA6-816F-3879F97B5CBC}" type="slidenum">
              <a:rPr lang="en-US" b="0"/>
              <a:t>11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400"/>
                                        <p:tgtEl>
                                          <p:spTgt spid="6"/>
                                        </p:tgtEl>
                                      </p:cBhvr>
                                    </p:animEffect>
                                  </p:childTnLst>
                                </p:cTn>
                              </p:par>
                              <p:par>
                                <p:cTn id="13" presetID="10"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4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400"/>
                                        <p:tgtEl>
                                          <p:spTgt spid="8"/>
                                        </p:tgtEl>
                                      </p:cBhvr>
                                    </p:animEffect>
                                  </p:childTnLst>
                                </p:cTn>
                              </p:par>
                              <p:par>
                                <p:cTn id="21" presetID="10"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400"/>
                                        <p:tgtEl>
                                          <p:spTgt spid="9"/>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400"/>
                                        <p:tgtEl>
                                          <p:spTgt spid="10"/>
                                        </p:tgtEl>
                                      </p:cBhvr>
                                    </p:animEffect>
                                  </p:childTnLst>
                                </p:cTn>
                              </p:par>
                              <p:par>
                                <p:cTn id="29" presetID="10" presetClass="entr" presetSubtype="0" fill="hold"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400"/>
                                        <p:tgtEl>
                                          <p:spTgt spid="11"/>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400"/>
                                        <p:tgtEl>
                                          <p:spTgt spid="12"/>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400"/>
                                        <p:tgtEl>
                                          <p:spTgt spid="13"/>
                                        </p:tgtEl>
                                      </p:cBhvr>
                                    </p:animEffect>
                                  </p:childTnLst>
                                </p:cTn>
                              </p:par>
                              <p:par>
                                <p:cTn id="42" presetID="10" presetClass="entr" presetSubtype="0" fill="hold" nodeType="with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400"/>
                                        <p:tgtEl>
                                          <p:spTgt spid="14"/>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15"/>
                                        </p:tgtEl>
                                        <p:attrNameLst>
                                          <p:attrName>style.visibility</p:attrName>
                                        </p:attrNameLst>
                                      </p:cBhvr>
                                      <p:to>
                                        <p:strVal val="visible"/>
                                      </p:to>
                                    </p:set>
                                    <p:animEffect transition="in" filter="fade">
                                      <p:cBhvr>
                                        <p:cTn id="49"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56032"/>
            <a:ext cx="11064240" cy="292608"/>
          </a:xfrm>
          <a:prstGeom prst="rect">
            <a:avLst/>
          </a:prstGeom>
          <a:noFill/>
          <a:ln/>
        </p:spPr>
        <p:txBody>
          <a:bodyPr wrap="square" lIns="0" tIns="0" rIns="0" bIns="0" rtlCol="0" anchor="ctr"/>
          <a:lstStyle/>
          <a:p>
            <a:pPr marL="0" indent="0">
              <a:buNone/>
            </a:pPr>
            <a:r>
              <a:rPr lang="en-US" sz="1300" b="1" dirty="0">
                <a:solidFill>
                  <a:schemeClr val="accent4"/>
                </a:solidFill>
                <a:latin typeface="Times New Roman" pitchFamily="34" charset="0"/>
                <a:ea typeface="Times New Roman" pitchFamily="34" charset="-122"/>
                <a:cs typeface="Times New Roman" pitchFamily="34" charset="-120"/>
              </a:rPr>
              <a:t>5-mavzu · Kombinatorika (3/3)</a:t>
            </a:r>
            <a:endParaRPr lang="en-US" sz="1300" dirty="0"/>
          </a:p>
        </p:txBody>
      </p:sp>
      <p:sp>
        <p:nvSpPr>
          <p:cNvPr id="3" name="Text 1"/>
          <p:cNvSpPr>
            <a:spLocks noGrp="1"/>
          </p:cNvSpPr>
          <p:nvPr>
            <p:ph type="title" idx="102" hasCustomPrompt="1"/>
          </p:nvPr>
        </p:nvSpPr>
        <p:spPr>
          <a:xfrm>
            <a:off x="548640" y="530352"/>
            <a:ext cx="1106424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Kalitlar fazosi: zarur, lekin yetarli emas</a:t>
            </a:r>
            <a:endParaRPr lang="en-US" sz="3200" dirty="0"/>
          </a:p>
        </p:txBody>
      </p:sp>
      <p:graphicFrame>
        <p:nvGraphicFramePr>
          <p:cNvPr id="5" name="A1_272"/>
          <p:cNvGraphicFramePr/>
          <p:nvPr/>
        </p:nvGraphicFramePr>
        <p:xfrm>
          <a:off x="457200" y="1371600"/>
          <a:ext cx="6675120" cy="4800600"/>
        </p:xfrm>
        <a:graphic>
          <a:graphicData uri="http://schemas.openxmlformats.org/drawingml/2006/chart">
            <c:chart xmlns:c="http://schemas.openxmlformats.org/drawingml/2006/chart" xmlns:r="http://schemas.openxmlformats.org/officeDocument/2006/relationships" r:id="rId3"/>
          </a:graphicData>
        </a:graphic>
      </p:graphicFrame>
      <p:sp>
        <p:nvSpPr>
          <p:cNvPr id="6" name="A2_273"/>
          <p:cNvSpPr txBox="1"/>
          <p:nvPr/>
        </p:nvSpPr>
        <p:spPr>
          <a:xfrm>
            <a:off x="7452360" y="1417320"/>
            <a:ext cx="4206240" cy="566928"/>
          </a:xfrm>
          <a:prstGeom prst="rect">
            <a:avLst/>
          </a:prstGeom>
          <a:noFill/>
          <a:ln/>
        </p:spPr>
        <p:txBody>
          <a:bodyPr wrap="square" lIns="0" tIns="0" rIns="0" bIns="0" rtlCol="0" anchor="ctr"/>
          <a:lstStyle/>
          <a:p>
            <a:pPr marL="0" indent="0" algn="l">
              <a:buNone/>
            </a:pPr>
            <a:r>
              <a:rPr lang="en-US" sz="3000" b="1" dirty="0">
                <a:solidFill>
                  <a:schemeClr val="accent4"/>
                </a:solidFill>
                <a:latin typeface="Cambria" pitchFamily="34" charset="0"/>
                <a:ea typeface="Cambria" pitchFamily="34" charset="-122"/>
                <a:cs typeface="Cambria" pitchFamily="34" charset="-120"/>
              </a:rPr>
              <a:t>(N + 1) / 2</a:t>
            </a:r>
            <a:endParaRPr lang="en-US" sz="3000" dirty="0"/>
          </a:p>
        </p:txBody>
      </p:sp>
      <p:sp>
        <p:nvSpPr>
          <p:cNvPr id="7" name="A2_274"/>
          <p:cNvSpPr txBox="1"/>
          <p:nvPr/>
        </p:nvSpPr>
        <p:spPr>
          <a:xfrm>
            <a:off x="7452360" y="1965960"/>
            <a:ext cx="4206240" cy="566928"/>
          </a:xfrm>
          <a:prstGeom prst="rect">
            <a:avLst/>
          </a:prstGeom>
          <a:noFill/>
          <a:ln/>
        </p:spPr>
        <p:txBody>
          <a:bodyPr wrap="square" lIns="0" tIns="0" rIns="0" bIns="0" rtlCol="0" anchor="t"/>
          <a:lstStyle/>
          <a:p>
            <a:pPr marL="0" indent="0" algn="l">
              <a:buNone/>
            </a:pPr>
            <a:r>
              <a:rPr lang="en-US" sz="1400" dirty="0">
                <a:solidFill>
                  <a:srgbClr val="52514E"/>
                </a:solidFill>
              </a:rPr>
              <a:t>to‘liq tanlashda o‘rtacha urinishlar soni</a:t>
            </a:r>
            <a:endParaRPr lang="en-US" sz="1400" dirty="0"/>
          </a:p>
        </p:txBody>
      </p:sp>
      <p:sp>
        <p:nvSpPr>
          <p:cNvPr id="8" name="A3_275"/>
          <p:cNvSpPr txBox="1"/>
          <p:nvPr/>
        </p:nvSpPr>
        <p:spPr>
          <a:xfrm>
            <a:off x="7452360" y="2624328"/>
            <a:ext cx="4206240" cy="566928"/>
          </a:xfrm>
          <a:prstGeom prst="rect">
            <a:avLst/>
          </a:prstGeom>
          <a:noFill/>
          <a:ln/>
        </p:spPr>
        <p:txBody>
          <a:bodyPr wrap="square" lIns="0" tIns="0" rIns="0" bIns="0" rtlCol="0" anchor="ctr"/>
          <a:lstStyle/>
          <a:p>
            <a:pPr marL="0" indent="0" algn="l">
              <a:buNone/>
            </a:pPr>
            <a:r>
              <a:rPr lang="en-US" sz="3000" b="1" dirty="0">
                <a:solidFill>
                  <a:schemeClr val="accent3"/>
                </a:solidFill>
                <a:latin typeface="Cambria" pitchFamily="34" charset="0"/>
                <a:ea typeface="Cambria" pitchFamily="34" charset="-122"/>
                <a:cs typeface="Cambria" pitchFamily="34" charset="-120"/>
              </a:rPr>
              <a:t>56 soat</a:t>
            </a:r>
            <a:endParaRPr lang="en-US" sz="3000" dirty="0"/>
          </a:p>
        </p:txBody>
      </p:sp>
      <p:sp>
        <p:nvSpPr>
          <p:cNvPr id="9" name="A3_276"/>
          <p:cNvSpPr txBox="1"/>
          <p:nvPr/>
        </p:nvSpPr>
        <p:spPr>
          <a:xfrm>
            <a:off x="7452360" y="3172968"/>
            <a:ext cx="4206240" cy="566928"/>
          </a:xfrm>
          <a:prstGeom prst="rect">
            <a:avLst/>
          </a:prstGeom>
          <a:noFill/>
          <a:ln/>
        </p:spPr>
        <p:txBody>
          <a:bodyPr wrap="square" lIns="0" tIns="0" rIns="0" bIns="0" rtlCol="0" anchor="t"/>
          <a:lstStyle/>
          <a:p>
            <a:pPr marL="0" indent="0" algn="l">
              <a:buNone/>
            </a:pPr>
            <a:r>
              <a:rPr lang="en-US" sz="1400" dirty="0">
                <a:solidFill>
                  <a:srgbClr val="52514E"/>
                </a:solidFill>
              </a:rPr>
              <a:t>DES (2⁵⁶) ni EFF “Deep Crack” qurilmasi ochgan, 1998</a:t>
            </a:r>
            <a:endParaRPr lang="en-US" sz="1400" dirty="0"/>
          </a:p>
        </p:txBody>
      </p:sp>
      <p:sp>
        <p:nvSpPr>
          <p:cNvPr id="10" name="A4_277"/>
          <p:cNvSpPr txBox="1"/>
          <p:nvPr/>
        </p:nvSpPr>
        <p:spPr>
          <a:xfrm>
            <a:off x="7452360" y="3831336"/>
            <a:ext cx="4206240" cy="566928"/>
          </a:xfrm>
          <a:prstGeom prst="rect">
            <a:avLst/>
          </a:prstGeom>
          <a:noFill/>
          <a:ln/>
        </p:spPr>
        <p:txBody>
          <a:bodyPr wrap="square" lIns="0" tIns="0" rIns="0" bIns="0" rtlCol="0" anchor="ctr"/>
          <a:lstStyle/>
          <a:p>
            <a:pPr marL="0" indent="0" algn="l">
              <a:buNone/>
            </a:pPr>
            <a:r>
              <a:rPr lang="en-US" sz="3000" b="1" dirty="0">
                <a:solidFill>
                  <a:schemeClr val="accent2"/>
                </a:solidFill>
                <a:latin typeface="Cambria" pitchFamily="34" charset="0"/>
                <a:ea typeface="Cambria" pitchFamily="34" charset="-122"/>
                <a:cs typeface="Cambria" pitchFamily="34" charset="-120"/>
              </a:rPr>
              <a:t>≈ 10¹⁹ yil</a:t>
            </a:r>
            <a:endParaRPr lang="en-US" sz="3000" dirty="0"/>
          </a:p>
        </p:txBody>
      </p:sp>
      <p:sp>
        <p:nvSpPr>
          <p:cNvPr id="11" name="A4_278"/>
          <p:cNvSpPr txBox="1"/>
          <p:nvPr/>
        </p:nvSpPr>
        <p:spPr>
          <a:xfrm>
            <a:off x="7452360" y="4379976"/>
            <a:ext cx="4206240" cy="566928"/>
          </a:xfrm>
          <a:prstGeom prst="rect">
            <a:avLst/>
          </a:prstGeom>
          <a:noFill/>
          <a:ln/>
        </p:spPr>
        <p:txBody>
          <a:bodyPr wrap="square" lIns="0" tIns="0" rIns="0" bIns="0" rtlCol="0" anchor="t"/>
          <a:lstStyle/>
          <a:p>
            <a:pPr marL="0" indent="0" algn="l">
              <a:buNone/>
            </a:pPr>
            <a:r>
              <a:rPr lang="en-US" sz="1400" dirty="0">
                <a:solidFill>
                  <a:srgbClr val="52514E"/>
                </a:solidFill>
              </a:rPr>
              <a:t>AES-128 — 10¹² kalit/s tezlikda (koinot yoshi ≈ 1,4·10¹⁰ yil)</a:t>
            </a:r>
            <a:endParaRPr lang="en-US" sz="1400" dirty="0"/>
          </a:p>
        </p:txBody>
      </p:sp>
      <p:sp>
        <p:nvSpPr>
          <p:cNvPr id="12" name="A5_279"/>
          <p:cNvSpPr txBox="1"/>
          <p:nvPr/>
        </p:nvSpPr>
        <p:spPr>
          <a:xfrm>
            <a:off x="7452360" y="5074920"/>
            <a:ext cx="4206240" cy="1097280"/>
          </a:xfrm>
          <a:prstGeom prst="roundRect">
            <a:avLst>
              <a:gd name="adj" fmla="val 6667"/>
            </a:avLst>
          </a:prstGeom>
          <a:solidFill>
            <a:schemeClr val="accent1">
              <a:alpha val="12000"/>
            </a:schemeClr>
          </a:solidFill>
          <a:ln>
            <a:solidFill>
              <a:schemeClr val="accent1">
                <a:alpha val="0"/>
              </a:schemeClr>
            </a:solidFill>
          </a:ln>
        </p:spPr>
        <p:txBody>
          <a:bodyPr wrap="square" lIns="76200" tIns="127000" rIns="127000" bIns="76200" rtlCol="0" anchor="t"/>
          <a:lstStyle/>
          <a:p>
            <a:pPr marL="0" indent="0" algn="l">
              <a:spcAft>
                <a:spcPts val="300"/>
              </a:spcAft>
              <a:buNone/>
            </a:pPr>
            <a:r>
              <a:rPr lang="en-US" sz="1800" b="1" dirty="0">
                <a:solidFill>
                  <a:srgbClr val="9A6A12"/>
                </a:solidFill>
              </a:rPr>
              <a:t>Saboq</a:t>
            </a:r>
            <a:endParaRPr lang="en-US" sz="1800" dirty="0"/>
          </a:p>
          <a:p>
            <a:pPr marL="0" indent="0" algn="l">
              <a:spcAft>
                <a:spcPts val="300"/>
              </a:spcAft>
              <a:buNone/>
            </a:pPr>
            <a:r>
              <a:rPr lang="en-US" sz="1500" dirty="0">
                <a:solidFill>
                  <a:schemeClr val="tx1"/>
                </a:solidFill>
              </a:rPr>
              <a:t>Monoalfavit ≈ 2⁸⁸ &gt; DES 2⁵⁶, lekin chastotali tahlil bilan daqiqalarda ochiladi → 6-mavzu.</a:t>
            </a:r>
            <a:endParaRPr lang="en-US" sz="18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D99AE"/>
                </a:solidFill>
                <a:latin typeface="Times New Roman"/>
                <a:ea typeface="Times New Roman"/>
                <a:cs typeface="Times New Roman"/>
              </a:defRPr>
            </a:lvl1pPr>
          </a:lstStyle>
          <a:p>
            <a:pPr algn="r"/>
            <a:fld id="{F7021451-1387-4CA6-816F-3879F97B5CBC}" type="slidenum">
              <a:rPr lang="en-US" b="0"/>
              <a:t>12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400"/>
                                        <p:tgtEl>
                                          <p:spTgt spid="6"/>
                                        </p:tgtEl>
                                      </p:cBhvr>
                                    </p:animEffect>
                                  </p:childTnLst>
                                </p:cTn>
                              </p:par>
                              <p:par>
                                <p:cTn id="13" presetID="10"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4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400"/>
                                        <p:tgtEl>
                                          <p:spTgt spid="8"/>
                                        </p:tgtEl>
                                      </p:cBhvr>
                                    </p:animEffect>
                                  </p:childTnLst>
                                </p:cTn>
                              </p:par>
                              <p:par>
                                <p:cTn id="21" presetID="10"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400"/>
                                        <p:tgtEl>
                                          <p:spTgt spid="9"/>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400"/>
                                        <p:tgtEl>
                                          <p:spTgt spid="10"/>
                                        </p:tgtEl>
                                      </p:cBhvr>
                                    </p:animEffect>
                                  </p:childTnLst>
                                </p:cTn>
                              </p:par>
                              <p:par>
                                <p:cTn id="29" presetID="10" presetClass="entr" presetSubtype="0" fill="hold"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400"/>
                                        <p:tgtEl>
                                          <p:spTgt spid="11"/>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56032"/>
            <a:ext cx="11064240" cy="292608"/>
          </a:xfrm>
          <a:prstGeom prst="rect">
            <a:avLst/>
          </a:prstGeom>
          <a:noFill/>
          <a:ln/>
        </p:spPr>
        <p:txBody>
          <a:bodyPr wrap="square" lIns="0" tIns="0" rIns="0" bIns="0" rtlCol="0" anchor="ctr"/>
          <a:lstStyle/>
          <a:p>
            <a:pPr marL="0" indent="0">
              <a:buNone/>
            </a:pPr>
            <a:r>
              <a:rPr lang="en-US" sz="1300" b="1" dirty="0">
                <a:solidFill>
                  <a:schemeClr val="accent4"/>
                </a:solidFill>
                <a:latin typeface="Times New Roman" pitchFamily="34" charset="0"/>
                <a:ea typeface="Times New Roman" pitchFamily="34" charset="-122"/>
                <a:cs typeface="Times New Roman" pitchFamily="34" charset="-120"/>
              </a:rPr>
              <a:t>6-mavzu · Ehtimollik va statistika (1/3)</a:t>
            </a:r>
            <a:endParaRPr lang="en-US" sz="1300" dirty="0"/>
          </a:p>
        </p:txBody>
      </p:sp>
      <p:sp>
        <p:nvSpPr>
          <p:cNvPr id="3" name="Text 1"/>
          <p:cNvSpPr>
            <a:spLocks noGrp="1"/>
          </p:cNvSpPr>
          <p:nvPr>
            <p:ph type="title" idx="102" hasCustomPrompt="1"/>
          </p:nvPr>
        </p:nvSpPr>
        <p:spPr>
          <a:xfrm>
            <a:off x="548640" y="530352"/>
            <a:ext cx="1106424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Til tasodifiy emas: chastotali tahlil</a:t>
            </a:r>
            <a:endParaRPr lang="en-US" sz="3200" dirty="0"/>
          </a:p>
        </p:txBody>
      </p:sp>
      <p:graphicFrame>
        <p:nvGraphicFramePr>
          <p:cNvPr id="5" name="o_280"/>
          <p:cNvGraphicFramePr/>
          <p:nvPr/>
        </p:nvGraphicFramePr>
        <p:xfrm>
          <a:off x="457200" y="1371600"/>
          <a:ext cx="621792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6" name="o_281"/>
          <p:cNvSpPr txBox="1"/>
          <p:nvPr/>
        </p:nvSpPr>
        <p:spPr>
          <a:xfrm>
            <a:off x="548640" y="4754880"/>
            <a:ext cx="6126480" cy="365760"/>
          </a:xfrm>
          <a:prstGeom prst="rect">
            <a:avLst/>
          </a:prstGeom>
          <a:noFill/>
          <a:ln/>
        </p:spPr>
        <p:txBody>
          <a:bodyPr wrap="square" lIns="0" tIns="0" rIns="0" bIns="0" rtlCol="0" anchor="ctr"/>
          <a:lstStyle/>
          <a:p>
            <a:pPr marL="0" indent="0" algn="l">
              <a:buNone/>
            </a:pPr>
            <a:r>
              <a:rPr lang="en-US" sz="1400" dirty="0">
                <a:solidFill>
                  <a:srgbClr val="52514E"/>
                </a:solidFill>
              </a:rPr>
              <a:t>Rus tilida: О 10,97 %, Е 8,45 %, А 8,01 %;  eng kamyob — Ъ va Ё (0,04 %)</a:t>
            </a:r>
            <a:endParaRPr lang="en-US" sz="1400" dirty="0"/>
          </a:p>
        </p:txBody>
      </p:sp>
      <p:sp>
        <p:nvSpPr>
          <p:cNvPr id="7" name="A5_282"/>
          <p:cNvSpPr txBox="1"/>
          <p:nvPr/>
        </p:nvSpPr>
        <p:spPr>
          <a:xfrm>
            <a:off x="548640" y="5212080"/>
            <a:ext cx="6126480" cy="960120"/>
          </a:xfrm>
          <a:prstGeom prst="roundRect">
            <a:avLst>
              <a:gd name="adj" fmla="val 7619"/>
            </a:avLst>
          </a:prstGeom>
          <a:solidFill>
            <a:schemeClr val="accent6">
              <a:alpha val="12000"/>
            </a:schemeClr>
          </a:solidFill>
          <a:ln>
            <a:solidFill>
              <a:schemeClr val="accent6">
                <a:alpha val="0"/>
              </a:schemeClr>
            </a:solidFill>
          </a:ln>
        </p:spPr>
        <p:txBody>
          <a:bodyPr wrap="square" lIns="76200" tIns="127000" rIns="127000" bIns="76200" rtlCol="0" anchor="t"/>
          <a:lstStyle/>
          <a:p>
            <a:pPr marL="0" indent="0" algn="l">
              <a:spcAft>
                <a:spcPts val="300"/>
              </a:spcAft>
              <a:buNone/>
            </a:pPr>
            <a:r>
              <a:rPr lang="en-US" sz="1700" b="1" dirty="0">
                <a:solidFill>
                  <a:schemeClr val="accent6"/>
                </a:solidFill>
              </a:rPr>
              <a:t>χ² — ochilgan matn tilga qanchalik o‘xshash</a:t>
            </a:r>
            <a:endParaRPr lang="en-US" sz="1700" dirty="0"/>
          </a:p>
          <a:p>
            <a:pPr marL="0" indent="0" algn="l">
              <a:spcAft>
                <a:spcPts val="300"/>
              </a:spcAft>
              <a:buNone/>
            </a:pPr>
            <a:r>
              <a:rPr lang="en-US" sz="1500" dirty="0">
                <a:solidFill>
                  <a:schemeClr val="tx1"/>
                </a:solidFill>
              </a:rPr>
              <a:t>Har kalit bilan ochib, harflar sonini ingliz tilidagi bilan solishtiramiz: farq eng kichik — to‘g‘ri kalit</a:t>
            </a:r>
            <a:endParaRPr lang="en-US" sz="1700" dirty="0"/>
          </a:p>
        </p:txBody>
      </p:sp>
      <p:sp>
        <p:nvSpPr>
          <p:cNvPr id="8" name="A1_283"/>
          <p:cNvSpPr txBox="1"/>
          <p:nvPr/>
        </p:nvSpPr>
        <p:spPr>
          <a:xfrm>
            <a:off x="6995160" y="1371600"/>
            <a:ext cx="4663440" cy="365760"/>
          </a:xfrm>
          <a:prstGeom prst="rect">
            <a:avLst/>
          </a:prstGeom>
          <a:noFill/>
          <a:ln/>
        </p:spPr>
        <p:txBody>
          <a:bodyPr wrap="square" lIns="0" tIns="0" rIns="0" bIns="0" rtlCol="0" anchor="ctr"/>
          <a:lstStyle/>
          <a:p>
            <a:pPr marL="0" indent="0" algn="l">
              <a:buNone/>
            </a:pPr>
            <a:r>
              <a:rPr lang="en-US" sz="1600" b="1" dirty="0">
                <a:solidFill>
                  <a:schemeClr val="tx2"/>
                </a:solidFill>
              </a:rPr>
              <a:t>Misol: Sezar shifrmatni (kalit noma’lum)</a:t>
            </a:r>
            <a:endParaRPr lang="en-US" sz="1600" dirty="0"/>
          </a:p>
        </p:txBody>
      </p:sp>
      <p:sp>
        <p:nvSpPr>
          <p:cNvPr id="9" name="A1_284"/>
          <p:cNvSpPr txBox="1"/>
          <p:nvPr/>
        </p:nvSpPr>
        <p:spPr>
          <a:xfrm>
            <a:off x="6995160" y="1783080"/>
            <a:ext cx="4663440" cy="548640"/>
          </a:xfrm>
          <a:prstGeom prst="roundRect">
            <a:avLst>
              <a:gd name="adj" fmla="val 10000"/>
            </a:avLst>
          </a:prstGeom>
          <a:solidFill>
            <a:schemeClr val="tx2"/>
          </a:solidFill>
          <a:ln w="15875">
            <a:solidFill>
              <a:schemeClr val="tx2"/>
            </a:solidFill>
          </a:ln>
        </p:spPr>
        <p:txBody>
          <a:bodyPr wrap="square" lIns="25400" tIns="25400" rIns="25400" bIns="25400" rtlCol="0" anchor="ctr"/>
          <a:lstStyle/>
          <a:p>
            <a:pPr marL="0" indent="0" algn="ctr">
              <a:buNone/>
            </a:pPr>
            <a:r>
              <a:rPr lang="en-US" sz="1400" b="1" dirty="0">
                <a:solidFill>
                  <a:srgbClr val="E9F1FF"/>
                </a:solidFill>
                <a:latin typeface="Courier New" pitchFamily="34" charset="0"/>
                <a:ea typeface="Courier New" pitchFamily="34" charset="-122"/>
                <a:cs typeface="Courier New" pitchFamily="34" charset="-120"/>
              </a:rPr>
              <a:t>PHHW PH QHDU WKH HDVW JDWH DW VHYHQ</a:t>
            </a:r>
            <a:endParaRPr lang="en-US" sz="1400" dirty="0"/>
          </a:p>
        </p:txBody>
      </p:sp>
      <p:sp>
        <p:nvSpPr>
          <p:cNvPr id="10" name="o_285"/>
          <p:cNvSpPr txBox="1"/>
          <p:nvPr/>
        </p:nvSpPr>
        <p:spPr>
          <a:xfrm>
            <a:off x="6995160" y="2514600"/>
            <a:ext cx="1554480" cy="384048"/>
          </a:xfrm>
          <a:prstGeom prst="rect">
            <a:avLst/>
          </a:prstGeom>
          <a:solidFill>
            <a:schemeClr val="tx2"/>
          </a:solidFill>
          <a:ln w="9525">
            <a:solidFill>
              <a:srgbClr val="D5DBE5"/>
            </a:solidFill>
          </a:ln>
        </p:spPr>
        <p:txBody>
          <a:bodyPr wrap="square" lIns="25400" tIns="25400" rIns="25400" bIns="25400" rtlCol="0" anchor="ctr"/>
          <a:lstStyle/>
          <a:p>
            <a:pPr marL="0" indent="0" algn="ctr">
              <a:buNone/>
            </a:pPr>
            <a:r>
              <a:rPr lang="en-US" sz="1400" b="1" dirty="0">
                <a:solidFill>
                  <a:schemeClr val="bg1"/>
                </a:solidFill>
              </a:rPr>
              <a:t>harf</a:t>
            </a:r>
            <a:endParaRPr lang="en-US" sz="1400" dirty="0"/>
          </a:p>
        </p:txBody>
      </p:sp>
      <p:sp>
        <p:nvSpPr>
          <p:cNvPr id="11" name="o_286"/>
          <p:cNvSpPr txBox="1"/>
          <p:nvPr/>
        </p:nvSpPr>
        <p:spPr>
          <a:xfrm>
            <a:off x="8549640" y="2514600"/>
            <a:ext cx="1554480" cy="384048"/>
          </a:xfrm>
          <a:prstGeom prst="rect">
            <a:avLst/>
          </a:prstGeom>
          <a:solidFill>
            <a:schemeClr val="tx2"/>
          </a:solidFill>
          <a:ln w="9525">
            <a:solidFill>
              <a:srgbClr val="D5DBE5"/>
            </a:solidFill>
          </a:ln>
        </p:spPr>
        <p:txBody>
          <a:bodyPr wrap="square" lIns="25400" tIns="25400" rIns="25400" bIns="25400" rtlCol="0" anchor="ctr"/>
          <a:lstStyle/>
          <a:p>
            <a:pPr marL="0" indent="0" algn="ctr">
              <a:buNone/>
            </a:pPr>
            <a:r>
              <a:rPr lang="en-US" sz="1400" b="1" dirty="0">
                <a:solidFill>
                  <a:schemeClr val="bg1"/>
                </a:solidFill>
              </a:rPr>
              <a:t>H</a:t>
            </a:r>
            <a:endParaRPr lang="en-US" sz="1400" dirty="0"/>
          </a:p>
        </p:txBody>
      </p:sp>
      <p:sp>
        <p:nvSpPr>
          <p:cNvPr id="12" name="o_287"/>
          <p:cNvSpPr txBox="1"/>
          <p:nvPr/>
        </p:nvSpPr>
        <p:spPr>
          <a:xfrm>
            <a:off x="10104120" y="2514600"/>
            <a:ext cx="1554480" cy="384048"/>
          </a:xfrm>
          <a:prstGeom prst="rect">
            <a:avLst/>
          </a:prstGeom>
          <a:solidFill>
            <a:schemeClr val="tx2"/>
          </a:solidFill>
          <a:ln w="9525">
            <a:solidFill>
              <a:srgbClr val="D5DBE5"/>
            </a:solidFill>
          </a:ln>
        </p:spPr>
        <p:txBody>
          <a:bodyPr wrap="square" lIns="25400" tIns="25400" rIns="25400" bIns="25400" rtlCol="0" anchor="ctr"/>
          <a:lstStyle/>
          <a:p>
            <a:pPr marL="0" indent="0" algn="ctr">
              <a:buNone/>
            </a:pPr>
            <a:r>
              <a:rPr lang="en-US" sz="1400" b="1" dirty="0">
                <a:solidFill>
                  <a:schemeClr val="bg1"/>
                </a:solidFill>
              </a:rPr>
              <a:t>W  /  D</a:t>
            </a:r>
            <a:endParaRPr lang="en-US" sz="1400" dirty="0"/>
          </a:p>
        </p:txBody>
      </p:sp>
      <p:sp>
        <p:nvSpPr>
          <p:cNvPr id="13" name="A2_288"/>
          <p:cNvSpPr txBox="1"/>
          <p:nvPr/>
        </p:nvSpPr>
        <p:spPr>
          <a:xfrm>
            <a:off x="6995160" y="2898648"/>
            <a:ext cx="1554480" cy="384048"/>
          </a:xfrm>
          <a:prstGeom prst="rect">
            <a:avLst/>
          </a:prstGeom>
          <a:solidFill>
            <a:srgbClr val="F4F6FA"/>
          </a:solidFill>
          <a:ln w="9525">
            <a:solidFill>
              <a:srgbClr val="D5DBE5"/>
            </a:solidFill>
          </a:ln>
        </p:spPr>
        <p:txBody>
          <a:bodyPr wrap="square" lIns="25400" tIns="25400" rIns="25400" bIns="25400" rtlCol="0" anchor="ctr"/>
          <a:lstStyle/>
          <a:p>
            <a:pPr marL="0" indent="0" algn="ctr">
              <a:buNone/>
            </a:pPr>
            <a:r>
              <a:rPr lang="en-US" sz="1400" dirty="0">
                <a:solidFill>
                  <a:schemeClr val="tx1"/>
                </a:solidFill>
              </a:rPr>
              <a:t>sanoq (28 tadan)</a:t>
            </a:r>
            <a:endParaRPr lang="en-US" sz="1400" dirty="0"/>
          </a:p>
        </p:txBody>
      </p:sp>
      <p:sp>
        <p:nvSpPr>
          <p:cNvPr id="14" name="A2_289"/>
          <p:cNvSpPr txBox="1"/>
          <p:nvPr/>
        </p:nvSpPr>
        <p:spPr>
          <a:xfrm>
            <a:off x="8549640" y="2898648"/>
            <a:ext cx="1554480" cy="384048"/>
          </a:xfrm>
          <a:prstGeom prst="rect">
            <a:avLst/>
          </a:prstGeom>
          <a:solidFill>
            <a:schemeClr val="accent1">
              <a:alpha val="45000"/>
            </a:schemeClr>
          </a:solidFill>
          <a:ln w="9525">
            <a:solidFill>
              <a:srgbClr val="D5DBE5"/>
            </a:solidFill>
          </a:ln>
        </p:spPr>
        <p:txBody>
          <a:bodyPr wrap="square" lIns="25400" tIns="25400" rIns="25400" bIns="25400" rtlCol="0" anchor="ctr"/>
          <a:lstStyle/>
          <a:p>
            <a:pPr marL="0" indent="0" algn="ctr">
              <a:buNone/>
            </a:pPr>
            <a:r>
              <a:rPr lang="en-US" sz="1400" b="1" dirty="0">
                <a:solidFill>
                  <a:schemeClr val="tx1"/>
                </a:solidFill>
              </a:rPr>
              <a:t>9</a:t>
            </a:r>
            <a:endParaRPr lang="en-US" sz="1400" dirty="0"/>
          </a:p>
        </p:txBody>
      </p:sp>
      <p:sp>
        <p:nvSpPr>
          <p:cNvPr id="15" name="A2_290"/>
          <p:cNvSpPr txBox="1"/>
          <p:nvPr/>
        </p:nvSpPr>
        <p:spPr>
          <a:xfrm>
            <a:off x="10104120" y="2898648"/>
            <a:ext cx="1554480" cy="384048"/>
          </a:xfrm>
          <a:prstGeom prst="rect">
            <a:avLst/>
          </a:prstGeom>
          <a:solidFill>
            <a:srgbClr val="F4F6FA"/>
          </a:solidFill>
          <a:ln w="9525">
            <a:solidFill>
              <a:srgbClr val="D5DBE5"/>
            </a:solidFill>
          </a:ln>
        </p:spPr>
        <p:txBody>
          <a:bodyPr wrap="square" lIns="25400" tIns="25400" rIns="25400" bIns="25400" rtlCol="0" anchor="ctr"/>
          <a:lstStyle/>
          <a:p>
            <a:pPr marL="0" indent="0" algn="ctr">
              <a:buNone/>
            </a:pPr>
            <a:r>
              <a:rPr lang="en-US" sz="1400" dirty="0">
                <a:solidFill>
                  <a:schemeClr val="tx1"/>
                </a:solidFill>
              </a:rPr>
              <a:t>5  /  4</a:t>
            </a:r>
            <a:endParaRPr lang="en-US" sz="1400" dirty="0"/>
          </a:p>
        </p:txBody>
      </p:sp>
      <p:sp>
        <p:nvSpPr>
          <p:cNvPr id="16" name="A3_291"/>
          <p:cNvSpPr txBox="1"/>
          <p:nvPr/>
        </p:nvSpPr>
        <p:spPr>
          <a:xfrm>
            <a:off x="6995160" y="3383280"/>
            <a:ext cx="4663440" cy="777240"/>
          </a:xfrm>
          <a:prstGeom prst="roundRect">
            <a:avLst>
              <a:gd name="adj" fmla="val 9412"/>
            </a:avLst>
          </a:prstGeom>
          <a:solidFill>
            <a:schemeClr val="accent1">
              <a:alpha val="12000"/>
            </a:schemeClr>
          </a:solidFill>
          <a:ln>
            <a:solidFill>
              <a:schemeClr val="accent1">
                <a:alpha val="0"/>
              </a:schemeClr>
            </a:solidFill>
          </a:ln>
        </p:spPr>
        <p:txBody>
          <a:bodyPr wrap="square" lIns="76200" tIns="127000" rIns="127000" bIns="76200" rtlCol="0" anchor="ctr"/>
          <a:lstStyle/>
          <a:p>
            <a:pPr marL="0" indent="0" algn="l">
              <a:spcAft>
                <a:spcPts val="300"/>
              </a:spcAft>
              <a:buNone/>
            </a:pPr>
            <a:r>
              <a:rPr lang="en-US" sz="1900" b="1" dirty="0">
                <a:solidFill>
                  <a:schemeClr val="tx1"/>
                </a:solidFill>
              </a:rPr>
              <a:t>H = E  ⇒  K = 7 − 4 = 3</a:t>
            </a:r>
            <a:endParaRPr lang="en-US" sz="1900" dirty="0"/>
          </a:p>
        </p:txBody>
      </p:sp>
      <p:sp>
        <p:nvSpPr>
          <p:cNvPr id="17" name="A4_292"/>
          <p:cNvSpPr txBox="1"/>
          <p:nvPr/>
        </p:nvSpPr>
        <p:spPr>
          <a:xfrm>
            <a:off x="6995160" y="4297680"/>
            <a:ext cx="4663440" cy="548640"/>
          </a:xfrm>
          <a:prstGeom prst="roundRect">
            <a:avLst>
              <a:gd name="adj" fmla="val 10000"/>
            </a:avLst>
          </a:prstGeom>
          <a:solidFill>
            <a:schemeClr val="accent2">
              <a:alpha val="15000"/>
            </a:schemeClr>
          </a:solidFill>
          <a:ln w="15875">
            <a:solidFill>
              <a:schemeClr val="accent2"/>
            </a:solidFill>
          </a:ln>
        </p:spPr>
        <p:txBody>
          <a:bodyPr wrap="square" lIns="25400" tIns="25400" rIns="25400" bIns="25400" rtlCol="0" anchor="ctr"/>
          <a:lstStyle/>
          <a:p>
            <a:pPr marL="0" indent="0" algn="ctr">
              <a:buNone/>
            </a:pPr>
            <a:r>
              <a:rPr lang="en-US" sz="1400" b="1" dirty="0">
                <a:solidFill>
                  <a:schemeClr val="tx1"/>
                </a:solidFill>
                <a:latin typeface="Courier New" pitchFamily="34" charset="0"/>
                <a:ea typeface="Courier New" pitchFamily="34" charset="-122"/>
                <a:cs typeface="Courier New" pitchFamily="34" charset="-120"/>
              </a:rPr>
              <a:t>MEET ME NEAR THE EAST GATE AT SEVEN</a:t>
            </a:r>
            <a:endParaRPr lang="en-US" sz="1400" dirty="0"/>
          </a:p>
        </p:txBody>
      </p:sp>
      <p:sp>
        <p:nvSpPr>
          <p:cNvPr id="18" name="o_293"/>
          <p:cNvSpPr txBox="1"/>
          <p:nvPr/>
        </p:nvSpPr>
        <p:spPr>
          <a:xfrm>
            <a:off x="6995160" y="5029200"/>
            <a:ext cx="1165860" cy="384048"/>
          </a:xfrm>
          <a:prstGeom prst="rect">
            <a:avLst/>
          </a:prstGeom>
          <a:solidFill>
            <a:schemeClr val="tx2"/>
          </a:solidFill>
          <a:ln w="9525">
            <a:solidFill>
              <a:srgbClr val="D5DBE5"/>
            </a:solidFill>
          </a:ln>
        </p:spPr>
        <p:txBody>
          <a:bodyPr wrap="square" lIns="25400" tIns="25400" rIns="25400" bIns="25400" rtlCol="0" anchor="ctr"/>
          <a:lstStyle/>
          <a:p>
            <a:pPr marL="0" indent="0" algn="ctr">
              <a:buNone/>
            </a:pPr>
            <a:r>
              <a:rPr lang="en-US" sz="1400" b="1" dirty="0">
                <a:solidFill>
                  <a:schemeClr val="bg1"/>
                </a:solidFill>
              </a:rPr>
              <a:t>K</a:t>
            </a:r>
            <a:endParaRPr lang="en-US" sz="1400" dirty="0"/>
          </a:p>
        </p:txBody>
      </p:sp>
      <p:sp>
        <p:nvSpPr>
          <p:cNvPr id="19" name="o_294"/>
          <p:cNvSpPr txBox="1"/>
          <p:nvPr/>
        </p:nvSpPr>
        <p:spPr>
          <a:xfrm>
            <a:off x="8161020" y="5029200"/>
            <a:ext cx="1165860" cy="384048"/>
          </a:xfrm>
          <a:prstGeom prst="rect">
            <a:avLst/>
          </a:prstGeom>
          <a:solidFill>
            <a:schemeClr val="tx2"/>
          </a:solidFill>
          <a:ln w="9525">
            <a:solidFill>
              <a:srgbClr val="D5DBE5"/>
            </a:solidFill>
          </a:ln>
        </p:spPr>
        <p:txBody>
          <a:bodyPr wrap="square" lIns="25400" tIns="25400" rIns="25400" bIns="25400" rtlCol="0" anchor="ctr"/>
          <a:lstStyle/>
          <a:p>
            <a:pPr marL="0" indent="0" algn="ctr">
              <a:buNone/>
            </a:pPr>
            <a:r>
              <a:rPr lang="en-US" sz="1400" b="1" dirty="0">
                <a:solidFill>
                  <a:schemeClr val="bg1"/>
                </a:solidFill>
              </a:rPr>
              <a:t>3</a:t>
            </a:r>
            <a:endParaRPr lang="en-US" sz="1400" dirty="0"/>
          </a:p>
        </p:txBody>
      </p:sp>
      <p:sp>
        <p:nvSpPr>
          <p:cNvPr id="20" name="o_295"/>
          <p:cNvSpPr txBox="1"/>
          <p:nvPr/>
        </p:nvSpPr>
        <p:spPr>
          <a:xfrm>
            <a:off x="9326880" y="5029200"/>
            <a:ext cx="1165860" cy="384048"/>
          </a:xfrm>
          <a:prstGeom prst="rect">
            <a:avLst/>
          </a:prstGeom>
          <a:solidFill>
            <a:schemeClr val="tx2"/>
          </a:solidFill>
          <a:ln w="9525">
            <a:solidFill>
              <a:srgbClr val="D5DBE5"/>
            </a:solidFill>
          </a:ln>
        </p:spPr>
        <p:txBody>
          <a:bodyPr wrap="square" lIns="25400" tIns="25400" rIns="25400" bIns="25400" rtlCol="0" anchor="ctr"/>
          <a:lstStyle/>
          <a:p>
            <a:pPr marL="0" indent="0" algn="ctr">
              <a:buNone/>
            </a:pPr>
            <a:r>
              <a:rPr lang="en-US" sz="1400" b="1" dirty="0">
                <a:solidFill>
                  <a:schemeClr val="bg1"/>
                </a:solidFill>
              </a:rPr>
              <a:t>14</a:t>
            </a:r>
            <a:endParaRPr lang="en-US" sz="1400" dirty="0"/>
          </a:p>
        </p:txBody>
      </p:sp>
      <p:sp>
        <p:nvSpPr>
          <p:cNvPr id="21" name="o_296"/>
          <p:cNvSpPr txBox="1"/>
          <p:nvPr/>
        </p:nvSpPr>
        <p:spPr>
          <a:xfrm>
            <a:off x="10492740" y="5029200"/>
            <a:ext cx="1165860" cy="384048"/>
          </a:xfrm>
          <a:prstGeom prst="rect">
            <a:avLst/>
          </a:prstGeom>
          <a:solidFill>
            <a:schemeClr val="tx2"/>
          </a:solidFill>
          <a:ln w="9525">
            <a:solidFill>
              <a:srgbClr val="D5DBE5"/>
            </a:solidFill>
          </a:ln>
        </p:spPr>
        <p:txBody>
          <a:bodyPr wrap="square" lIns="25400" tIns="25400" rIns="25400" bIns="25400" rtlCol="0" anchor="ctr"/>
          <a:lstStyle/>
          <a:p>
            <a:pPr marL="0" indent="0" algn="ctr">
              <a:buNone/>
            </a:pPr>
            <a:r>
              <a:rPr lang="en-US" sz="1400" b="1" dirty="0">
                <a:solidFill>
                  <a:schemeClr val="bg1"/>
                </a:solidFill>
              </a:rPr>
              <a:t>0</a:t>
            </a:r>
            <a:endParaRPr lang="en-US" sz="1400" dirty="0"/>
          </a:p>
        </p:txBody>
      </p:sp>
      <p:sp>
        <p:nvSpPr>
          <p:cNvPr id="22" name="A5_297"/>
          <p:cNvSpPr txBox="1"/>
          <p:nvPr/>
        </p:nvSpPr>
        <p:spPr>
          <a:xfrm>
            <a:off x="6995160" y="5413248"/>
            <a:ext cx="1165860" cy="384048"/>
          </a:xfrm>
          <a:prstGeom prst="rect">
            <a:avLst/>
          </a:prstGeom>
          <a:solidFill>
            <a:srgbClr val="F4F6FA"/>
          </a:solidFill>
          <a:ln w="9525">
            <a:solidFill>
              <a:srgbClr val="D5DBE5"/>
            </a:solidFill>
          </a:ln>
        </p:spPr>
        <p:txBody>
          <a:bodyPr wrap="square" lIns="25400" tIns="25400" rIns="25400" bIns="25400" rtlCol="0" anchor="ctr"/>
          <a:lstStyle/>
          <a:p>
            <a:pPr marL="0" indent="0" algn="ctr">
              <a:buNone/>
            </a:pPr>
            <a:r>
              <a:rPr lang="en-US" sz="1400" dirty="0">
                <a:solidFill>
                  <a:schemeClr val="tx1"/>
                </a:solidFill>
              </a:rPr>
              <a:t>χ²</a:t>
            </a:r>
            <a:endParaRPr lang="en-US" sz="1400" dirty="0"/>
          </a:p>
        </p:txBody>
      </p:sp>
      <p:sp>
        <p:nvSpPr>
          <p:cNvPr id="23" name="A5_298"/>
          <p:cNvSpPr txBox="1"/>
          <p:nvPr/>
        </p:nvSpPr>
        <p:spPr>
          <a:xfrm>
            <a:off x="8161020" y="5413248"/>
            <a:ext cx="1165860" cy="384048"/>
          </a:xfrm>
          <a:prstGeom prst="rect">
            <a:avLst/>
          </a:prstGeom>
          <a:solidFill>
            <a:schemeClr val="accent1">
              <a:alpha val="45000"/>
            </a:schemeClr>
          </a:solidFill>
          <a:ln w="9525">
            <a:solidFill>
              <a:srgbClr val="D5DBE5"/>
            </a:solidFill>
          </a:ln>
        </p:spPr>
        <p:txBody>
          <a:bodyPr wrap="square" lIns="25400" tIns="25400" rIns="25400" bIns="25400" rtlCol="0" anchor="ctr"/>
          <a:lstStyle/>
          <a:p>
            <a:pPr marL="0" indent="0" algn="ctr">
              <a:buNone/>
            </a:pPr>
            <a:r>
              <a:rPr lang="en-US" sz="1400" b="1" dirty="0">
                <a:solidFill>
                  <a:schemeClr val="tx1"/>
                </a:solidFill>
              </a:rPr>
              <a:t>28,5</a:t>
            </a:r>
            <a:endParaRPr lang="en-US" sz="1400" dirty="0"/>
          </a:p>
        </p:txBody>
      </p:sp>
      <p:sp>
        <p:nvSpPr>
          <p:cNvPr id="24" name="A5_299"/>
          <p:cNvSpPr txBox="1"/>
          <p:nvPr/>
        </p:nvSpPr>
        <p:spPr>
          <a:xfrm>
            <a:off x="9326880" y="5413248"/>
            <a:ext cx="1165860" cy="384048"/>
          </a:xfrm>
          <a:prstGeom prst="rect">
            <a:avLst/>
          </a:prstGeom>
          <a:solidFill>
            <a:srgbClr val="F4F6FA"/>
          </a:solidFill>
          <a:ln w="9525">
            <a:solidFill>
              <a:srgbClr val="D5DBE5"/>
            </a:solidFill>
          </a:ln>
        </p:spPr>
        <p:txBody>
          <a:bodyPr wrap="square" lIns="25400" tIns="25400" rIns="25400" bIns="25400" rtlCol="0" anchor="ctr"/>
          <a:lstStyle/>
          <a:p>
            <a:pPr marL="0" indent="0" algn="ctr">
              <a:buNone/>
            </a:pPr>
            <a:r>
              <a:rPr lang="en-US" sz="1400" dirty="0">
                <a:solidFill>
                  <a:schemeClr val="tx1"/>
                </a:solidFill>
              </a:rPr>
              <a:t>75,0</a:t>
            </a:r>
            <a:endParaRPr lang="en-US" sz="1400" dirty="0"/>
          </a:p>
        </p:txBody>
      </p:sp>
      <p:sp>
        <p:nvSpPr>
          <p:cNvPr id="25" name="A5_300"/>
          <p:cNvSpPr txBox="1"/>
          <p:nvPr/>
        </p:nvSpPr>
        <p:spPr>
          <a:xfrm>
            <a:off x="10492740" y="5413248"/>
            <a:ext cx="1165860" cy="384048"/>
          </a:xfrm>
          <a:prstGeom prst="rect">
            <a:avLst/>
          </a:prstGeom>
          <a:solidFill>
            <a:srgbClr val="F4F6FA"/>
          </a:solidFill>
          <a:ln w="9525">
            <a:solidFill>
              <a:srgbClr val="D5DBE5"/>
            </a:solidFill>
          </a:ln>
        </p:spPr>
        <p:txBody>
          <a:bodyPr wrap="square" lIns="25400" tIns="25400" rIns="25400" bIns="25400" rtlCol="0" anchor="ctr"/>
          <a:lstStyle/>
          <a:p>
            <a:pPr marL="0" indent="0" algn="ctr">
              <a:buNone/>
            </a:pPr>
            <a:r>
              <a:rPr lang="en-US" sz="1400" dirty="0">
                <a:solidFill>
                  <a:schemeClr val="tx1"/>
                </a:solidFill>
              </a:rPr>
              <a:t>274,2</a:t>
            </a:r>
            <a:endParaRPr lang="en-US" sz="1400" dirty="0"/>
          </a:p>
        </p:txBody>
      </p:sp>
      <p:sp>
        <p:nvSpPr>
          <p:cNvPr id="4"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D99AE"/>
                </a:solidFill>
                <a:latin typeface="Times New Roman"/>
                <a:ea typeface="Times New Roman"/>
                <a:cs typeface="Times New Roman"/>
              </a:defRPr>
            </a:lvl1pPr>
          </a:lstStyle>
          <a:p>
            <a:pPr algn="r"/>
            <a:fld id="{F7021451-1387-4CA6-816F-3879F97B5CBC}" type="slidenum">
              <a:rPr lang="en-US" b="0"/>
              <a:t>13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400"/>
                                        <p:tgtEl>
                                          <p:spTgt spid="13"/>
                                        </p:tgtEl>
                                      </p:cBhvr>
                                    </p:animEffect>
                                  </p:childTnLst>
                                </p:cTn>
                              </p:par>
                              <p:par>
                                <p:cTn id="16" presetID="10" presetClass="entr" presetSubtype="0"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400"/>
                                        <p:tgtEl>
                                          <p:spTgt spid="14"/>
                                        </p:tgtEl>
                                      </p:cBhvr>
                                    </p:animEffect>
                                  </p:childTnLst>
                                </p:cTn>
                              </p:par>
                              <p:par>
                                <p:cTn id="19" presetID="10"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00"/>
                                        <p:tgtEl>
                                          <p:spTgt spid="15"/>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400"/>
                                        <p:tgtEl>
                                          <p:spTgt spid="1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400"/>
                                        <p:tgtEl>
                                          <p:spTgt spid="17"/>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400"/>
                                        <p:tgtEl>
                                          <p:spTgt spid="7"/>
                                        </p:tgtEl>
                                      </p:cBhvr>
                                    </p:animEffect>
                                  </p:childTnLst>
                                </p:cTn>
                              </p:par>
                              <p:par>
                                <p:cTn id="37" presetID="10" presetClass="entr" presetSubtype="0" fill="hold" nodeType="with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fade">
                                      <p:cBhvr>
                                        <p:cTn id="39" dur="400"/>
                                        <p:tgtEl>
                                          <p:spTgt spid="22"/>
                                        </p:tgtEl>
                                      </p:cBhvr>
                                    </p:animEffect>
                                  </p:childTnLst>
                                </p:cTn>
                              </p:par>
                              <p:par>
                                <p:cTn id="40" presetID="10" presetClass="entr" presetSubtype="0" fill="hold" nodeType="with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fade">
                                      <p:cBhvr>
                                        <p:cTn id="42" dur="400"/>
                                        <p:tgtEl>
                                          <p:spTgt spid="23"/>
                                        </p:tgtEl>
                                      </p:cBhvr>
                                    </p:animEffect>
                                  </p:childTnLst>
                                </p:cTn>
                              </p:par>
                              <p:par>
                                <p:cTn id="43" presetID="10" presetClass="entr" presetSubtype="0" fill="hold" nodeType="withEffect">
                                  <p:stCondLst>
                                    <p:cond delay="0"/>
                                  </p:stCondLst>
                                  <p:childTnLst>
                                    <p:set>
                                      <p:cBhvr>
                                        <p:cTn id="44" dur="1" fill="hold">
                                          <p:stCondLst>
                                            <p:cond delay="0"/>
                                          </p:stCondLst>
                                        </p:cTn>
                                        <p:tgtEl>
                                          <p:spTgt spid="24"/>
                                        </p:tgtEl>
                                        <p:attrNameLst>
                                          <p:attrName>style.visibility</p:attrName>
                                        </p:attrNameLst>
                                      </p:cBhvr>
                                      <p:to>
                                        <p:strVal val="visible"/>
                                      </p:to>
                                    </p:set>
                                    <p:animEffect transition="in" filter="fade">
                                      <p:cBhvr>
                                        <p:cTn id="45" dur="400"/>
                                        <p:tgtEl>
                                          <p:spTgt spid="24"/>
                                        </p:tgtEl>
                                      </p:cBhvr>
                                    </p:animEffect>
                                  </p:childTnLst>
                                </p:cTn>
                              </p:par>
                              <p:par>
                                <p:cTn id="46" presetID="10" presetClass="entr" presetSubtype="0" fill="hold" nodeType="withEffect">
                                  <p:stCondLst>
                                    <p:cond delay="0"/>
                                  </p:stCondLst>
                                  <p:childTnLst>
                                    <p:set>
                                      <p:cBhvr>
                                        <p:cTn id="47" dur="1" fill="hold">
                                          <p:stCondLst>
                                            <p:cond delay="0"/>
                                          </p:stCondLst>
                                        </p:cTn>
                                        <p:tgtEl>
                                          <p:spTgt spid="25"/>
                                        </p:tgtEl>
                                        <p:attrNameLst>
                                          <p:attrName>style.visibility</p:attrName>
                                        </p:attrNameLst>
                                      </p:cBhvr>
                                      <p:to>
                                        <p:strVal val="visible"/>
                                      </p:to>
                                    </p:set>
                                    <p:animEffect transition="in" filter="fade">
                                      <p:cBhvr>
                                        <p:cTn id="48"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56032"/>
            <a:ext cx="11064240" cy="292608"/>
          </a:xfrm>
          <a:prstGeom prst="rect">
            <a:avLst/>
          </a:prstGeom>
          <a:noFill/>
          <a:ln/>
        </p:spPr>
        <p:txBody>
          <a:bodyPr wrap="square" lIns="0" tIns="0" rIns="0" bIns="0" rtlCol="0" anchor="ctr"/>
          <a:lstStyle/>
          <a:p>
            <a:pPr marL="0" indent="0">
              <a:buNone/>
            </a:pPr>
            <a:r>
              <a:rPr lang="en-US" sz="1300" b="1" dirty="0">
                <a:solidFill>
                  <a:schemeClr val="accent4"/>
                </a:solidFill>
                <a:latin typeface="Times New Roman" pitchFamily="34" charset="0"/>
                <a:ea typeface="Times New Roman" pitchFamily="34" charset="-122"/>
                <a:cs typeface="Times New Roman" pitchFamily="34" charset="-120"/>
              </a:rPr>
              <a:t>6-mavzu · Ehtimollik va statistika (2/3)</a:t>
            </a:r>
            <a:endParaRPr lang="en-US" sz="1300" dirty="0"/>
          </a:p>
        </p:txBody>
      </p:sp>
      <p:sp>
        <p:nvSpPr>
          <p:cNvPr id="3" name="Text 1"/>
          <p:cNvSpPr>
            <a:spLocks noGrp="1"/>
          </p:cNvSpPr>
          <p:nvPr>
            <p:ph type="title" idx="102" hasCustomPrompt="1"/>
          </p:nvPr>
        </p:nvSpPr>
        <p:spPr>
          <a:xfrm>
            <a:off x="548640" y="530352"/>
            <a:ext cx="1106424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Moslik indeksi: shifr turini aniqlash</a:t>
            </a:r>
            <a:endParaRPr lang="en-US" sz="3200" dirty="0"/>
          </a:p>
        </p:txBody>
      </p:sp>
      <p:sp>
        <p:nvSpPr>
          <p:cNvPr id="5" name="A1_301"/>
          <p:cNvSpPr txBox="1"/>
          <p:nvPr/>
        </p:nvSpPr>
        <p:spPr>
          <a:xfrm>
            <a:off x="548640" y="1417320"/>
            <a:ext cx="5669280" cy="1463040"/>
          </a:xfrm>
          <a:prstGeom prst="roundRect">
            <a:avLst>
              <a:gd name="adj" fmla="val 5000"/>
            </a:avLst>
          </a:prstGeom>
          <a:solidFill>
            <a:schemeClr val="accent4">
              <a:alpha val="12000"/>
            </a:schemeClr>
          </a:solidFill>
          <a:ln>
            <a:solidFill>
              <a:schemeClr val="accent4">
                <a:alpha val="0"/>
              </a:schemeClr>
            </a:solidFill>
          </a:ln>
        </p:spPr>
        <p:txBody>
          <a:bodyPr wrap="square" lIns="76200" tIns="127000" rIns="127000" bIns="76200" rtlCol="0" anchor="t"/>
          <a:lstStyle/>
          <a:p>
            <a:pPr marL="0" indent="0" algn="l">
              <a:spcAft>
                <a:spcPts val="300"/>
              </a:spcAft>
              <a:buNone/>
            </a:pPr>
            <a:r>
              <a:rPr lang="en-US" sz="1800" b="1" dirty="0">
                <a:solidFill>
                  <a:schemeClr val="accent4"/>
                </a:solidFill>
              </a:rPr>
              <a:t>Moslik indeksi (IC) — nima?</a:t>
            </a:r>
            <a:endParaRPr lang="en-US" sz="1800" dirty="0"/>
          </a:p>
          <a:p>
            <a:pPr marL="0" indent="0" algn="l">
              <a:spcAft>
                <a:spcPts val="300"/>
              </a:spcAft>
              <a:buNone/>
            </a:pPr>
            <a:r>
              <a:rPr lang="en-US" sz="1800" b="1" dirty="0">
                <a:solidFill>
                  <a:schemeClr val="tx1"/>
                </a:solidFill>
              </a:rPr>
              <a:t>Matndan tasodifan olingan ikki harf bir xil chiqish ehtimolligi</a:t>
            </a:r>
            <a:endParaRPr lang="en-US" sz="1800" dirty="0"/>
          </a:p>
          <a:p>
            <a:pPr marL="0" indent="0" algn="l">
              <a:spcAft>
                <a:spcPts val="300"/>
              </a:spcAft>
              <a:buNone/>
            </a:pPr>
            <a:r>
              <a:rPr lang="en-US" sz="1600" dirty="0">
                <a:solidFill>
                  <a:srgbClr val="52514E"/>
                </a:solidFill>
              </a:rPr>
              <a:t>inglizcha matn ≈ 0,066;  tasodifiy harflar ≈ 0,038</a:t>
            </a:r>
            <a:endParaRPr lang="en-US" sz="1800" dirty="0"/>
          </a:p>
        </p:txBody>
      </p:sp>
      <p:graphicFrame>
        <p:nvGraphicFramePr>
          <p:cNvPr id="6" name="A2_302"/>
          <p:cNvGraphicFramePr/>
          <p:nvPr/>
        </p:nvGraphicFramePr>
        <p:xfrm>
          <a:off x="457200" y="3017520"/>
          <a:ext cx="5852160" cy="3154680"/>
        </p:xfrm>
        <a:graphic>
          <a:graphicData uri="http://schemas.openxmlformats.org/drawingml/2006/chart">
            <c:chart xmlns:c="http://schemas.openxmlformats.org/drawingml/2006/chart" xmlns:r="http://schemas.openxmlformats.org/officeDocument/2006/relationships" r:id="rId3"/>
          </a:graphicData>
        </a:graphic>
      </p:graphicFrame>
      <p:sp>
        <p:nvSpPr>
          <p:cNvPr id="7" name="A3_303"/>
          <p:cNvSpPr txBox="1"/>
          <p:nvPr/>
        </p:nvSpPr>
        <p:spPr>
          <a:xfrm>
            <a:off x="6537960" y="1417320"/>
            <a:ext cx="5120640" cy="1417320"/>
          </a:xfrm>
          <a:prstGeom prst="roundRect">
            <a:avLst>
              <a:gd name="adj" fmla="val 5161"/>
            </a:avLst>
          </a:prstGeom>
          <a:solidFill>
            <a:schemeClr val="accent2">
              <a:alpha val="12000"/>
            </a:schemeClr>
          </a:solidFill>
          <a:ln>
            <a:solidFill>
              <a:schemeClr val="accent2">
                <a:alpha val="0"/>
              </a:schemeClr>
            </a:solidFill>
          </a:ln>
        </p:spPr>
        <p:txBody>
          <a:bodyPr wrap="square" lIns="76200" tIns="127000" rIns="127000" bIns="76200" rtlCol="0" anchor="t"/>
          <a:lstStyle/>
          <a:p>
            <a:pPr marL="0" indent="0" algn="l">
              <a:spcAft>
                <a:spcPts val="300"/>
              </a:spcAft>
              <a:buNone/>
            </a:pPr>
            <a:r>
              <a:rPr lang="en-US" sz="1800" b="1" dirty="0">
                <a:solidFill>
                  <a:schemeClr val="accent2"/>
                </a:solidFill>
              </a:rPr>
              <a:t>1. Monoalfavit — IC o‘zgarmaydi</a:t>
            </a:r>
            <a:endParaRPr lang="en-US" sz="1800" dirty="0"/>
          </a:p>
          <a:p>
            <a:pPr marL="0" indent="0" algn="l">
              <a:spcAft>
                <a:spcPts val="300"/>
              </a:spcAft>
              <a:buNone/>
            </a:pPr>
            <a:r>
              <a:rPr lang="en-US" sz="1600" dirty="0">
                <a:solidFill>
                  <a:schemeClr val="tx1"/>
                </a:solidFill>
              </a:rPr>
              <a:t>Almashtirish harflar nomini o‘zgartiradi, sanoqlarini emas: shifrmatnda ham IC ≈ 0,066.</a:t>
            </a:r>
            <a:endParaRPr lang="en-US" sz="1800" dirty="0"/>
          </a:p>
        </p:txBody>
      </p:sp>
      <p:sp>
        <p:nvSpPr>
          <p:cNvPr id="8" name="A4_304"/>
          <p:cNvSpPr txBox="1"/>
          <p:nvPr/>
        </p:nvSpPr>
        <p:spPr>
          <a:xfrm>
            <a:off x="6537960" y="2971800"/>
            <a:ext cx="5120640" cy="1417320"/>
          </a:xfrm>
          <a:prstGeom prst="roundRect">
            <a:avLst>
              <a:gd name="adj" fmla="val 5161"/>
            </a:avLst>
          </a:prstGeom>
          <a:solidFill>
            <a:schemeClr val="accent3">
              <a:alpha val="12000"/>
            </a:schemeClr>
          </a:solidFill>
          <a:ln>
            <a:solidFill>
              <a:schemeClr val="accent3">
                <a:alpha val="0"/>
              </a:schemeClr>
            </a:solidFill>
          </a:ln>
        </p:spPr>
        <p:txBody>
          <a:bodyPr wrap="square" lIns="76200" tIns="127000" rIns="127000" bIns="76200" rtlCol="0" anchor="t"/>
          <a:lstStyle/>
          <a:p>
            <a:pPr marL="0" indent="0" algn="l">
              <a:spcAft>
                <a:spcPts val="300"/>
              </a:spcAft>
              <a:buNone/>
            </a:pPr>
            <a:r>
              <a:rPr lang="en-US" sz="1800" b="1" dirty="0">
                <a:solidFill>
                  <a:schemeClr val="accent3"/>
                </a:solidFill>
              </a:rPr>
              <a:t>2. Polialfavit — IC pasayadi</a:t>
            </a:r>
            <a:endParaRPr lang="en-US" sz="1800" dirty="0"/>
          </a:p>
          <a:p>
            <a:pPr marL="0" indent="0" algn="l">
              <a:spcAft>
                <a:spcPts val="300"/>
              </a:spcAft>
              <a:buNone/>
            </a:pPr>
            <a:r>
              <a:rPr lang="en-US" sz="1600" dirty="0">
                <a:solidFill>
                  <a:schemeClr val="tx1"/>
                </a:solidFill>
              </a:rPr>
              <a:t>Chastotalar tekislanadi: IC ≈ 0,038 ga yaqinlashadi → kalit uzunligini topish mumkin (Fridman testi, 11-mavzu).</a:t>
            </a:r>
            <a:endParaRPr lang="en-US" sz="1800" dirty="0"/>
          </a:p>
        </p:txBody>
      </p:sp>
      <p:sp>
        <p:nvSpPr>
          <p:cNvPr id="9" name="A5_305"/>
          <p:cNvSpPr txBox="1"/>
          <p:nvPr/>
        </p:nvSpPr>
        <p:spPr>
          <a:xfrm>
            <a:off x="6537960" y="4526280"/>
            <a:ext cx="5120640" cy="1645920"/>
          </a:xfrm>
          <a:prstGeom prst="roundRect">
            <a:avLst>
              <a:gd name="adj" fmla="val 4444"/>
            </a:avLst>
          </a:prstGeom>
          <a:solidFill>
            <a:schemeClr val="accent2">
              <a:alpha val="18000"/>
            </a:schemeClr>
          </a:solidFill>
          <a:ln>
            <a:solidFill>
              <a:schemeClr val="accent2">
                <a:alpha val="0"/>
              </a:schemeClr>
            </a:solidFill>
          </a:ln>
        </p:spPr>
        <p:txBody>
          <a:bodyPr wrap="square" lIns="76200" tIns="127000" rIns="127000" bIns="76200" rtlCol="0" anchor="t"/>
          <a:lstStyle/>
          <a:p>
            <a:pPr marL="0" indent="0" algn="l">
              <a:spcAft>
                <a:spcPts val="300"/>
              </a:spcAft>
              <a:buNone/>
            </a:pPr>
            <a:r>
              <a:rPr lang="en-US" sz="1700" b="1" dirty="0">
                <a:solidFill>
                  <a:srgbClr val="1E7268"/>
                </a:solidFill>
              </a:rPr>
              <a:t>Kriptografiyada qayerda kerak</a:t>
            </a:r>
            <a:endParaRPr lang="en-US" sz="1700" dirty="0"/>
          </a:p>
          <a:p>
            <a:pPr marL="0" indent="0" algn="l">
              <a:spcAft>
                <a:spcPts val="300"/>
              </a:spcAft>
              <a:buNone/>
            </a:pPr>
            <a:r>
              <a:rPr lang="en-US" sz="1500" dirty="0">
                <a:solidFill>
                  <a:schemeClr val="tx1"/>
                </a:solidFill>
              </a:rPr>
              <a:t>▸ shifr turini aniqlash: monoalfavitmi yoki polialfavitmi</a:t>
            </a:r>
            <a:endParaRPr lang="en-US" sz="1700" dirty="0"/>
          </a:p>
          <a:p>
            <a:pPr marL="0" indent="0" algn="l">
              <a:spcAft>
                <a:spcPts val="300"/>
              </a:spcAft>
              <a:buNone/>
            </a:pPr>
            <a:r>
              <a:rPr lang="en-US" sz="1500" dirty="0">
                <a:solidFill>
                  <a:schemeClr val="tx1"/>
                </a:solidFill>
              </a:rPr>
              <a:t>▸ Vijener kaliti uzunligini topish (11-mavzu)</a:t>
            </a:r>
            <a:endParaRPr lang="en-US" sz="1700" dirty="0"/>
          </a:p>
          <a:p>
            <a:pPr marL="0" indent="0" algn="l">
              <a:spcAft>
                <a:spcPts val="300"/>
              </a:spcAft>
              <a:buNone/>
            </a:pPr>
            <a:r>
              <a:rPr lang="en-US" sz="1500" dirty="0">
                <a:solidFill>
                  <a:schemeClr val="tx1"/>
                </a:solidFill>
              </a:rPr>
              <a:t>▸ diqqat: kamida bir necha yuz harf kerak</a:t>
            </a:r>
            <a:endParaRPr lang="en-US" sz="17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D99AE"/>
                </a:solidFill>
                <a:latin typeface="Times New Roman"/>
                <a:ea typeface="Times New Roman"/>
                <a:cs typeface="Times New Roman"/>
              </a:defRPr>
            </a:lvl1pPr>
          </a:lstStyle>
          <a:p>
            <a:pPr algn="r"/>
            <a:fld id="{F7021451-1387-4CA6-816F-3879F97B5CBC}" type="slidenum">
              <a:rPr lang="en-US" b="0"/>
              <a:t>14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4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4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56032"/>
            <a:ext cx="11064240" cy="292608"/>
          </a:xfrm>
          <a:prstGeom prst="rect">
            <a:avLst/>
          </a:prstGeom>
          <a:noFill/>
          <a:ln/>
        </p:spPr>
        <p:txBody>
          <a:bodyPr wrap="square" lIns="0" tIns="0" rIns="0" bIns="0" rtlCol="0" anchor="ctr"/>
          <a:lstStyle/>
          <a:p>
            <a:pPr marL="0" indent="0">
              <a:buNone/>
            </a:pPr>
            <a:r>
              <a:rPr lang="en-US" sz="1300" b="1" dirty="0">
                <a:solidFill>
                  <a:schemeClr val="accent4"/>
                </a:solidFill>
                <a:latin typeface="Times New Roman" pitchFamily="34" charset="0"/>
                <a:ea typeface="Times New Roman" pitchFamily="34" charset="-122"/>
                <a:cs typeface="Times New Roman" pitchFamily="34" charset="-120"/>
              </a:rPr>
              <a:t>6-mavzu · Ehtimollik va statistika (3/3)</a:t>
            </a:r>
            <a:endParaRPr lang="en-US" sz="1300" dirty="0"/>
          </a:p>
        </p:txBody>
      </p:sp>
      <p:sp>
        <p:nvSpPr>
          <p:cNvPr id="3" name="Text 1"/>
          <p:cNvSpPr>
            <a:spLocks noGrp="1"/>
          </p:cNvSpPr>
          <p:nvPr>
            <p:ph type="title" idx="102" hasCustomPrompt="1"/>
          </p:nvPr>
        </p:nvSpPr>
        <p:spPr>
          <a:xfrm>
            <a:off x="548640" y="530352"/>
            <a:ext cx="1106424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Tug‘ilgan kun paradoksi: √N qoidasi</a:t>
            </a:r>
            <a:endParaRPr lang="en-US" sz="3200" dirty="0"/>
          </a:p>
        </p:txBody>
      </p:sp>
      <p:graphicFrame>
        <p:nvGraphicFramePr>
          <p:cNvPr id="5" name="o_306"/>
          <p:cNvGraphicFramePr/>
          <p:nvPr/>
        </p:nvGraphicFramePr>
        <p:xfrm>
          <a:off x="457200" y="1371600"/>
          <a:ext cx="6492240" cy="3794760"/>
        </p:xfrm>
        <a:graphic>
          <a:graphicData uri="http://schemas.openxmlformats.org/drawingml/2006/chart">
            <c:chart xmlns:c="http://schemas.openxmlformats.org/drawingml/2006/chart" xmlns:r="http://schemas.openxmlformats.org/officeDocument/2006/relationships" r:id="rId3"/>
          </a:graphicData>
        </a:graphic>
      </p:graphicFrame>
      <p:sp>
        <p:nvSpPr>
          <p:cNvPr id="6" name="A3_307"/>
          <p:cNvSpPr txBox="1"/>
          <p:nvPr/>
        </p:nvSpPr>
        <p:spPr>
          <a:xfrm>
            <a:off x="548640" y="5303520"/>
            <a:ext cx="6400800" cy="868680"/>
          </a:xfrm>
          <a:prstGeom prst="roundRect">
            <a:avLst>
              <a:gd name="adj" fmla="val 8421"/>
            </a:avLst>
          </a:prstGeom>
          <a:solidFill>
            <a:schemeClr val="accent4">
              <a:alpha val="12000"/>
            </a:schemeClr>
          </a:solidFill>
          <a:ln>
            <a:solidFill>
              <a:schemeClr val="accent4">
                <a:alpha val="0"/>
              </a:schemeClr>
            </a:solidFill>
          </a:ln>
        </p:spPr>
        <p:txBody>
          <a:bodyPr wrap="square" lIns="76200" tIns="127000" rIns="127000" bIns="76200" rtlCol="0" anchor="ctr"/>
          <a:lstStyle/>
          <a:p>
            <a:pPr marL="0" indent="0" algn="l">
              <a:spcAft>
                <a:spcPts val="300"/>
              </a:spcAft>
              <a:buNone/>
            </a:pPr>
            <a:r>
              <a:rPr lang="en-US" sz="1700" dirty="0">
                <a:solidFill>
                  <a:schemeClr val="tx1"/>
                </a:solidFill>
              </a:rPr>
              <a:t>Hisoblash: hamma kunlar har xil bo‘lish ehtimolini topib, 1 dan ayiramiz</a:t>
            </a:r>
            <a:endParaRPr lang="en-US" sz="1700" dirty="0"/>
          </a:p>
        </p:txBody>
      </p:sp>
      <p:sp>
        <p:nvSpPr>
          <p:cNvPr id="7" name="A1_308"/>
          <p:cNvSpPr txBox="1"/>
          <p:nvPr/>
        </p:nvSpPr>
        <p:spPr>
          <a:xfrm>
            <a:off x="7269480" y="1371600"/>
            <a:ext cx="4389120" cy="868680"/>
          </a:xfrm>
          <a:prstGeom prst="rect">
            <a:avLst/>
          </a:prstGeom>
          <a:noFill/>
          <a:ln/>
        </p:spPr>
        <p:txBody>
          <a:bodyPr wrap="square" lIns="0" tIns="0" rIns="0" bIns="0" rtlCol="0" anchor="ctr"/>
          <a:lstStyle/>
          <a:p>
            <a:pPr marL="0" indent="0" algn="l">
              <a:buNone/>
            </a:pPr>
            <a:r>
              <a:rPr lang="en-US" sz="4600" b="1" dirty="0">
                <a:solidFill>
                  <a:schemeClr val="accent3"/>
                </a:solidFill>
                <a:latin typeface="Cambria" pitchFamily="34" charset="0"/>
                <a:ea typeface="Cambria" pitchFamily="34" charset="-122"/>
                <a:cs typeface="Cambria" pitchFamily="34" charset="-120"/>
              </a:rPr>
              <a:t>23 kishi</a:t>
            </a:r>
            <a:endParaRPr lang="en-US" sz="4600" dirty="0"/>
          </a:p>
        </p:txBody>
      </p:sp>
      <p:sp>
        <p:nvSpPr>
          <p:cNvPr id="8" name="A1_309"/>
          <p:cNvSpPr txBox="1"/>
          <p:nvPr/>
        </p:nvSpPr>
        <p:spPr>
          <a:xfrm>
            <a:off x="7269480" y="2194560"/>
            <a:ext cx="4389120" cy="457200"/>
          </a:xfrm>
          <a:prstGeom prst="rect">
            <a:avLst/>
          </a:prstGeom>
          <a:noFill/>
          <a:ln/>
        </p:spPr>
        <p:txBody>
          <a:bodyPr wrap="square" lIns="0" tIns="0" rIns="0" bIns="0" rtlCol="0" anchor="ctr"/>
          <a:lstStyle/>
          <a:p>
            <a:pPr marL="0" indent="0" algn="l">
              <a:buNone/>
            </a:pPr>
            <a:r>
              <a:rPr lang="en-US" sz="1700" b="1" dirty="0">
                <a:solidFill>
                  <a:schemeClr val="tx2"/>
                </a:solidFill>
              </a:rPr>
              <a:t>→ 50,7 %  (ko‘pchilik 183 deydi)</a:t>
            </a:r>
            <a:endParaRPr lang="en-US" sz="1700" dirty="0"/>
          </a:p>
        </p:txBody>
      </p:sp>
      <p:sp>
        <p:nvSpPr>
          <p:cNvPr id="9" name="A2_310"/>
          <p:cNvSpPr txBox="1"/>
          <p:nvPr/>
        </p:nvSpPr>
        <p:spPr>
          <a:xfrm>
            <a:off x="7269480" y="2697480"/>
            <a:ext cx="4389120" cy="685800"/>
          </a:xfrm>
          <a:prstGeom prst="rect">
            <a:avLst/>
          </a:prstGeom>
          <a:noFill/>
          <a:ln/>
        </p:spPr>
        <p:txBody>
          <a:bodyPr wrap="square" lIns="0" tIns="0" rIns="0" bIns="0" rtlCol="0" anchor="t"/>
          <a:lstStyle/>
          <a:p>
            <a:pPr marL="0" indent="0" algn="l">
              <a:buNone/>
            </a:pPr>
            <a:r>
              <a:rPr lang="en-US" sz="1400" dirty="0">
                <a:solidFill>
                  <a:srgbClr val="52514E"/>
                </a:solidFill>
              </a:rPr>
              <a:t>Sabab: C(23, 2) = 253 juftlik — har biri mos kelish imkoniyati</a:t>
            </a:r>
            <a:endParaRPr lang="en-US" sz="1400" dirty="0"/>
          </a:p>
        </p:txBody>
      </p:sp>
      <p:sp>
        <p:nvSpPr>
          <p:cNvPr id="10" name="A4_311"/>
          <p:cNvSpPr txBox="1"/>
          <p:nvPr/>
        </p:nvSpPr>
        <p:spPr>
          <a:xfrm>
            <a:off x="7269480" y="3520440"/>
            <a:ext cx="4389120" cy="777240"/>
          </a:xfrm>
          <a:prstGeom prst="roundRect">
            <a:avLst>
              <a:gd name="adj" fmla="val 9412"/>
            </a:avLst>
          </a:prstGeom>
          <a:solidFill>
            <a:schemeClr val="accent1">
              <a:alpha val="12000"/>
            </a:schemeClr>
          </a:solidFill>
          <a:ln>
            <a:solidFill>
              <a:schemeClr val="accent1">
                <a:alpha val="0"/>
              </a:schemeClr>
            </a:solidFill>
          </a:ln>
        </p:spPr>
        <p:txBody>
          <a:bodyPr wrap="square" lIns="76200" tIns="127000" rIns="127000" bIns="76200" rtlCol="0" anchor="ctr"/>
          <a:lstStyle/>
          <a:p>
            <a:pPr marL="0" indent="0" algn="l">
              <a:spcAft>
                <a:spcPts val="300"/>
              </a:spcAft>
              <a:buNone/>
            </a:pPr>
            <a:r>
              <a:rPr lang="en-US" sz="1800" b="1" dirty="0">
                <a:solidFill>
                  <a:schemeClr val="tx1"/>
                </a:solidFill>
              </a:rPr>
              <a:t>N qiymat ⇒ ≈ √N tanlovdan keyin takrorlanish</a:t>
            </a:r>
            <a:endParaRPr lang="en-US" sz="1800" dirty="0"/>
          </a:p>
        </p:txBody>
      </p:sp>
      <p:sp>
        <p:nvSpPr>
          <p:cNvPr id="11" name="A5_312"/>
          <p:cNvSpPr txBox="1"/>
          <p:nvPr/>
        </p:nvSpPr>
        <p:spPr>
          <a:xfrm>
            <a:off x="7269480" y="4434840"/>
            <a:ext cx="4389120" cy="320040"/>
          </a:xfrm>
          <a:prstGeom prst="rect">
            <a:avLst/>
          </a:prstGeom>
          <a:noFill/>
          <a:ln/>
        </p:spPr>
        <p:txBody>
          <a:bodyPr wrap="square" lIns="0" tIns="0" rIns="0" bIns="0" rtlCol="0" anchor="ctr"/>
          <a:lstStyle/>
          <a:p>
            <a:pPr marL="0" indent="0" algn="l">
              <a:buNone/>
            </a:pPr>
            <a:r>
              <a:rPr lang="en-US" sz="1400" b="1" dirty="0">
                <a:solidFill>
                  <a:srgbClr val="1E7268"/>
                </a:solidFill>
              </a:rPr>
              <a:t>Kriptografiyada: xesh kolliziyasi uchun urinishlar</a:t>
            </a:r>
            <a:endParaRPr lang="en-US" sz="1400" dirty="0"/>
          </a:p>
        </p:txBody>
      </p:sp>
      <p:sp>
        <p:nvSpPr>
          <p:cNvPr id="12" name="o_313"/>
          <p:cNvSpPr txBox="1"/>
          <p:nvPr/>
        </p:nvSpPr>
        <p:spPr>
          <a:xfrm>
            <a:off x="7269480" y="4800600"/>
            <a:ext cx="1463040" cy="384048"/>
          </a:xfrm>
          <a:prstGeom prst="rect">
            <a:avLst/>
          </a:prstGeom>
          <a:solidFill>
            <a:schemeClr val="tx2"/>
          </a:solidFill>
          <a:ln w="9525">
            <a:solidFill>
              <a:srgbClr val="D5DBE5"/>
            </a:solidFill>
          </a:ln>
        </p:spPr>
        <p:txBody>
          <a:bodyPr wrap="square" lIns="25400" tIns="25400" rIns="25400" bIns="25400" rtlCol="0" anchor="ctr"/>
          <a:lstStyle/>
          <a:p>
            <a:pPr marL="0" indent="0" algn="ctr">
              <a:buNone/>
            </a:pPr>
            <a:r>
              <a:rPr lang="en-US" sz="1400" b="1" dirty="0">
                <a:solidFill>
                  <a:schemeClr val="bg1"/>
                </a:solidFill>
              </a:rPr>
              <a:t>xesh, bit</a:t>
            </a:r>
            <a:endParaRPr lang="en-US" sz="1400" dirty="0"/>
          </a:p>
        </p:txBody>
      </p:sp>
      <p:sp>
        <p:nvSpPr>
          <p:cNvPr id="13" name="o_314"/>
          <p:cNvSpPr txBox="1"/>
          <p:nvPr/>
        </p:nvSpPr>
        <p:spPr>
          <a:xfrm>
            <a:off x="8732520" y="4800600"/>
            <a:ext cx="1463040" cy="384048"/>
          </a:xfrm>
          <a:prstGeom prst="rect">
            <a:avLst/>
          </a:prstGeom>
          <a:solidFill>
            <a:schemeClr val="tx2"/>
          </a:solidFill>
          <a:ln w="9525">
            <a:solidFill>
              <a:srgbClr val="D5DBE5"/>
            </a:solidFill>
          </a:ln>
        </p:spPr>
        <p:txBody>
          <a:bodyPr wrap="square" lIns="25400" tIns="25400" rIns="25400" bIns="25400" rtlCol="0" anchor="ctr"/>
          <a:lstStyle/>
          <a:p>
            <a:pPr marL="0" indent="0" algn="ctr">
              <a:buNone/>
            </a:pPr>
            <a:r>
              <a:rPr lang="en-US" sz="1400" b="1" dirty="0">
                <a:solidFill>
                  <a:schemeClr val="bg1"/>
                </a:solidFill>
              </a:rPr>
              <a:t>64</a:t>
            </a:r>
            <a:endParaRPr lang="en-US" sz="1400" dirty="0"/>
          </a:p>
        </p:txBody>
      </p:sp>
      <p:sp>
        <p:nvSpPr>
          <p:cNvPr id="14" name="o_315"/>
          <p:cNvSpPr txBox="1"/>
          <p:nvPr/>
        </p:nvSpPr>
        <p:spPr>
          <a:xfrm>
            <a:off x="10195560" y="4800600"/>
            <a:ext cx="1463040" cy="384048"/>
          </a:xfrm>
          <a:prstGeom prst="rect">
            <a:avLst/>
          </a:prstGeom>
          <a:solidFill>
            <a:schemeClr val="tx2"/>
          </a:solidFill>
          <a:ln w="9525">
            <a:solidFill>
              <a:srgbClr val="D5DBE5"/>
            </a:solidFill>
          </a:ln>
        </p:spPr>
        <p:txBody>
          <a:bodyPr wrap="square" lIns="25400" tIns="25400" rIns="25400" bIns="25400" rtlCol="0" anchor="ctr"/>
          <a:lstStyle/>
          <a:p>
            <a:pPr marL="0" indent="0" algn="ctr">
              <a:buNone/>
            </a:pPr>
            <a:r>
              <a:rPr lang="en-US" sz="1400" b="1" dirty="0">
                <a:solidFill>
                  <a:schemeClr val="bg1"/>
                </a:solidFill>
              </a:rPr>
              <a:t>256</a:t>
            </a:r>
            <a:endParaRPr lang="en-US" sz="1400" dirty="0"/>
          </a:p>
        </p:txBody>
      </p:sp>
      <p:sp>
        <p:nvSpPr>
          <p:cNvPr id="15" name="A5_316"/>
          <p:cNvSpPr txBox="1"/>
          <p:nvPr/>
        </p:nvSpPr>
        <p:spPr>
          <a:xfrm>
            <a:off x="7269480" y="5184648"/>
            <a:ext cx="1463040" cy="384048"/>
          </a:xfrm>
          <a:prstGeom prst="rect">
            <a:avLst/>
          </a:prstGeom>
          <a:solidFill>
            <a:srgbClr val="F4F6FA"/>
          </a:solidFill>
          <a:ln w="9525">
            <a:solidFill>
              <a:srgbClr val="D5DBE5"/>
            </a:solidFill>
          </a:ln>
        </p:spPr>
        <p:txBody>
          <a:bodyPr wrap="square" lIns="25400" tIns="25400" rIns="25400" bIns="25400" rtlCol="0" anchor="ctr"/>
          <a:lstStyle/>
          <a:p>
            <a:pPr marL="0" indent="0" algn="ctr">
              <a:buNone/>
            </a:pPr>
            <a:r>
              <a:rPr lang="en-US" sz="1400" dirty="0">
                <a:solidFill>
                  <a:schemeClr val="tx1"/>
                </a:solidFill>
              </a:rPr>
              <a:t>urinish ≈ 2ⁿᐟ²</a:t>
            </a:r>
            <a:endParaRPr lang="en-US" sz="1400" dirty="0"/>
          </a:p>
        </p:txBody>
      </p:sp>
      <p:sp>
        <p:nvSpPr>
          <p:cNvPr id="16" name="A5_317"/>
          <p:cNvSpPr txBox="1"/>
          <p:nvPr/>
        </p:nvSpPr>
        <p:spPr>
          <a:xfrm>
            <a:off x="8732520" y="5184648"/>
            <a:ext cx="1463040" cy="384048"/>
          </a:xfrm>
          <a:prstGeom prst="rect">
            <a:avLst/>
          </a:prstGeom>
          <a:solidFill>
            <a:srgbClr val="F4F6FA"/>
          </a:solidFill>
          <a:ln w="9525">
            <a:solidFill>
              <a:srgbClr val="D5DBE5"/>
            </a:solidFill>
          </a:ln>
        </p:spPr>
        <p:txBody>
          <a:bodyPr wrap="square" lIns="25400" tIns="25400" rIns="25400" bIns="25400" rtlCol="0" anchor="ctr"/>
          <a:lstStyle/>
          <a:p>
            <a:pPr marL="0" indent="0" algn="ctr">
              <a:buNone/>
            </a:pPr>
            <a:r>
              <a:rPr lang="en-US" sz="1400" dirty="0">
                <a:solidFill>
                  <a:schemeClr val="tx1"/>
                </a:solidFill>
              </a:rPr>
              <a:t>2³²</a:t>
            </a:r>
            <a:endParaRPr lang="en-US" sz="1400" dirty="0"/>
          </a:p>
        </p:txBody>
      </p:sp>
      <p:sp>
        <p:nvSpPr>
          <p:cNvPr id="17" name="A5_318"/>
          <p:cNvSpPr txBox="1"/>
          <p:nvPr/>
        </p:nvSpPr>
        <p:spPr>
          <a:xfrm>
            <a:off x="10195560" y="5184648"/>
            <a:ext cx="1463040" cy="384048"/>
          </a:xfrm>
          <a:prstGeom prst="rect">
            <a:avLst/>
          </a:prstGeom>
          <a:solidFill>
            <a:srgbClr val="F4F6FA"/>
          </a:solidFill>
          <a:ln w="9525">
            <a:solidFill>
              <a:srgbClr val="D5DBE5"/>
            </a:solidFill>
          </a:ln>
        </p:spPr>
        <p:txBody>
          <a:bodyPr wrap="square" lIns="25400" tIns="25400" rIns="25400" bIns="25400" rtlCol="0" anchor="ctr"/>
          <a:lstStyle/>
          <a:p>
            <a:pPr marL="0" indent="0" algn="ctr">
              <a:buNone/>
            </a:pPr>
            <a:r>
              <a:rPr lang="en-US" sz="1400" dirty="0">
                <a:solidFill>
                  <a:schemeClr val="tx1"/>
                </a:solidFill>
              </a:rPr>
              <a:t>2¹²⁸</a:t>
            </a:r>
            <a:endParaRPr lang="en-US" sz="1400" dirty="0"/>
          </a:p>
        </p:txBody>
      </p:sp>
      <p:sp>
        <p:nvSpPr>
          <p:cNvPr id="18" name="A5_319"/>
          <p:cNvSpPr txBox="1"/>
          <p:nvPr/>
        </p:nvSpPr>
        <p:spPr>
          <a:xfrm>
            <a:off x="7269480" y="5623560"/>
            <a:ext cx="4389120" cy="548640"/>
          </a:xfrm>
          <a:prstGeom prst="rect">
            <a:avLst/>
          </a:prstGeom>
          <a:noFill/>
          <a:ln/>
        </p:spPr>
        <p:txBody>
          <a:bodyPr wrap="square" lIns="0" tIns="0" rIns="0" bIns="0" rtlCol="0" anchor="t"/>
          <a:lstStyle/>
          <a:p>
            <a:pPr marL="0" indent="0" algn="l">
              <a:buNone/>
            </a:pPr>
            <a:r>
              <a:rPr lang="en-US" sz="1400" i="1" dirty="0">
                <a:solidFill>
                  <a:srgbClr val="52514E"/>
                </a:solidFill>
              </a:rPr>
              <a:t>Shuning uchun xesh kalitdan 2 baravar uzun tanlanadi (33-mavzu).</a:t>
            </a:r>
            <a:endParaRPr lang="en-US" sz="14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D99AE"/>
                </a:solidFill>
                <a:latin typeface="Times New Roman"/>
                <a:ea typeface="Times New Roman"/>
                <a:cs typeface="Times New Roman"/>
              </a:defRPr>
            </a:lvl1pPr>
          </a:lstStyle>
          <a:p>
            <a:pPr algn="r"/>
            <a:fld id="{F7021451-1387-4CA6-816F-3879F97B5CBC}" type="slidenum">
              <a:rPr lang="en-US" b="0"/>
              <a:t>15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4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4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400"/>
                                        <p:tgtEl>
                                          <p:spTgt spid="10"/>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400"/>
                                        <p:tgtEl>
                                          <p:spTgt spid="11"/>
                                        </p:tgtEl>
                                      </p:cBhvr>
                                    </p:animEffect>
                                  </p:childTnLst>
                                </p:cTn>
                              </p:par>
                              <p:par>
                                <p:cTn id="31" presetID="10" presetClass="entr" presetSubtype="0" fill="hold"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400"/>
                                        <p:tgtEl>
                                          <p:spTgt spid="15"/>
                                        </p:tgtEl>
                                      </p:cBhvr>
                                    </p:animEffect>
                                  </p:childTnLst>
                                </p:cTn>
                              </p:par>
                              <p:par>
                                <p:cTn id="34" presetID="10" presetClass="entr" presetSubtype="0" fill="hold"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400"/>
                                        <p:tgtEl>
                                          <p:spTgt spid="16"/>
                                        </p:tgtEl>
                                      </p:cBhvr>
                                    </p:animEffect>
                                  </p:childTnLst>
                                </p:cTn>
                              </p:par>
                              <p:par>
                                <p:cTn id="37" presetID="10" presetClass="entr" presetSubtype="0" fill="hold"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400"/>
                                        <p:tgtEl>
                                          <p:spTgt spid="17"/>
                                        </p:tgtEl>
                                      </p:cBhvr>
                                    </p:animEffect>
                                  </p:childTnLst>
                                </p:cTn>
                              </p:par>
                              <p:par>
                                <p:cTn id="40" presetID="10" presetClass="entr" presetSubtype="0" fill="hold" nodeType="with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fade">
                                      <p:cBhvr>
                                        <p:cTn id="42"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bg1"/>
                </a:solidFill>
                <a:latin typeface="Cambria" pitchFamily="34" charset="0"/>
                <a:ea typeface="Cambria" pitchFamily="34" charset="-122"/>
                <a:cs typeface="Cambria" pitchFamily="34" charset="-120"/>
              </a:rPr>
              <a:t>I blokdan II blokka: vosita → qo‘llanish</a:t>
            </a:r>
            <a:endParaRPr lang="en-US" sz="3400" dirty="0"/>
          </a:p>
        </p:txBody>
      </p:sp>
      <p:sp>
        <p:nvSpPr>
          <p:cNvPr id="4" name="A1_320"/>
          <p:cNvSpPr txBox="1"/>
          <p:nvPr/>
        </p:nvSpPr>
        <p:spPr>
          <a:xfrm>
            <a:off x="731520" y="1463040"/>
            <a:ext cx="3840480" cy="594360"/>
          </a:xfrm>
          <a:prstGeom prst="roundRect">
            <a:avLst>
              <a:gd name="adj" fmla="val 12308"/>
            </a:avLst>
          </a:prstGeom>
          <a:solidFill>
            <a:schemeClr val="accent1"/>
          </a:solidFill>
          <a:ln>
            <a:solidFill>
              <a:schemeClr val="accent1"/>
            </a:solidFill>
          </a:ln>
        </p:spPr>
        <p:txBody>
          <a:bodyPr wrap="square" lIns="25400" tIns="25400" rIns="25400" bIns="25400" rtlCol="0" anchor="ctr"/>
          <a:lstStyle/>
          <a:p>
            <a:pPr marL="0" indent="0" algn="ctr">
              <a:buNone/>
            </a:pPr>
            <a:r>
              <a:rPr lang="en-US" sz="1700" b="1" dirty="0">
                <a:solidFill>
                  <a:schemeClr val="tx2"/>
                </a:solidFill>
              </a:rPr>
              <a:t>Modul arifmetika</a:t>
            </a:r>
            <a:endParaRPr lang="en-US" sz="1700" dirty="0"/>
          </a:p>
        </p:txBody>
      </p:sp>
      <p:sp>
        <p:nvSpPr>
          <p:cNvPr id="5" name="A1_321"/>
          <p:cNvSpPr/>
          <p:nvPr/>
        </p:nvSpPr>
        <p:spPr>
          <a:xfrm>
            <a:off x="4709160" y="1618488"/>
            <a:ext cx="548640" cy="292608"/>
          </a:xfrm>
          <a:prstGeom prst="rightArrow">
            <a:avLst/>
          </a:prstGeom>
          <a:solidFill>
            <a:srgbClr val="8FA3C7"/>
          </a:solidFill>
          <a:ln w="12700">
            <a:solidFill>
              <a:srgbClr val="8FA3C7"/>
            </a:solidFill>
            <a:prstDash val="solid"/>
          </a:ln>
        </p:spPr>
      </p:sp>
      <p:sp>
        <p:nvSpPr>
          <p:cNvPr id="6" name="A1_322"/>
          <p:cNvSpPr txBox="1"/>
          <p:nvPr/>
        </p:nvSpPr>
        <p:spPr>
          <a:xfrm>
            <a:off x="5440680" y="1463040"/>
            <a:ext cx="6035040" cy="594360"/>
          </a:xfrm>
          <a:prstGeom prst="rect">
            <a:avLst/>
          </a:prstGeom>
          <a:noFill/>
          <a:ln/>
        </p:spPr>
        <p:txBody>
          <a:bodyPr wrap="square" lIns="0" tIns="0" rIns="0" bIns="0" rtlCol="0" anchor="ctr"/>
          <a:lstStyle/>
          <a:p>
            <a:pPr marL="0" indent="0">
              <a:buNone/>
            </a:pPr>
            <a:r>
              <a:rPr lang="en-US" sz="1700" dirty="0">
                <a:solidFill>
                  <a:schemeClr val="bg1"/>
                </a:solidFill>
              </a:rPr>
              <a:t>Sezar, affin, Vijener — barchasi qo‘shish mod 26</a:t>
            </a:r>
            <a:endParaRPr lang="en-US" sz="1700" dirty="0"/>
          </a:p>
        </p:txBody>
      </p:sp>
      <p:sp>
        <p:nvSpPr>
          <p:cNvPr id="7" name="A2_323"/>
          <p:cNvSpPr txBox="1"/>
          <p:nvPr/>
        </p:nvSpPr>
        <p:spPr>
          <a:xfrm>
            <a:off x="731520" y="2212848"/>
            <a:ext cx="3840480" cy="594360"/>
          </a:xfrm>
          <a:prstGeom prst="roundRect">
            <a:avLst>
              <a:gd name="adj" fmla="val 12308"/>
            </a:avLst>
          </a:prstGeom>
          <a:solidFill>
            <a:schemeClr val="accent1"/>
          </a:solidFill>
          <a:ln>
            <a:solidFill>
              <a:schemeClr val="accent1"/>
            </a:solidFill>
          </a:ln>
        </p:spPr>
        <p:txBody>
          <a:bodyPr wrap="square" lIns="25400" tIns="25400" rIns="25400" bIns="25400" rtlCol="0" anchor="ctr"/>
          <a:lstStyle/>
          <a:p>
            <a:pPr marL="0" indent="0" algn="ctr">
              <a:buNone/>
            </a:pPr>
            <a:r>
              <a:rPr lang="en-US" sz="1700" b="1" dirty="0">
                <a:solidFill>
                  <a:schemeClr val="tx2"/>
                </a:solidFill>
              </a:rPr>
              <a:t>Teskari element (Evklid)</a:t>
            </a:r>
            <a:endParaRPr lang="en-US" sz="1700" dirty="0"/>
          </a:p>
        </p:txBody>
      </p:sp>
      <p:sp>
        <p:nvSpPr>
          <p:cNvPr id="8" name="A2_324"/>
          <p:cNvSpPr/>
          <p:nvPr/>
        </p:nvSpPr>
        <p:spPr>
          <a:xfrm>
            <a:off x="4709160" y="2368296"/>
            <a:ext cx="548640" cy="292608"/>
          </a:xfrm>
          <a:prstGeom prst="rightArrow">
            <a:avLst/>
          </a:prstGeom>
          <a:solidFill>
            <a:srgbClr val="8FA3C7"/>
          </a:solidFill>
          <a:ln w="12700">
            <a:solidFill>
              <a:srgbClr val="8FA3C7"/>
            </a:solidFill>
            <a:prstDash val="solid"/>
          </a:ln>
        </p:spPr>
      </p:sp>
      <p:sp>
        <p:nvSpPr>
          <p:cNvPr id="9" name="A2_325"/>
          <p:cNvSpPr txBox="1"/>
          <p:nvPr/>
        </p:nvSpPr>
        <p:spPr>
          <a:xfrm>
            <a:off x="5440680" y="2212848"/>
            <a:ext cx="6035040" cy="594360"/>
          </a:xfrm>
          <a:prstGeom prst="rect">
            <a:avLst/>
          </a:prstGeom>
          <a:noFill/>
          <a:ln/>
        </p:spPr>
        <p:txBody>
          <a:bodyPr wrap="square" lIns="0" tIns="0" rIns="0" bIns="0" rtlCol="0" anchor="ctr"/>
          <a:lstStyle/>
          <a:p>
            <a:pPr marL="0" indent="0">
              <a:buNone/>
            </a:pPr>
            <a:r>
              <a:rPr lang="en-US" sz="1700" dirty="0">
                <a:solidFill>
                  <a:schemeClr val="bg1"/>
                </a:solidFill>
              </a:rPr>
              <a:t>affin rasshifrovkasi, Hill matritsasi, RSA yopiq kaliti</a:t>
            </a:r>
            <a:endParaRPr lang="en-US" sz="1700" dirty="0"/>
          </a:p>
        </p:txBody>
      </p:sp>
      <p:sp>
        <p:nvSpPr>
          <p:cNvPr id="10" name="A3_326"/>
          <p:cNvSpPr txBox="1"/>
          <p:nvPr/>
        </p:nvSpPr>
        <p:spPr>
          <a:xfrm>
            <a:off x="731520" y="2962656"/>
            <a:ext cx="3840480" cy="594360"/>
          </a:xfrm>
          <a:prstGeom prst="roundRect">
            <a:avLst>
              <a:gd name="adj" fmla="val 12308"/>
            </a:avLst>
          </a:prstGeom>
          <a:solidFill>
            <a:schemeClr val="accent1"/>
          </a:solidFill>
          <a:ln>
            <a:solidFill>
              <a:schemeClr val="accent1"/>
            </a:solidFill>
          </a:ln>
        </p:spPr>
        <p:txBody>
          <a:bodyPr wrap="square" lIns="25400" tIns="25400" rIns="25400" bIns="25400" rtlCol="0" anchor="ctr"/>
          <a:lstStyle/>
          <a:p>
            <a:pPr marL="0" indent="0" algn="ctr">
              <a:buNone/>
            </a:pPr>
            <a:r>
              <a:rPr lang="en-US" sz="1700" b="1" dirty="0">
                <a:solidFill>
                  <a:schemeClr val="tx2"/>
                </a:solidFill>
              </a:rPr>
              <a:t>Kombinatorika</a:t>
            </a:r>
            <a:endParaRPr lang="en-US" sz="1700" dirty="0"/>
          </a:p>
        </p:txBody>
      </p:sp>
      <p:sp>
        <p:nvSpPr>
          <p:cNvPr id="11" name="A3_327"/>
          <p:cNvSpPr/>
          <p:nvPr/>
        </p:nvSpPr>
        <p:spPr>
          <a:xfrm>
            <a:off x="4709160" y="3118104"/>
            <a:ext cx="548640" cy="292608"/>
          </a:xfrm>
          <a:prstGeom prst="rightArrow">
            <a:avLst/>
          </a:prstGeom>
          <a:solidFill>
            <a:srgbClr val="8FA3C7"/>
          </a:solidFill>
          <a:ln w="12700">
            <a:solidFill>
              <a:srgbClr val="8FA3C7"/>
            </a:solidFill>
            <a:prstDash val="solid"/>
          </a:ln>
        </p:spPr>
      </p:sp>
      <p:sp>
        <p:nvSpPr>
          <p:cNvPr id="12" name="A3_328"/>
          <p:cNvSpPr txBox="1"/>
          <p:nvPr/>
        </p:nvSpPr>
        <p:spPr>
          <a:xfrm>
            <a:off x="5440680" y="2962656"/>
            <a:ext cx="6035040" cy="594360"/>
          </a:xfrm>
          <a:prstGeom prst="rect">
            <a:avLst/>
          </a:prstGeom>
          <a:noFill/>
          <a:ln/>
        </p:spPr>
        <p:txBody>
          <a:bodyPr wrap="square" lIns="0" tIns="0" rIns="0" bIns="0" rtlCol="0" anchor="ctr"/>
          <a:lstStyle/>
          <a:p>
            <a:pPr marL="0" indent="0">
              <a:buNone/>
            </a:pPr>
            <a:r>
              <a:rPr lang="en-US" sz="1700" dirty="0">
                <a:solidFill>
                  <a:schemeClr val="bg1"/>
                </a:solidFill>
              </a:rPr>
              <a:t>kalitlar fazosi va to‘liq tanlash bahosi</a:t>
            </a:r>
            <a:endParaRPr lang="en-US" sz="1700" dirty="0"/>
          </a:p>
        </p:txBody>
      </p:sp>
      <p:sp>
        <p:nvSpPr>
          <p:cNvPr id="13" name="A4_329"/>
          <p:cNvSpPr txBox="1"/>
          <p:nvPr/>
        </p:nvSpPr>
        <p:spPr>
          <a:xfrm>
            <a:off x="731520" y="3712464"/>
            <a:ext cx="3840480" cy="594360"/>
          </a:xfrm>
          <a:prstGeom prst="roundRect">
            <a:avLst>
              <a:gd name="adj" fmla="val 12308"/>
            </a:avLst>
          </a:prstGeom>
          <a:solidFill>
            <a:schemeClr val="accent1"/>
          </a:solidFill>
          <a:ln>
            <a:solidFill>
              <a:schemeClr val="accent1"/>
            </a:solidFill>
          </a:ln>
        </p:spPr>
        <p:txBody>
          <a:bodyPr wrap="square" lIns="25400" tIns="25400" rIns="25400" bIns="25400" rtlCol="0" anchor="ctr"/>
          <a:lstStyle/>
          <a:p>
            <a:pPr marL="0" indent="0" algn="ctr">
              <a:buNone/>
            </a:pPr>
            <a:r>
              <a:rPr lang="en-US" sz="1700" b="1" dirty="0">
                <a:solidFill>
                  <a:schemeClr val="tx2"/>
                </a:solidFill>
              </a:rPr>
              <a:t>Chastota va χ²</a:t>
            </a:r>
            <a:endParaRPr lang="en-US" sz="1700" dirty="0"/>
          </a:p>
        </p:txBody>
      </p:sp>
      <p:sp>
        <p:nvSpPr>
          <p:cNvPr id="14" name="A4_330"/>
          <p:cNvSpPr/>
          <p:nvPr/>
        </p:nvSpPr>
        <p:spPr>
          <a:xfrm>
            <a:off x="4709160" y="3867912"/>
            <a:ext cx="548640" cy="292608"/>
          </a:xfrm>
          <a:prstGeom prst="rightArrow">
            <a:avLst/>
          </a:prstGeom>
          <a:solidFill>
            <a:srgbClr val="8FA3C7"/>
          </a:solidFill>
          <a:ln w="12700">
            <a:solidFill>
              <a:srgbClr val="8FA3C7"/>
            </a:solidFill>
            <a:prstDash val="solid"/>
          </a:ln>
        </p:spPr>
      </p:sp>
      <p:sp>
        <p:nvSpPr>
          <p:cNvPr id="15" name="A4_331"/>
          <p:cNvSpPr txBox="1"/>
          <p:nvPr/>
        </p:nvSpPr>
        <p:spPr>
          <a:xfrm>
            <a:off x="5440680" y="3712464"/>
            <a:ext cx="6035040" cy="594360"/>
          </a:xfrm>
          <a:prstGeom prst="rect">
            <a:avLst/>
          </a:prstGeom>
          <a:noFill/>
          <a:ln/>
        </p:spPr>
        <p:txBody>
          <a:bodyPr wrap="square" lIns="0" tIns="0" rIns="0" bIns="0" rtlCol="0" anchor="ctr"/>
          <a:lstStyle/>
          <a:p>
            <a:pPr marL="0" indent="0">
              <a:buNone/>
            </a:pPr>
            <a:r>
              <a:rPr lang="en-US" sz="1700" dirty="0">
                <a:solidFill>
                  <a:schemeClr val="bg1"/>
                </a:solidFill>
              </a:rPr>
              <a:t>monoalfavit shifrni ochish (8-mavzu)</a:t>
            </a:r>
            <a:endParaRPr lang="en-US" sz="1700" dirty="0"/>
          </a:p>
        </p:txBody>
      </p:sp>
      <p:sp>
        <p:nvSpPr>
          <p:cNvPr id="16" name="A5_332"/>
          <p:cNvSpPr txBox="1"/>
          <p:nvPr/>
        </p:nvSpPr>
        <p:spPr>
          <a:xfrm>
            <a:off x="731520" y="4462272"/>
            <a:ext cx="3840480" cy="594360"/>
          </a:xfrm>
          <a:prstGeom prst="roundRect">
            <a:avLst>
              <a:gd name="adj" fmla="val 12308"/>
            </a:avLst>
          </a:prstGeom>
          <a:solidFill>
            <a:schemeClr val="accent1"/>
          </a:solidFill>
          <a:ln>
            <a:solidFill>
              <a:schemeClr val="accent1"/>
            </a:solidFill>
          </a:ln>
        </p:spPr>
        <p:txBody>
          <a:bodyPr wrap="square" lIns="25400" tIns="25400" rIns="25400" bIns="25400" rtlCol="0" anchor="ctr"/>
          <a:lstStyle/>
          <a:p>
            <a:pPr marL="0" indent="0" algn="ctr">
              <a:buNone/>
            </a:pPr>
            <a:r>
              <a:rPr lang="en-US" sz="1700" b="1" dirty="0">
                <a:solidFill>
                  <a:schemeClr val="tx2"/>
                </a:solidFill>
              </a:rPr>
              <a:t>Moslik indeksi</a:t>
            </a:r>
            <a:endParaRPr lang="en-US" sz="1700" dirty="0"/>
          </a:p>
        </p:txBody>
      </p:sp>
      <p:sp>
        <p:nvSpPr>
          <p:cNvPr id="17" name="A5_333"/>
          <p:cNvSpPr/>
          <p:nvPr/>
        </p:nvSpPr>
        <p:spPr>
          <a:xfrm>
            <a:off x="4709160" y="4617720"/>
            <a:ext cx="548640" cy="292608"/>
          </a:xfrm>
          <a:prstGeom prst="rightArrow">
            <a:avLst/>
          </a:prstGeom>
          <a:solidFill>
            <a:srgbClr val="8FA3C7"/>
          </a:solidFill>
          <a:ln w="12700">
            <a:solidFill>
              <a:srgbClr val="8FA3C7"/>
            </a:solidFill>
            <a:prstDash val="solid"/>
          </a:ln>
        </p:spPr>
      </p:sp>
      <p:sp>
        <p:nvSpPr>
          <p:cNvPr id="18" name="A5_334"/>
          <p:cNvSpPr txBox="1"/>
          <p:nvPr/>
        </p:nvSpPr>
        <p:spPr>
          <a:xfrm>
            <a:off x="5440680" y="4462272"/>
            <a:ext cx="6035040" cy="594360"/>
          </a:xfrm>
          <a:prstGeom prst="rect">
            <a:avLst/>
          </a:prstGeom>
          <a:noFill/>
          <a:ln/>
        </p:spPr>
        <p:txBody>
          <a:bodyPr wrap="square" lIns="0" tIns="0" rIns="0" bIns="0" rtlCol="0" anchor="ctr"/>
          <a:lstStyle/>
          <a:p>
            <a:pPr marL="0" indent="0">
              <a:buNone/>
            </a:pPr>
            <a:r>
              <a:rPr lang="en-US" sz="1700" dirty="0">
                <a:solidFill>
                  <a:schemeClr val="bg1"/>
                </a:solidFill>
              </a:rPr>
              <a:t>Vijener kalit uzunligi — Fridman testi (11-mavzu)</a:t>
            </a:r>
            <a:endParaRPr lang="en-US" sz="1700" dirty="0"/>
          </a:p>
        </p:txBody>
      </p:sp>
      <p:sp>
        <p:nvSpPr>
          <p:cNvPr id="19" name="A6_335"/>
          <p:cNvSpPr txBox="1"/>
          <p:nvPr/>
        </p:nvSpPr>
        <p:spPr>
          <a:xfrm>
            <a:off x="731520" y="5212080"/>
            <a:ext cx="3840480" cy="594360"/>
          </a:xfrm>
          <a:prstGeom prst="roundRect">
            <a:avLst>
              <a:gd name="adj" fmla="val 12308"/>
            </a:avLst>
          </a:prstGeom>
          <a:solidFill>
            <a:schemeClr val="accent1"/>
          </a:solidFill>
          <a:ln>
            <a:solidFill>
              <a:schemeClr val="accent1"/>
            </a:solidFill>
          </a:ln>
        </p:spPr>
        <p:txBody>
          <a:bodyPr wrap="square" lIns="25400" tIns="25400" rIns="25400" bIns="25400" rtlCol="0" anchor="ctr"/>
          <a:lstStyle/>
          <a:p>
            <a:pPr marL="0" indent="0" algn="ctr">
              <a:buNone/>
            </a:pPr>
            <a:r>
              <a:rPr lang="en-US" sz="1700" b="1" dirty="0">
                <a:solidFill>
                  <a:schemeClr val="tx2"/>
                </a:solidFill>
              </a:rPr>
              <a:t>√N qoidasi</a:t>
            </a:r>
            <a:endParaRPr lang="en-US" sz="1700" dirty="0"/>
          </a:p>
        </p:txBody>
      </p:sp>
      <p:sp>
        <p:nvSpPr>
          <p:cNvPr id="20" name="A6_336"/>
          <p:cNvSpPr/>
          <p:nvPr/>
        </p:nvSpPr>
        <p:spPr>
          <a:xfrm>
            <a:off x="4709160" y="5367528"/>
            <a:ext cx="548640" cy="292608"/>
          </a:xfrm>
          <a:prstGeom prst="rightArrow">
            <a:avLst/>
          </a:prstGeom>
          <a:solidFill>
            <a:srgbClr val="8FA3C7"/>
          </a:solidFill>
          <a:ln w="12700">
            <a:solidFill>
              <a:srgbClr val="8FA3C7"/>
            </a:solidFill>
            <a:prstDash val="solid"/>
          </a:ln>
        </p:spPr>
      </p:sp>
      <p:sp>
        <p:nvSpPr>
          <p:cNvPr id="21" name="A6_337"/>
          <p:cNvSpPr txBox="1"/>
          <p:nvPr/>
        </p:nvSpPr>
        <p:spPr>
          <a:xfrm>
            <a:off x="5440680" y="5212080"/>
            <a:ext cx="6035040" cy="594360"/>
          </a:xfrm>
          <a:prstGeom prst="rect">
            <a:avLst/>
          </a:prstGeom>
          <a:noFill/>
          <a:ln/>
        </p:spPr>
        <p:txBody>
          <a:bodyPr wrap="square" lIns="0" tIns="0" rIns="0" bIns="0" rtlCol="0" anchor="ctr"/>
          <a:lstStyle/>
          <a:p>
            <a:pPr marL="0" indent="0">
              <a:buNone/>
            </a:pPr>
            <a:r>
              <a:rPr lang="en-US" sz="1700" dirty="0">
                <a:solidFill>
                  <a:schemeClr val="bg1"/>
                </a:solidFill>
              </a:rPr>
              <a:t>xesh uzunligini tanlash (33-mavzu)</a:t>
            </a:r>
            <a:endParaRPr lang="en-US" sz="1700" dirty="0"/>
          </a:p>
        </p:txBody>
      </p:sp>
      <p:sp>
        <p:nvSpPr>
          <p:cNvPr id="22" name="A7_338"/>
          <p:cNvSpPr txBox="1"/>
          <p:nvPr/>
        </p:nvSpPr>
        <p:spPr>
          <a:xfrm>
            <a:off x="731520" y="6080760"/>
            <a:ext cx="10698480" cy="365760"/>
          </a:xfrm>
          <a:prstGeom prst="rect">
            <a:avLst/>
          </a:prstGeom>
          <a:noFill/>
          <a:ln/>
        </p:spPr>
        <p:txBody>
          <a:bodyPr wrap="square" lIns="0" tIns="0" rIns="0" bIns="0" rtlCol="0" anchor="ctr"/>
          <a:lstStyle/>
          <a:p>
            <a:pPr marL="0" indent="0">
              <a:buNone/>
            </a:pPr>
            <a:r>
              <a:rPr lang="en-US" sz="1500" i="1" dirty="0">
                <a:solidFill>
                  <a:srgbClr val="CADCFC"/>
                </a:solidFill>
              </a:rPr>
              <a:t>Keyingi mavzu: 7. Oddiy almashtirish shifrlari — Sezar, Atbash, affin</a:t>
            </a:r>
            <a:endParaRPr lang="en-US" sz="15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400"/>
                                        <p:tgtEl>
                                          <p:spTgt spid="7"/>
                                        </p:tgtEl>
                                      </p:cBhvr>
                                    </p:animEffect>
                                  </p:childTnLst>
                                </p:cTn>
                              </p:par>
                              <p:par>
                                <p:cTn id="19" presetID="10"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400"/>
                                        <p:tgtEl>
                                          <p:spTgt spid="8"/>
                                        </p:tgtEl>
                                      </p:cBhvr>
                                    </p:animEffect>
                                  </p:childTnLst>
                                </p:cTn>
                              </p:par>
                              <p:par>
                                <p:cTn id="22" presetID="10" presetClass="entr" presetSubtype="0" fill="hold"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400"/>
                                        <p:tgtEl>
                                          <p:spTgt spid="9"/>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400"/>
                                        <p:tgtEl>
                                          <p:spTgt spid="10"/>
                                        </p:tgtEl>
                                      </p:cBhvr>
                                    </p:animEffect>
                                  </p:childTnLst>
                                </p:cTn>
                              </p:par>
                              <p:par>
                                <p:cTn id="30" presetID="10" presetClass="entr" presetSubtype="0" fill="hold"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400"/>
                                        <p:tgtEl>
                                          <p:spTgt spid="11"/>
                                        </p:tgtEl>
                                      </p:cBhvr>
                                    </p:animEffect>
                                  </p:childTnLst>
                                </p:cTn>
                              </p:par>
                              <p:par>
                                <p:cTn id="33" presetID="10" presetClass="entr" presetSubtype="0" fill="hold"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400"/>
                                        <p:tgtEl>
                                          <p:spTgt spid="12"/>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400"/>
                                        <p:tgtEl>
                                          <p:spTgt spid="13"/>
                                        </p:tgtEl>
                                      </p:cBhvr>
                                    </p:animEffect>
                                  </p:childTnLst>
                                </p:cTn>
                              </p:par>
                              <p:par>
                                <p:cTn id="41" presetID="10" presetClass="entr" presetSubtype="0" fill="hold"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400"/>
                                        <p:tgtEl>
                                          <p:spTgt spid="14"/>
                                        </p:tgtEl>
                                      </p:cBhvr>
                                    </p:animEffect>
                                  </p:childTnLst>
                                </p:cTn>
                              </p:par>
                              <p:par>
                                <p:cTn id="44" presetID="10" presetClass="entr" presetSubtype="0" fill="hold" nodeType="with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400"/>
                                        <p:tgtEl>
                                          <p:spTgt spid="15"/>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16"/>
                                        </p:tgtEl>
                                        <p:attrNameLst>
                                          <p:attrName>style.visibility</p:attrName>
                                        </p:attrNameLst>
                                      </p:cBhvr>
                                      <p:to>
                                        <p:strVal val="visible"/>
                                      </p:to>
                                    </p:set>
                                    <p:animEffect transition="in" filter="fade">
                                      <p:cBhvr>
                                        <p:cTn id="51" dur="400"/>
                                        <p:tgtEl>
                                          <p:spTgt spid="16"/>
                                        </p:tgtEl>
                                      </p:cBhvr>
                                    </p:animEffect>
                                  </p:childTnLst>
                                </p:cTn>
                              </p:par>
                              <p:par>
                                <p:cTn id="52" presetID="10" presetClass="entr" presetSubtype="0" fill="hold" nodeType="withEffect">
                                  <p:stCondLst>
                                    <p:cond delay="0"/>
                                  </p:stCondLst>
                                  <p:childTnLst>
                                    <p:set>
                                      <p:cBhvr>
                                        <p:cTn id="53" dur="1" fill="hold">
                                          <p:stCondLst>
                                            <p:cond delay="0"/>
                                          </p:stCondLst>
                                        </p:cTn>
                                        <p:tgtEl>
                                          <p:spTgt spid="17"/>
                                        </p:tgtEl>
                                        <p:attrNameLst>
                                          <p:attrName>style.visibility</p:attrName>
                                        </p:attrNameLst>
                                      </p:cBhvr>
                                      <p:to>
                                        <p:strVal val="visible"/>
                                      </p:to>
                                    </p:set>
                                    <p:animEffect transition="in" filter="fade">
                                      <p:cBhvr>
                                        <p:cTn id="54" dur="400"/>
                                        <p:tgtEl>
                                          <p:spTgt spid="17"/>
                                        </p:tgtEl>
                                      </p:cBhvr>
                                    </p:animEffect>
                                  </p:childTnLst>
                                </p:cTn>
                              </p:par>
                              <p:par>
                                <p:cTn id="55" presetID="10" presetClass="entr" presetSubtype="0" fill="hold" nodeType="withEffect">
                                  <p:stCondLst>
                                    <p:cond delay="0"/>
                                  </p:stCondLst>
                                  <p:childTnLst>
                                    <p:set>
                                      <p:cBhvr>
                                        <p:cTn id="56" dur="1" fill="hold">
                                          <p:stCondLst>
                                            <p:cond delay="0"/>
                                          </p:stCondLst>
                                        </p:cTn>
                                        <p:tgtEl>
                                          <p:spTgt spid="18"/>
                                        </p:tgtEl>
                                        <p:attrNameLst>
                                          <p:attrName>style.visibility</p:attrName>
                                        </p:attrNameLst>
                                      </p:cBhvr>
                                      <p:to>
                                        <p:strVal val="visible"/>
                                      </p:to>
                                    </p:set>
                                    <p:animEffect transition="in" filter="fade">
                                      <p:cBhvr>
                                        <p:cTn id="57" dur="400"/>
                                        <p:tgtEl>
                                          <p:spTgt spid="18"/>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19"/>
                                        </p:tgtEl>
                                        <p:attrNameLst>
                                          <p:attrName>style.visibility</p:attrName>
                                        </p:attrNameLst>
                                      </p:cBhvr>
                                      <p:to>
                                        <p:strVal val="visible"/>
                                      </p:to>
                                    </p:set>
                                    <p:animEffect transition="in" filter="fade">
                                      <p:cBhvr>
                                        <p:cTn id="62" dur="400"/>
                                        <p:tgtEl>
                                          <p:spTgt spid="19"/>
                                        </p:tgtEl>
                                      </p:cBhvr>
                                    </p:animEffect>
                                  </p:childTnLst>
                                </p:cTn>
                              </p:par>
                              <p:par>
                                <p:cTn id="63" presetID="10" presetClass="entr" presetSubtype="0" fill="hold" nodeType="withEffect">
                                  <p:stCondLst>
                                    <p:cond delay="0"/>
                                  </p:stCondLst>
                                  <p:childTnLst>
                                    <p:set>
                                      <p:cBhvr>
                                        <p:cTn id="64" dur="1" fill="hold">
                                          <p:stCondLst>
                                            <p:cond delay="0"/>
                                          </p:stCondLst>
                                        </p:cTn>
                                        <p:tgtEl>
                                          <p:spTgt spid="20"/>
                                        </p:tgtEl>
                                        <p:attrNameLst>
                                          <p:attrName>style.visibility</p:attrName>
                                        </p:attrNameLst>
                                      </p:cBhvr>
                                      <p:to>
                                        <p:strVal val="visible"/>
                                      </p:to>
                                    </p:set>
                                    <p:animEffect transition="in" filter="fade">
                                      <p:cBhvr>
                                        <p:cTn id="65" dur="400"/>
                                        <p:tgtEl>
                                          <p:spTgt spid="20"/>
                                        </p:tgtEl>
                                      </p:cBhvr>
                                    </p:animEffect>
                                  </p:childTnLst>
                                </p:cTn>
                              </p:par>
                              <p:par>
                                <p:cTn id="66" presetID="10" presetClass="entr" presetSubtype="0" fill="hold" nodeType="withEffect">
                                  <p:stCondLst>
                                    <p:cond delay="0"/>
                                  </p:stCondLst>
                                  <p:childTnLst>
                                    <p:set>
                                      <p:cBhvr>
                                        <p:cTn id="67" dur="1" fill="hold">
                                          <p:stCondLst>
                                            <p:cond delay="0"/>
                                          </p:stCondLst>
                                        </p:cTn>
                                        <p:tgtEl>
                                          <p:spTgt spid="21"/>
                                        </p:tgtEl>
                                        <p:attrNameLst>
                                          <p:attrName>style.visibility</p:attrName>
                                        </p:attrNameLst>
                                      </p:cBhvr>
                                      <p:to>
                                        <p:strVal val="visible"/>
                                      </p:to>
                                    </p:set>
                                    <p:animEffect transition="in" filter="fade">
                                      <p:cBhvr>
                                        <p:cTn id="68" dur="400"/>
                                        <p:tgtEl>
                                          <p:spTgt spid="21"/>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nodeType="clickEffect">
                                  <p:stCondLst>
                                    <p:cond delay="0"/>
                                  </p:stCondLst>
                                  <p:childTnLst>
                                    <p:set>
                                      <p:cBhvr>
                                        <p:cTn id="72" dur="1" fill="hold">
                                          <p:stCondLst>
                                            <p:cond delay="0"/>
                                          </p:stCondLst>
                                        </p:cTn>
                                        <p:tgtEl>
                                          <p:spTgt spid="22"/>
                                        </p:tgtEl>
                                        <p:attrNameLst>
                                          <p:attrName>style.visibility</p:attrName>
                                        </p:attrNameLst>
                                      </p:cBhvr>
                                      <p:to>
                                        <p:strVal val="visible"/>
                                      </p:to>
                                    </p:set>
                                    <p:animEffect transition="in" filter="fade">
                                      <p:cBhvr>
                                        <p:cTn id="73"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Kriptologiya">
  <a:themeElements>
    <a:clrScheme name="Kriptologiya">
      <a:dk1>
        <a:srgbClr val="1B1F2A"/>
      </a:dk1>
      <a:lt1>
        <a:srgbClr val="FFFFFF"/>
      </a:lt1>
      <a:dk2>
        <a:srgbClr val="14213D"/>
      </a:dk2>
      <a:lt2>
        <a:srgbClr val="EEF2F7"/>
      </a:lt2>
      <a:accent1>
        <a:srgbClr val="E9A23B"/>
      </a:accent1>
      <a:accent2>
        <a:srgbClr val="2A9D8F"/>
      </a:accent2>
      <a:accent3>
        <a:srgbClr val="E76F51"/>
      </a:accent3>
      <a:accent4>
        <a:srgbClr val="3D5A80"/>
      </a:accent4>
      <a:accent5>
        <a:srgbClr val="8D99AE"/>
      </a:accent5>
      <a:accent6>
        <a:srgbClr val="6A4C93"/>
      </a:accent6>
      <a:hlink>
        <a:srgbClr val="2A9D8F"/>
      </a:hlink>
      <a:folHlink>
        <a:srgbClr val="6A4C93"/>
      </a:folHlink>
    </a:clrScheme>
    <a:fontScheme name="Kriptologiy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imes New Roman"/>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TotalTime>
  <Words>3709</Words>
  <Application>Microsoft Office PowerPoint</Application>
  <PresentationFormat>Широкоэкранный</PresentationFormat>
  <Paragraphs>500</Paragraphs>
  <Slides>16</Slides>
  <Notes>16</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16</vt:i4>
      </vt:variant>
    </vt:vector>
  </HeadingPairs>
  <TitlesOfParts>
    <vt:vector size="22" baseType="lpstr">
      <vt:lpstr>Arial</vt:lpstr>
      <vt:lpstr>Calibri</vt:lpstr>
      <vt:lpstr>Cambria</vt:lpstr>
      <vt:lpstr>Courier New</vt:lpstr>
      <vt:lpstr>Times New Roman</vt:lpstr>
      <vt:lpstr>Kriptologiya</vt:lpstr>
      <vt:lpstr>Kriptologiya asoslari</vt:lpstr>
      <vt:lpstr>Olti mavzu — oltita vosita</vt:lpstr>
      <vt:lpstr>Model, prinsip va hujumchi</vt:lpstr>
      <vt:lpstr>Kriptografiyaning asosiy maqsadlari</vt:lpstr>
      <vt:lpstr>Ikki yondashuv — bitta g‘oya: modul bo‘yicha qo‘shish</vt:lpstr>
      <vt:lpstr>Modul arifmetika: aylana ustidagi hisob</vt:lpstr>
      <vt:lpstr>Evklid algoritmi: EKUB(a, b) = EKUB(b, a mod b)</vt:lpstr>
      <vt:lpstr>7⁻¹ mod 26 ni topamiz: Evklidni orqaga yuramiz</vt:lpstr>
      <vt:lpstr>Teskari element amalda: affin shifr kalitini ochish</vt:lpstr>
      <vt:lpstr>To‘rt formula — to‘rt shifr</vt:lpstr>
      <vt:lpstr>Enigma: 1,6 · 10²⁰ kalit qayerdan keladi</vt:lpstr>
      <vt:lpstr>Kalitlar fazosi: zarur, lekin yetarli emas</vt:lpstr>
      <vt:lpstr>Til tasodifiy emas: chastotali tahlil</vt:lpstr>
      <vt:lpstr>Moslik indeksi: shifr turini aniqlash</vt:lpstr>
      <vt:lpstr>Tug‘ilgan kun paradoksi: √N qoidasi</vt:lpstr>
      <vt:lpstr>I blokdan II blokka: vosita → qo‘llanish</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Kriptologiya asoslari. I blok: Poydevor</dc:title>
  <dc:subject>PptxGenJS Presentation</dc:subject>
  <dc:creator>Kriptologiya asoslari</dc:creator>
  <cp:lastModifiedBy>user</cp:lastModifiedBy>
  <cp:revision>2</cp:revision>
  <dcterms:created xsi:type="dcterms:W3CDTF">2026-10-24T15:16:23Z</dcterms:created>
  <dcterms:modified xsi:type="dcterms:W3CDTF">2026-10-25T06:04:09Z</dcterms:modified>
</cp:coreProperties>
</file>